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sldIdLst>
    <p:sldId id="261" r:id="rId2"/>
    <p:sldId id="1256" r:id="rId3"/>
    <p:sldId id="1287" r:id="rId4"/>
    <p:sldId id="1356" r:id="rId5"/>
    <p:sldId id="1357" r:id="rId6"/>
    <p:sldId id="1371" r:id="rId7"/>
    <p:sldId id="1341" r:id="rId8"/>
    <p:sldId id="1372" r:id="rId9"/>
    <p:sldId id="1286" r:id="rId10"/>
    <p:sldId id="1366" r:id="rId11"/>
    <p:sldId id="1267" r:id="rId12"/>
    <p:sldId id="1269" r:id="rId13"/>
    <p:sldId id="1364" r:id="rId14"/>
    <p:sldId id="1350" r:id="rId15"/>
    <p:sldId id="1298" r:id="rId16"/>
    <p:sldId id="1369" r:id="rId17"/>
    <p:sldId id="1111" r:id="rId18"/>
    <p:sldId id="1365" r:id="rId19"/>
    <p:sldId id="1368" r:id="rId20"/>
    <p:sldId id="1300" r:id="rId21"/>
    <p:sldId id="1261" r:id="rId22"/>
    <p:sldId id="1299" r:id="rId23"/>
    <p:sldId id="1271" r:id="rId24"/>
    <p:sldId id="1272" r:id="rId25"/>
    <p:sldId id="1378" r:id="rId26"/>
    <p:sldId id="1377" r:id="rId27"/>
    <p:sldId id="1273" r:id="rId28"/>
    <p:sldId id="1376" r:id="rId29"/>
    <p:sldId id="1297" r:id="rId30"/>
    <p:sldId id="1277" r:id="rId31"/>
    <p:sldId id="1090" r:id="rId32"/>
    <p:sldId id="1355" r:id="rId33"/>
    <p:sldId id="1295" r:id="rId34"/>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4B5D"/>
    <a:srgbClr val="A8BFC8"/>
    <a:srgbClr val="6CA1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20" autoAdjust="0"/>
    <p:restoredTop sz="91408"/>
  </p:normalViewPr>
  <p:slideViewPr>
    <p:cSldViewPr snapToGrid="0">
      <p:cViewPr>
        <p:scale>
          <a:sx n="88" d="100"/>
          <a:sy n="88" d="100"/>
        </p:scale>
        <p:origin x="288" y="704"/>
      </p:cViewPr>
      <p:guideLst/>
    </p:cSldViewPr>
  </p:slideViewPr>
  <p:outlineViewPr>
    <p:cViewPr>
      <p:scale>
        <a:sx n="33" d="100"/>
        <a:sy n="33" d="100"/>
      </p:scale>
      <p:origin x="0" y="-576"/>
    </p:cViewPr>
  </p:outlineViewPr>
  <p:notesTextViewPr>
    <p:cViewPr>
      <p:scale>
        <a:sx n="1" d="1"/>
        <a:sy n="1" d="1"/>
      </p:scale>
      <p:origin x="0" y="0"/>
    </p:cViewPr>
  </p:notesTextViewPr>
  <p:sorterViewPr>
    <p:cViewPr>
      <p:scale>
        <a:sx n="155" d="100"/>
        <a:sy n="15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77AFB-66D4-7043-965C-6BBD1B9C09BF}" type="datetimeFigureOut">
              <a:rPr lang="en-CH" smtClean="0"/>
              <a:t>24.01.26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0DE1B3-D10C-FA46-9920-FB53357C7BEB}" type="slidenum">
              <a:rPr lang="en-CH" smtClean="0"/>
              <a:t>‹#›</a:t>
            </a:fld>
            <a:endParaRPr lang="en-CH"/>
          </a:p>
        </p:txBody>
      </p:sp>
    </p:spTree>
    <p:extLst>
      <p:ext uri="{BB962C8B-B14F-4D97-AF65-F5344CB8AC3E}">
        <p14:creationId xmlns:p14="http://schemas.microsoft.com/office/powerpoint/2010/main" val="945858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tecnoseguro.com/faqs/cctv/que-es-cctv"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0E2B2C-B374-8443-87B6-8E4F340CCCE2}" type="slidenum">
              <a:rPr lang="en-GB"/>
              <a:pPr/>
              <a:t>2</a:t>
            </a:fld>
            <a:endParaRPr lang="en-GB" dirty="0"/>
          </a:p>
        </p:txBody>
      </p:sp>
      <p:sp>
        <p:nvSpPr>
          <p:cNvPr id="1036290" name="Rectangle 2"/>
          <p:cNvSpPr>
            <a:spLocks noGrp="1" noRot="1" noChangeAspect="1" noChangeArrowheads="1" noTextEdit="1"/>
          </p:cNvSpPr>
          <p:nvPr>
            <p:ph type="sldImg"/>
          </p:nvPr>
        </p:nvSpPr>
        <p:spPr>
          <a:xfrm>
            <a:off x="576263" y="795338"/>
            <a:ext cx="5705475" cy="3209925"/>
          </a:xfrm>
          <a:ln w="12700" cap="flat">
            <a:solidFill>
              <a:schemeClr val="tx1"/>
            </a:solidFill>
          </a:ln>
          <a:extLst>
            <a:ext uri="{909E8E84-426E-40dd-AFC4-6F175D3DCCD1}">
              <a14:hiddenFill xmlns:a14="http://schemas.microsoft.com/office/drawing/2010/main" xmlns="">
                <a:noFill/>
              </a14:hiddenFill>
            </a:ext>
            <a:ext uri="{FAA26D3D-D897-4be2-8F04-BA451C77F1D7}">
              <ma14:placeholderFlag xmlns:ma14="http://schemas.microsoft.com/office/mac/drawingml/2011/main" xmlns="" val="1"/>
            </a:ext>
          </a:extLst>
        </p:spPr>
      </p:sp>
      <p:sp>
        <p:nvSpPr>
          <p:cNvPr id="1036291" name="Rectangle 3"/>
          <p:cNvSpPr>
            <a:spLocks noGrp="1" noChangeArrowheads="1"/>
          </p:cNvSpPr>
          <p:nvPr>
            <p:ph type="body" idx="1"/>
          </p:nvPr>
        </p:nvSpPr>
        <p:spPr>
          <a:xfrm>
            <a:off x="914183" y="4344606"/>
            <a:ext cx="5029635" cy="3859110"/>
          </a:xfrm>
          <a:ln/>
        </p:spPr>
        <p:txBody>
          <a:bodyPr lIns="92075" tIns="46038" rIns="92075" bIns="46038"/>
          <a:lstStyle/>
          <a:p>
            <a:endParaRPr lang="fr-FR" dirty="0"/>
          </a:p>
        </p:txBody>
      </p:sp>
    </p:spTree>
    <p:extLst>
      <p:ext uri="{BB962C8B-B14F-4D97-AF65-F5344CB8AC3E}">
        <p14:creationId xmlns:p14="http://schemas.microsoft.com/office/powerpoint/2010/main" val="2031999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3</a:t>
            </a:fld>
            <a:endParaRPr lang="en-CH"/>
          </a:p>
        </p:txBody>
      </p:sp>
    </p:spTree>
    <p:extLst>
      <p:ext uri="{BB962C8B-B14F-4D97-AF65-F5344CB8AC3E}">
        <p14:creationId xmlns:p14="http://schemas.microsoft.com/office/powerpoint/2010/main" val="2939208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4</a:t>
            </a:fld>
            <a:endParaRPr lang="en-CH"/>
          </a:p>
        </p:txBody>
      </p:sp>
    </p:spTree>
    <p:extLst>
      <p:ext uri="{BB962C8B-B14F-4D97-AF65-F5344CB8AC3E}">
        <p14:creationId xmlns:p14="http://schemas.microsoft.com/office/powerpoint/2010/main" val="84145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ULCV=Ultra large container Vesel</a:t>
            </a:r>
          </a:p>
          <a:p>
            <a:r>
              <a:rPr lang="en-CH" dirty="0"/>
              <a:t>Largest type container shipscapable carryying 20,000 TEUs (Twenty foot equivalent unit)</a:t>
            </a:r>
          </a:p>
        </p:txBody>
      </p:sp>
      <p:sp>
        <p:nvSpPr>
          <p:cNvPr id="4" name="Slide Number Placeholder 3"/>
          <p:cNvSpPr>
            <a:spLocks noGrp="1"/>
          </p:cNvSpPr>
          <p:nvPr>
            <p:ph type="sldNum" sz="quarter" idx="5"/>
          </p:nvPr>
        </p:nvSpPr>
        <p:spPr/>
        <p:txBody>
          <a:bodyPr/>
          <a:lstStyle/>
          <a:p>
            <a:fld id="{730DE1B3-D10C-FA46-9920-FB53357C7BEB}" type="slidenum">
              <a:rPr lang="en-CH" smtClean="0"/>
              <a:t>5</a:t>
            </a:fld>
            <a:endParaRPr lang="en-CH"/>
          </a:p>
        </p:txBody>
      </p:sp>
    </p:spTree>
    <p:extLst>
      <p:ext uri="{BB962C8B-B14F-4D97-AF65-F5344CB8AC3E}">
        <p14:creationId xmlns:p14="http://schemas.microsoft.com/office/powerpoint/2010/main" val="2313636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7</a:t>
            </a:fld>
            <a:endParaRPr lang="en-CH"/>
          </a:p>
        </p:txBody>
      </p:sp>
    </p:spTree>
    <p:extLst>
      <p:ext uri="{BB962C8B-B14F-4D97-AF65-F5344CB8AC3E}">
        <p14:creationId xmlns:p14="http://schemas.microsoft.com/office/powerpoint/2010/main" val="3245722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s-ES_tradnl" sz="8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8</a:t>
            </a:fld>
            <a:endParaRPr lang="en-CH"/>
          </a:p>
        </p:txBody>
      </p:sp>
    </p:spTree>
    <p:extLst>
      <p:ext uri="{BB962C8B-B14F-4D97-AF65-F5344CB8AC3E}">
        <p14:creationId xmlns:p14="http://schemas.microsoft.com/office/powerpoint/2010/main" val="3991183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b="0" i="0" noProof="0">
                <a:solidFill>
                  <a:srgbClr val="001D35"/>
                </a:solidFill>
                <a:effectLst/>
                <a:latin typeface="Google Sans"/>
              </a:rPr>
              <a:t>Las grúas automatizadas del Puerto de Chancay son grúas principales con brazo extendido (SH </a:t>
            </a:r>
            <a:r>
              <a:rPr lang="es-ES_tradnl" b="0" i="0" noProof="0" err="1">
                <a:solidFill>
                  <a:srgbClr val="001D35"/>
                </a:solidFill>
                <a:effectLst/>
                <a:latin typeface="Google Sans"/>
              </a:rPr>
              <a:t>to</a:t>
            </a:r>
            <a:r>
              <a:rPr lang="es-ES_tradnl" b="0" i="0" noProof="0">
                <a:solidFill>
                  <a:srgbClr val="001D35"/>
                </a:solidFill>
                <a:effectLst/>
                <a:latin typeface="Google Sans"/>
              </a:rPr>
              <a:t> short) de 70-80 metros y capacidad de hasta 80 toneladas, y grúas pórtico (ARMG) para el patio de contenedores, que funcionan de forma remota y sincronizada, utilizando tecnología de ZPMC para transportar contenedores a vehículos autónomos no tripulados (AGV) y optimizar operaciones las 24 horas. </a:t>
            </a:r>
          </a:p>
        </p:txBody>
      </p:sp>
      <p:sp>
        <p:nvSpPr>
          <p:cNvPr id="4" name="Slide Number Placeholder 3"/>
          <p:cNvSpPr>
            <a:spLocks noGrp="1"/>
          </p:cNvSpPr>
          <p:nvPr>
            <p:ph type="sldNum" sz="quarter" idx="5"/>
          </p:nvPr>
        </p:nvSpPr>
        <p:spPr/>
        <p:txBody>
          <a:bodyPr/>
          <a:lstStyle/>
          <a:p>
            <a:fld id="{730DE1B3-D10C-FA46-9920-FB53357C7BEB}" type="slidenum">
              <a:rPr lang="en-CH" smtClean="0"/>
              <a:t>11</a:t>
            </a:fld>
            <a:endParaRPr lang="en-CH"/>
          </a:p>
        </p:txBody>
      </p:sp>
    </p:spTree>
    <p:extLst>
      <p:ext uri="{BB962C8B-B14F-4D97-AF65-F5344CB8AC3E}">
        <p14:creationId xmlns:p14="http://schemas.microsoft.com/office/powerpoint/2010/main" val="1234922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12</a:t>
            </a:fld>
            <a:endParaRPr lang="en-CH"/>
          </a:p>
        </p:txBody>
      </p:sp>
    </p:spTree>
    <p:extLst>
      <p:ext uri="{BB962C8B-B14F-4D97-AF65-F5344CB8AC3E}">
        <p14:creationId xmlns:p14="http://schemas.microsoft.com/office/powerpoint/2010/main" val="42714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CRM=Customer Relathionship with the Client</a:t>
            </a:r>
          </a:p>
        </p:txBody>
      </p:sp>
      <p:sp>
        <p:nvSpPr>
          <p:cNvPr id="4" name="Slide Number Placeholder 3"/>
          <p:cNvSpPr>
            <a:spLocks noGrp="1"/>
          </p:cNvSpPr>
          <p:nvPr>
            <p:ph type="sldNum" sz="quarter" idx="5"/>
          </p:nvPr>
        </p:nvSpPr>
        <p:spPr/>
        <p:txBody>
          <a:bodyPr/>
          <a:lstStyle/>
          <a:p>
            <a:fld id="{730DE1B3-D10C-FA46-9920-FB53357C7BEB}" type="slidenum">
              <a:rPr lang="en-CH" smtClean="0"/>
              <a:t>14</a:t>
            </a:fld>
            <a:endParaRPr lang="en-CH"/>
          </a:p>
        </p:txBody>
      </p:sp>
    </p:spTree>
    <p:extLst>
      <p:ext uri="{BB962C8B-B14F-4D97-AF65-F5344CB8AC3E}">
        <p14:creationId xmlns:p14="http://schemas.microsoft.com/office/powerpoint/2010/main" val="2839285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El </a:t>
            </a:r>
            <a:r>
              <a:rPr lang="en-GB" dirty="0" err="1"/>
              <a:t>puerto</a:t>
            </a:r>
            <a:r>
              <a:rPr lang="en-GB" dirty="0"/>
              <a:t> de </a:t>
            </a:r>
            <a:r>
              <a:rPr lang="en-GB" dirty="0" err="1"/>
              <a:t>Chancay</a:t>
            </a:r>
            <a:r>
              <a:rPr lang="en-GB" dirty="0"/>
              <a:t>, </a:t>
            </a:r>
            <a:r>
              <a:rPr lang="en-GB" dirty="0" err="1"/>
              <a:t>en</a:t>
            </a:r>
            <a:r>
              <a:rPr lang="en-GB" dirty="0"/>
              <a:t> Perú, </a:t>
            </a:r>
            <a:r>
              <a:rPr lang="en-GB" dirty="0" err="1"/>
              <a:t>fue</a:t>
            </a:r>
            <a:r>
              <a:rPr lang="en-GB" dirty="0"/>
              <a:t> </a:t>
            </a:r>
            <a:r>
              <a:rPr lang="en-GB" dirty="0" err="1"/>
              <a:t>inaugurado</a:t>
            </a:r>
            <a:r>
              <a:rPr lang="en-GB" dirty="0"/>
              <a:t> </a:t>
            </a:r>
            <a:r>
              <a:rPr lang="en-GB" dirty="0" err="1"/>
              <a:t>el</a:t>
            </a:r>
            <a:r>
              <a:rPr lang="en-GB" dirty="0"/>
              <a:t> </a:t>
            </a:r>
            <a:r>
              <a:rPr lang="en-GB" b="1" dirty="0">
                <a:effectLst/>
              </a:rPr>
              <a:t>14 de </a:t>
            </a:r>
            <a:r>
              <a:rPr lang="en-GB" b="1" dirty="0" err="1">
                <a:effectLst/>
              </a:rPr>
              <a:t>noviembre</a:t>
            </a:r>
            <a:r>
              <a:rPr lang="en-GB" b="1" dirty="0">
                <a:effectLst/>
              </a:rPr>
              <a:t> de 2024</a:t>
            </a:r>
            <a:r>
              <a:rPr lang="en-GB" b="0" i="0" dirty="0">
                <a:solidFill>
                  <a:srgbClr val="0A0A0A"/>
                </a:solidFill>
                <a:effectLst/>
                <a:latin typeface="Google Sans"/>
              </a:rPr>
              <a:t>. La </a:t>
            </a:r>
            <a:r>
              <a:rPr lang="en-GB" b="0" i="0" dirty="0" err="1">
                <a:solidFill>
                  <a:srgbClr val="0A0A0A"/>
                </a:solidFill>
                <a:effectLst/>
                <a:latin typeface="Google Sans"/>
              </a:rPr>
              <a:t>ceremonia</a:t>
            </a:r>
            <a:r>
              <a:rPr lang="en-GB" b="0" i="0" dirty="0">
                <a:solidFill>
                  <a:srgbClr val="0A0A0A"/>
                </a:solidFill>
                <a:effectLst/>
                <a:latin typeface="Google Sans"/>
              </a:rPr>
              <a:t> </a:t>
            </a:r>
            <a:r>
              <a:rPr lang="en-GB" b="0" i="0" dirty="0" err="1">
                <a:solidFill>
                  <a:srgbClr val="0A0A0A"/>
                </a:solidFill>
                <a:effectLst/>
                <a:latin typeface="Google Sans"/>
              </a:rPr>
              <a:t>contó</a:t>
            </a:r>
            <a:r>
              <a:rPr lang="en-GB" b="0" i="0" dirty="0">
                <a:solidFill>
                  <a:srgbClr val="0A0A0A"/>
                </a:solidFill>
                <a:effectLst/>
                <a:latin typeface="Google Sans"/>
              </a:rPr>
              <a:t> con la </a:t>
            </a:r>
            <a:r>
              <a:rPr lang="en-GB" b="0" i="0" dirty="0" err="1">
                <a:solidFill>
                  <a:srgbClr val="0A0A0A"/>
                </a:solidFill>
                <a:effectLst/>
                <a:latin typeface="Google Sans"/>
              </a:rPr>
              <a:t>presencia</a:t>
            </a:r>
            <a:r>
              <a:rPr lang="en-GB" b="0" i="0" dirty="0">
                <a:solidFill>
                  <a:srgbClr val="0A0A0A"/>
                </a:solidFill>
                <a:effectLst/>
                <a:latin typeface="Google Sans"/>
              </a:rPr>
              <a:t> de la </a:t>
            </a:r>
            <a:r>
              <a:rPr lang="en-GB" b="0" i="0" dirty="0" err="1">
                <a:solidFill>
                  <a:srgbClr val="0A0A0A"/>
                </a:solidFill>
                <a:effectLst/>
                <a:latin typeface="Google Sans"/>
              </a:rPr>
              <a:t>presidenta</a:t>
            </a:r>
            <a:r>
              <a:rPr lang="en-GB" b="0" i="0" dirty="0">
                <a:solidFill>
                  <a:srgbClr val="0A0A0A"/>
                </a:solidFill>
                <a:effectLst/>
                <a:latin typeface="Google Sans"/>
              </a:rPr>
              <a:t> de Perú, Dina </a:t>
            </a:r>
            <a:r>
              <a:rPr lang="en-GB" b="0" i="0" dirty="0" err="1">
                <a:solidFill>
                  <a:srgbClr val="0A0A0A"/>
                </a:solidFill>
                <a:effectLst/>
                <a:latin typeface="Google Sans"/>
              </a:rPr>
              <a:t>Boluarte</a:t>
            </a:r>
            <a:r>
              <a:rPr lang="en-GB" b="0" i="0" dirty="0">
                <a:solidFill>
                  <a:srgbClr val="0A0A0A"/>
                </a:solidFill>
                <a:effectLst/>
                <a:latin typeface="Google Sans"/>
              </a:rPr>
              <a:t>, y </a:t>
            </a:r>
            <a:r>
              <a:rPr lang="en-GB" b="0" i="0" dirty="0" err="1">
                <a:solidFill>
                  <a:srgbClr val="0A0A0A"/>
                </a:solidFill>
                <a:effectLst/>
                <a:latin typeface="Google Sans"/>
              </a:rPr>
              <a:t>el</a:t>
            </a:r>
            <a:r>
              <a:rPr lang="en-GB" b="0" i="0" dirty="0">
                <a:solidFill>
                  <a:srgbClr val="0A0A0A"/>
                </a:solidFill>
                <a:effectLst/>
                <a:latin typeface="Google Sans"/>
              </a:rPr>
              <a:t> </a:t>
            </a:r>
            <a:r>
              <a:rPr lang="en-GB" b="0" i="0" dirty="0" err="1">
                <a:solidFill>
                  <a:srgbClr val="0A0A0A"/>
                </a:solidFill>
                <a:effectLst/>
                <a:latin typeface="Google Sans"/>
              </a:rPr>
              <a:t>presidente</a:t>
            </a:r>
            <a:r>
              <a:rPr lang="en-GB" b="0" i="0" dirty="0">
                <a:solidFill>
                  <a:srgbClr val="0A0A0A"/>
                </a:solidFill>
                <a:effectLst/>
                <a:latin typeface="Google Sans"/>
              </a:rPr>
              <a:t> de China, Xi Jinping, </a:t>
            </a:r>
            <a:r>
              <a:rPr lang="en-GB" b="0" i="0" dirty="0" err="1">
                <a:solidFill>
                  <a:srgbClr val="0A0A0A"/>
                </a:solidFill>
                <a:effectLst/>
                <a:latin typeface="Google Sans"/>
              </a:rPr>
              <a:t>en</a:t>
            </a:r>
            <a:r>
              <a:rPr lang="en-GB" b="0" i="0" dirty="0">
                <a:solidFill>
                  <a:srgbClr val="0A0A0A"/>
                </a:solidFill>
                <a:effectLst/>
                <a:latin typeface="Google Sans"/>
              </a:rPr>
              <a:t> </a:t>
            </a:r>
            <a:r>
              <a:rPr lang="en-GB" b="0" i="0" dirty="0" err="1">
                <a:solidFill>
                  <a:srgbClr val="0A0A0A"/>
                </a:solidFill>
                <a:effectLst/>
                <a:latin typeface="Google Sans"/>
              </a:rPr>
              <a:t>el</a:t>
            </a:r>
            <a:r>
              <a:rPr lang="en-GB" b="0" i="0" dirty="0">
                <a:solidFill>
                  <a:srgbClr val="0A0A0A"/>
                </a:solidFill>
                <a:effectLst/>
                <a:latin typeface="Google Sans"/>
              </a:rPr>
              <a:t> </a:t>
            </a:r>
            <a:r>
              <a:rPr lang="en-GB" b="0" i="0" dirty="0" err="1">
                <a:solidFill>
                  <a:srgbClr val="0A0A0A"/>
                </a:solidFill>
                <a:effectLst/>
                <a:latin typeface="Google Sans"/>
              </a:rPr>
              <a:t>marco</a:t>
            </a:r>
            <a:r>
              <a:rPr lang="en-GB" b="0" i="0" dirty="0">
                <a:solidFill>
                  <a:srgbClr val="0A0A0A"/>
                </a:solidFill>
                <a:effectLst/>
                <a:latin typeface="Google Sans"/>
              </a:rPr>
              <a:t> de la </a:t>
            </a:r>
            <a:r>
              <a:rPr lang="en-GB" b="0" i="0" dirty="0" err="1">
                <a:solidFill>
                  <a:srgbClr val="0A0A0A"/>
                </a:solidFill>
                <a:effectLst/>
                <a:latin typeface="Google Sans"/>
              </a:rPr>
              <a:t>cumbre</a:t>
            </a:r>
            <a:r>
              <a:rPr lang="en-GB" b="0" i="0" dirty="0">
                <a:solidFill>
                  <a:srgbClr val="0A0A0A"/>
                </a:solidFill>
                <a:effectLst/>
                <a:latin typeface="Google Sans"/>
              </a:rPr>
              <a:t> del </a:t>
            </a:r>
            <a:r>
              <a:rPr lang="en-GB" b="0" i="0" dirty="0" err="1">
                <a:solidFill>
                  <a:srgbClr val="0A0A0A"/>
                </a:solidFill>
                <a:effectLst/>
                <a:latin typeface="Google Sans"/>
              </a:rPr>
              <a:t>foro</a:t>
            </a:r>
            <a:r>
              <a:rPr lang="en-GB" b="0" i="0" dirty="0">
                <a:solidFill>
                  <a:srgbClr val="0A0A0A"/>
                </a:solidFill>
                <a:effectLst/>
                <a:latin typeface="Google Sans"/>
              </a:rPr>
              <a:t> de APEC. Las </a:t>
            </a:r>
            <a:r>
              <a:rPr lang="en-GB" b="0" i="0" dirty="0" err="1">
                <a:solidFill>
                  <a:srgbClr val="0A0A0A"/>
                </a:solidFill>
                <a:effectLst/>
                <a:latin typeface="Google Sans"/>
              </a:rPr>
              <a:t>operaciones</a:t>
            </a:r>
            <a:r>
              <a:rPr lang="en-GB" b="0" i="0" dirty="0">
                <a:solidFill>
                  <a:srgbClr val="0A0A0A"/>
                </a:solidFill>
                <a:effectLst/>
                <a:latin typeface="Google Sans"/>
              </a:rPr>
              <a:t> </a:t>
            </a:r>
            <a:r>
              <a:rPr lang="en-GB" b="0" i="0" dirty="0" err="1">
                <a:solidFill>
                  <a:srgbClr val="0A0A0A"/>
                </a:solidFill>
                <a:effectLst/>
                <a:latin typeface="Google Sans"/>
              </a:rPr>
              <a:t>comerciales</a:t>
            </a:r>
            <a:r>
              <a:rPr lang="en-GB" b="0" i="0" dirty="0">
                <a:solidFill>
                  <a:srgbClr val="0A0A0A"/>
                </a:solidFill>
                <a:effectLst/>
                <a:latin typeface="Google Sans"/>
              </a:rPr>
              <a:t> del </a:t>
            </a:r>
            <a:r>
              <a:rPr lang="en-GB" b="0" i="0" dirty="0" err="1">
                <a:solidFill>
                  <a:srgbClr val="0A0A0A"/>
                </a:solidFill>
                <a:effectLst/>
                <a:latin typeface="Google Sans"/>
              </a:rPr>
              <a:t>puerto</a:t>
            </a:r>
            <a:r>
              <a:rPr lang="en-GB" b="0" i="0" dirty="0">
                <a:solidFill>
                  <a:srgbClr val="0A0A0A"/>
                </a:solidFill>
                <a:effectLst/>
                <a:latin typeface="Google Sans"/>
              </a:rPr>
              <a:t> </a:t>
            </a:r>
            <a:r>
              <a:rPr lang="en-GB" b="0" i="0" dirty="0" err="1">
                <a:solidFill>
                  <a:srgbClr val="0A0A0A"/>
                </a:solidFill>
                <a:effectLst/>
                <a:latin typeface="Google Sans"/>
              </a:rPr>
              <a:t>comenzarán</a:t>
            </a:r>
            <a:r>
              <a:rPr lang="en-GB" b="0" i="0" dirty="0">
                <a:solidFill>
                  <a:srgbClr val="0A0A0A"/>
                </a:solidFill>
                <a:effectLst/>
                <a:latin typeface="Google Sans"/>
              </a:rPr>
              <a:t> </a:t>
            </a:r>
            <a:r>
              <a:rPr lang="en-GB" b="0" i="0" dirty="0" err="1">
                <a:solidFill>
                  <a:srgbClr val="0A0A0A"/>
                </a:solidFill>
                <a:effectLst/>
                <a:latin typeface="Google Sans"/>
              </a:rPr>
              <a:t>en</a:t>
            </a:r>
            <a:r>
              <a:rPr lang="en-GB" b="0" i="0" dirty="0">
                <a:solidFill>
                  <a:srgbClr val="0A0A0A"/>
                </a:solidFill>
                <a:effectLst/>
                <a:latin typeface="Google Sans"/>
              </a:rPr>
              <a:t> </a:t>
            </a:r>
            <a:r>
              <a:rPr lang="en-GB" b="0" i="0" dirty="0" err="1">
                <a:solidFill>
                  <a:srgbClr val="0A0A0A"/>
                </a:solidFill>
                <a:effectLst/>
                <a:latin typeface="Google Sans"/>
              </a:rPr>
              <a:t>el</a:t>
            </a:r>
            <a:r>
              <a:rPr lang="en-GB" b="0" i="0" dirty="0">
                <a:solidFill>
                  <a:srgbClr val="0A0A0A"/>
                </a:solidFill>
                <a:effectLst/>
                <a:latin typeface="Google Sans"/>
              </a:rPr>
              <a:t> primer </a:t>
            </a:r>
            <a:r>
              <a:rPr lang="en-GB" b="0" i="0" dirty="0" err="1">
                <a:solidFill>
                  <a:srgbClr val="0A0A0A"/>
                </a:solidFill>
                <a:effectLst/>
                <a:latin typeface="Google Sans"/>
              </a:rPr>
              <a:t>bimestre</a:t>
            </a:r>
            <a:r>
              <a:rPr lang="en-GB" b="0" i="0" dirty="0">
                <a:solidFill>
                  <a:srgbClr val="0A0A0A"/>
                </a:solidFill>
                <a:effectLst/>
                <a:latin typeface="Google Sans"/>
              </a:rPr>
              <a:t> de 2025. </a:t>
            </a:r>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16</a:t>
            </a:fld>
            <a:endParaRPr lang="en-CH"/>
          </a:p>
        </p:txBody>
      </p:sp>
    </p:spTree>
    <p:extLst>
      <p:ext uri="{BB962C8B-B14F-4D97-AF65-F5344CB8AC3E}">
        <p14:creationId xmlns:p14="http://schemas.microsoft.com/office/powerpoint/2010/main" val="1856806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730DE1B3-D10C-FA46-9920-FB53357C7BEB}" type="slidenum">
              <a:rPr lang="en-CH" smtClean="0"/>
              <a:t>18</a:t>
            </a:fld>
            <a:endParaRPr lang="en-CH"/>
          </a:p>
        </p:txBody>
      </p:sp>
    </p:spTree>
    <p:extLst>
      <p:ext uri="{BB962C8B-B14F-4D97-AF65-F5344CB8AC3E}">
        <p14:creationId xmlns:p14="http://schemas.microsoft.com/office/powerpoint/2010/main" val="2375990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1" i="1" dirty="0">
                <a:solidFill>
                  <a:srgbClr val="1F4E79"/>
                </a:solidFill>
                <a:latin typeface="Segoe UI" panose="020B0502040204020203" pitchFamily="34" charset="0"/>
                <a:ea typeface="Times New Roman" panose="02020603050405020304" pitchFamily="18" charset="0"/>
                <a:cs typeface="Segoe UI" panose="020B0502040204020203" pitchFamily="34" charset="0"/>
              </a:rPr>
              <a:t>I</a:t>
            </a:r>
            <a:r>
              <a:rPr lang="es-ES" b="1" i="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nfraestructura </a:t>
            </a:r>
            <a:r>
              <a:rPr lang="es-ES"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interconectada y altamente tecnológica</a:t>
            </a:r>
            <a:r>
              <a:rPr lang="es-ES" b="1" dirty="0">
                <a:solidFill>
                  <a:srgbClr val="1F4E79"/>
                </a:solidFill>
                <a:latin typeface="Segoe UI" panose="020B0502040204020203" pitchFamily="34" charset="0"/>
                <a:ea typeface="Times New Roman" panose="02020603050405020304" pitchFamily="18" charset="0"/>
                <a:cs typeface="Segoe UI" panose="020B0502040204020203" pitchFamily="34" charset="0"/>
              </a:rPr>
              <a:t>, </a:t>
            </a:r>
            <a:r>
              <a:rPr lang="es-ES"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maximiza el impacto logístico, económico, social y ambiental</a:t>
            </a:r>
            <a:endParaRPr lang="en-CH"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30DE1B3-D10C-FA46-9920-FB53357C7BEB}" type="slidenum">
              <a:rPr lang="en-CH" smtClean="0"/>
              <a:t>24</a:t>
            </a:fld>
            <a:endParaRPr lang="en-CH"/>
          </a:p>
        </p:txBody>
      </p:sp>
    </p:spTree>
    <p:extLst>
      <p:ext uri="{BB962C8B-B14F-4D97-AF65-F5344CB8AC3E}">
        <p14:creationId xmlns:p14="http://schemas.microsoft.com/office/powerpoint/2010/main" val="1698333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H" dirty="0"/>
              <a:t>CCTV - </a:t>
            </a:r>
            <a:r>
              <a:rPr lang="en-GB" b="0" i="0" u="none" strike="noStrike" dirty="0" err="1">
                <a:solidFill>
                  <a:srgbClr val="4D5156"/>
                </a:solidFill>
                <a:effectLst/>
                <a:latin typeface="Roboto" panose="02000000000000000000" pitchFamily="2" charset="0"/>
              </a:rPr>
              <a:t>Circuito</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Cerrado</a:t>
            </a:r>
            <a:r>
              <a:rPr lang="en-GB" b="0" i="0" u="none" strike="noStrike" dirty="0">
                <a:solidFill>
                  <a:srgbClr val="4D5156"/>
                </a:solidFill>
                <a:effectLst/>
                <a:latin typeface="Roboto" panose="02000000000000000000" pitchFamily="2" charset="0"/>
              </a:rPr>
              <a:t> de Televisión o CCTV es la </a:t>
            </a:r>
            <a:r>
              <a:rPr lang="en-GB" b="0" i="0" u="none" strike="noStrike" dirty="0" err="1">
                <a:solidFill>
                  <a:srgbClr val="4D5156"/>
                </a:solidFill>
                <a:effectLst/>
                <a:latin typeface="Roboto" panose="02000000000000000000" pitchFamily="2" charset="0"/>
              </a:rPr>
              <a:t>combinación</a:t>
            </a:r>
            <a:r>
              <a:rPr lang="en-GB" b="0" i="0" u="none" strike="noStrike" dirty="0">
                <a:solidFill>
                  <a:srgbClr val="4D5156"/>
                </a:solidFill>
                <a:effectLst/>
                <a:latin typeface="Roboto" panose="02000000000000000000" pitchFamily="2" charset="0"/>
              </a:rPr>
              <a:t> de </a:t>
            </a:r>
            <a:r>
              <a:rPr lang="en-GB" b="0" i="0" u="none" strike="noStrike" dirty="0" err="1">
                <a:solidFill>
                  <a:srgbClr val="4D5156"/>
                </a:solidFill>
                <a:effectLst/>
                <a:latin typeface="Roboto" panose="02000000000000000000" pitchFamily="2" charset="0"/>
              </a:rPr>
              <a:t>varios</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equipos</a:t>
            </a:r>
            <a:r>
              <a:rPr lang="en-GB" b="0" i="0" u="none" strike="noStrike" dirty="0">
                <a:solidFill>
                  <a:srgbClr val="4D5156"/>
                </a:solidFill>
                <a:effectLst/>
                <a:latin typeface="Roboto" panose="02000000000000000000" pitchFamily="2" charset="0"/>
              </a:rPr>
              <a:t> que, junto con la </a:t>
            </a:r>
            <a:r>
              <a:rPr lang="en-GB" b="0" i="0" u="none" strike="noStrike" dirty="0" err="1">
                <a:solidFill>
                  <a:srgbClr val="4D5156"/>
                </a:solidFill>
                <a:effectLst/>
                <a:latin typeface="Roboto" panose="02000000000000000000" pitchFamily="2" charset="0"/>
              </a:rPr>
              <a:t>infraestructura</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adecuada</a:t>
            </a:r>
            <a:r>
              <a:rPr lang="en-GB" b="0" i="0" u="none" strike="noStrike" dirty="0">
                <a:solidFill>
                  <a:srgbClr val="4D5156"/>
                </a:solidFill>
                <a:effectLst/>
                <a:latin typeface="Roboto" panose="02000000000000000000" pitchFamily="2" charset="0"/>
              </a:rPr>
              <a:t> para </a:t>
            </a:r>
            <a:r>
              <a:rPr lang="en-GB" b="0" i="0" u="none" strike="noStrike" dirty="0" err="1">
                <a:solidFill>
                  <a:srgbClr val="4D5156"/>
                </a:solidFill>
                <a:effectLst/>
                <a:latin typeface="Roboto" panose="02000000000000000000" pitchFamily="2" charset="0"/>
              </a:rPr>
              <a:t>su</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interconexión</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permite</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visualizar</a:t>
            </a:r>
            <a:r>
              <a:rPr lang="en-GB" b="0" i="0" u="none" strike="noStrike" dirty="0">
                <a:solidFill>
                  <a:srgbClr val="4D5156"/>
                </a:solidFill>
                <a:effectLst/>
                <a:latin typeface="Roboto" panose="02000000000000000000" pitchFamily="2" charset="0"/>
              </a:rPr>
              <a:t> y </a:t>
            </a:r>
            <a:r>
              <a:rPr lang="en-GB" b="0" i="0" u="none" strike="noStrike" dirty="0" err="1">
                <a:solidFill>
                  <a:srgbClr val="4D5156"/>
                </a:solidFill>
                <a:effectLst/>
                <a:latin typeface="Roboto" panose="02000000000000000000" pitchFamily="2" charset="0"/>
              </a:rPr>
              <a:t>tener</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registro</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en</a:t>
            </a:r>
            <a:r>
              <a:rPr lang="en-GB" b="0" i="0" u="none" strike="noStrike" dirty="0">
                <a:solidFill>
                  <a:srgbClr val="4D5156"/>
                </a:solidFill>
                <a:effectLst/>
                <a:latin typeface="Roboto" panose="02000000000000000000" pitchFamily="2" charset="0"/>
              </a:rPr>
              <a:t> video de las </a:t>
            </a:r>
            <a:r>
              <a:rPr lang="en-GB" b="0" i="0" u="none" strike="noStrike" dirty="0" err="1">
                <a:solidFill>
                  <a:srgbClr val="4D5156"/>
                </a:solidFill>
                <a:effectLst/>
                <a:latin typeface="Roboto" panose="02000000000000000000" pitchFamily="2" charset="0"/>
              </a:rPr>
              <a:t>escenas</a:t>
            </a:r>
            <a:r>
              <a:rPr lang="en-GB" b="0" i="0" u="none" strike="noStrike" dirty="0">
                <a:solidFill>
                  <a:srgbClr val="4D5156"/>
                </a:solidFill>
                <a:effectLst/>
                <a:latin typeface="Roboto" panose="02000000000000000000" pitchFamily="2" charset="0"/>
              </a:rPr>
              <a:t> o </a:t>
            </a:r>
            <a:r>
              <a:rPr lang="en-GB" b="0" i="0" u="none" strike="noStrike" dirty="0" err="1">
                <a:solidFill>
                  <a:srgbClr val="4D5156"/>
                </a:solidFill>
                <a:effectLst/>
                <a:latin typeface="Roboto" panose="02000000000000000000" pitchFamily="2" charset="0"/>
              </a:rPr>
              <a:t>situaciones</a:t>
            </a:r>
            <a:r>
              <a:rPr lang="en-GB" b="0" i="0" u="none" strike="noStrike" dirty="0">
                <a:solidFill>
                  <a:srgbClr val="4D5156"/>
                </a:solidFill>
                <a:effectLst/>
                <a:latin typeface="Roboto" panose="02000000000000000000" pitchFamily="2" charset="0"/>
              </a:rPr>
              <a:t> que </a:t>
            </a:r>
            <a:r>
              <a:rPr lang="en-GB" b="0" i="0" u="none" strike="noStrike" dirty="0" err="1">
                <a:solidFill>
                  <a:srgbClr val="4D5156"/>
                </a:solidFill>
                <a:effectLst/>
                <a:latin typeface="Roboto" panose="02000000000000000000" pitchFamily="2" charset="0"/>
              </a:rPr>
              <a:t>ocurren</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en</a:t>
            </a:r>
            <a:r>
              <a:rPr lang="en-GB" b="0" i="0" u="none" strike="noStrike" dirty="0">
                <a:solidFill>
                  <a:srgbClr val="4D5156"/>
                </a:solidFill>
                <a:effectLst/>
                <a:latin typeface="Roboto" panose="02000000000000000000" pitchFamily="2" charset="0"/>
              </a:rPr>
              <a:t> un </a:t>
            </a:r>
            <a:r>
              <a:rPr lang="en-GB" b="0" i="0" u="none" strike="noStrike" dirty="0" err="1">
                <a:solidFill>
                  <a:srgbClr val="4D5156"/>
                </a:solidFill>
                <a:effectLst/>
                <a:latin typeface="Roboto" panose="02000000000000000000" pitchFamily="2" charset="0"/>
              </a:rPr>
              <a:t>determinado</a:t>
            </a:r>
            <a:r>
              <a:rPr lang="en-GB" b="0" i="0" u="none" strike="noStrike" dirty="0">
                <a:solidFill>
                  <a:srgbClr val="4D5156"/>
                </a:solidFill>
                <a:effectLst/>
                <a:latin typeface="Roboto" panose="02000000000000000000" pitchFamily="2" charset="0"/>
              </a:rPr>
              <a:t> sitio, con </a:t>
            </a:r>
            <a:r>
              <a:rPr lang="en-GB" b="0" i="0" u="none" strike="noStrike" dirty="0" err="1">
                <a:solidFill>
                  <a:srgbClr val="4D5156"/>
                </a:solidFill>
                <a:effectLst/>
                <a:latin typeface="Roboto" panose="02000000000000000000" pitchFamily="2" charset="0"/>
              </a:rPr>
              <a:t>el</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objetivo</a:t>
            </a:r>
            <a:r>
              <a:rPr lang="en-GB" b="0" i="0" u="none" strike="noStrike" dirty="0">
                <a:solidFill>
                  <a:srgbClr val="4D5156"/>
                </a:solidFill>
                <a:effectLst/>
                <a:latin typeface="Roboto" panose="02000000000000000000" pitchFamily="2" charset="0"/>
              </a:rPr>
              <a:t> de </a:t>
            </a:r>
            <a:r>
              <a:rPr lang="en-GB" b="0" i="0" u="none" strike="noStrike" dirty="0" err="1">
                <a:solidFill>
                  <a:srgbClr val="4D5156"/>
                </a:solidFill>
                <a:effectLst/>
                <a:latin typeface="Roboto" panose="02000000000000000000" pitchFamily="2" charset="0"/>
              </a:rPr>
              <a:t>minimizar</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los</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riesgos</a:t>
            </a:r>
            <a:r>
              <a:rPr lang="en-GB" b="0" i="0" u="none" strike="noStrike" dirty="0">
                <a:solidFill>
                  <a:srgbClr val="4D5156"/>
                </a:solidFill>
                <a:effectLst/>
                <a:latin typeface="Roboto" panose="02000000000000000000" pitchFamily="2" charset="0"/>
              </a:rPr>
              <a:t> ante </a:t>
            </a:r>
            <a:r>
              <a:rPr lang="en-GB" b="0" i="0" u="none" strike="noStrike" dirty="0" err="1">
                <a:solidFill>
                  <a:srgbClr val="4D5156"/>
                </a:solidFill>
                <a:effectLst/>
                <a:latin typeface="Roboto" panose="02000000000000000000" pitchFamily="2" charset="0"/>
              </a:rPr>
              <a:t>situaciones</a:t>
            </a:r>
            <a:r>
              <a:rPr lang="en-GB" b="0" i="0" u="none" strike="noStrike" dirty="0">
                <a:solidFill>
                  <a:srgbClr val="4D5156"/>
                </a:solidFill>
                <a:effectLst/>
                <a:latin typeface="Roboto" panose="02000000000000000000" pitchFamily="2" charset="0"/>
              </a:rPr>
              <a:t> de </a:t>
            </a:r>
            <a:r>
              <a:rPr lang="en-GB" b="0" i="0" u="none" strike="noStrike" dirty="0" err="1">
                <a:solidFill>
                  <a:srgbClr val="4D5156"/>
                </a:solidFill>
                <a:effectLst/>
                <a:latin typeface="Roboto" panose="02000000000000000000" pitchFamily="2" charset="0"/>
              </a:rPr>
              <a:t>seguridad</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También</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tiene</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otras</a:t>
            </a:r>
            <a:r>
              <a:rPr lang="en-GB" b="0" i="0" u="none" strike="noStrike" dirty="0">
                <a:solidFill>
                  <a:srgbClr val="4D5156"/>
                </a:solidFill>
                <a:effectLst/>
                <a:latin typeface="Roboto" panose="02000000000000000000" pitchFamily="2" charset="0"/>
              </a:rPr>
              <a:t> </a:t>
            </a:r>
            <a:r>
              <a:rPr lang="en-GB" b="0" i="0" u="none" strike="noStrike" dirty="0" err="1">
                <a:solidFill>
                  <a:srgbClr val="4D5156"/>
                </a:solidFill>
                <a:effectLst/>
                <a:latin typeface="Roboto" panose="02000000000000000000" pitchFamily="2" charset="0"/>
              </a:rPr>
              <a:t>apli</a:t>
            </a:r>
            <a:r>
              <a:rPr lang="en-GB" b="0" i="0" u="none" strike="noStrike" dirty="0">
                <a:solidFill>
                  <a:srgbClr val="4D5156"/>
                </a:solidFill>
                <a:effectLst/>
                <a:latin typeface="Roboto" panose="02000000000000000000" pitchFamily="2" charset="0"/>
              </a:rPr>
              <a:t>...</a:t>
            </a:r>
          </a:p>
          <a:p>
            <a:pPr algn="l"/>
            <a:r>
              <a:rPr lang="en-GB" b="0" i="0" u="none" strike="noStrike" dirty="0">
                <a:solidFill>
                  <a:srgbClr val="660099"/>
                </a:solidFill>
                <a:effectLst/>
                <a:latin typeface="Roboto" panose="02000000000000000000" pitchFamily="2" charset="0"/>
                <a:hlinkClick r:id="rId3"/>
              </a:rPr>
              <a:t>See full list on tecnoseguro.com</a:t>
            </a:r>
            <a:endParaRPr lang="en-GB" b="0" i="0" u="none" strike="noStrike" dirty="0">
              <a:solidFill>
                <a:srgbClr val="4D5156"/>
              </a:solidFill>
              <a:effectLst/>
              <a:latin typeface="Roboto" panose="02000000000000000000" pitchFamily="2" charset="0"/>
            </a:endParaRPr>
          </a:p>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25</a:t>
            </a:fld>
            <a:endParaRPr lang="en-CH"/>
          </a:p>
        </p:txBody>
      </p:sp>
    </p:spTree>
    <p:extLst>
      <p:ext uri="{BB962C8B-B14F-4D97-AF65-F5344CB8AC3E}">
        <p14:creationId xmlns:p14="http://schemas.microsoft.com/office/powerpoint/2010/main" val="642936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GB" sz="1200" b="1" i="0" u="none" strike="noStrike" kern="1200" dirty="0">
                <a:solidFill>
                  <a:schemeClr val="tx1"/>
                </a:solidFill>
                <a:effectLst/>
                <a:latin typeface="+mn-lt"/>
                <a:ea typeface="+mn-ea"/>
                <a:cs typeface="+mn-cs"/>
              </a:rPr>
              <a:t>Connected Vehicles: Paving the Road to Future of Mobility</a:t>
            </a:r>
            <a:endParaRPr lang="en-CH" sz="1200" b="0" i="0" u="none" strike="noStrike" kern="1200" dirty="0">
              <a:solidFill>
                <a:schemeClr val="tx1"/>
              </a:solidFill>
              <a:effectLst/>
              <a:latin typeface="+mn-lt"/>
              <a:ea typeface="+mn-ea"/>
              <a:cs typeface="+mn-cs"/>
            </a:endParaRPr>
          </a:p>
          <a:p>
            <a:pPr rtl="0" eaLnBrk="1" fontAlgn="t" latinLnBrk="0" hangingPunct="1"/>
            <a:r>
              <a:rPr lang="en-GB" sz="1200" b="0" i="0" u="none" strike="noStrike" kern="1200" dirty="0">
                <a:solidFill>
                  <a:schemeClr val="tx1"/>
                </a:solidFill>
                <a:effectLst/>
                <a:latin typeface="+mn-lt"/>
                <a:ea typeface="+mn-ea"/>
                <a:cs typeface="+mn-cs"/>
              </a:rPr>
              <a:t>Driven by the new-age technologies like the Internet of Things (IoT), connected cars are already defining the future of mobility, and paving the way for mass adoption of fully autonomous vehicles in future. IoT makes vehicles more aware of their surroundings, making them more autonomous, safer and efficient on the roads.</a:t>
            </a:r>
            <a:endParaRPr lang="en-CH" sz="1200" b="0" i="0" u="none" strike="noStrike" kern="1200" dirty="0">
              <a:solidFill>
                <a:schemeClr val="tx1"/>
              </a:solidFill>
              <a:effectLst/>
              <a:latin typeface="+mn-lt"/>
              <a:ea typeface="+mn-ea"/>
              <a:cs typeface="+mn-cs"/>
            </a:endParaRPr>
          </a:p>
          <a:p>
            <a:endParaRPr lang="en-CH" dirty="0"/>
          </a:p>
        </p:txBody>
      </p:sp>
      <p:sp>
        <p:nvSpPr>
          <p:cNvPr id="4" name="Slide Number Placeholder 3"/>
          <p:cNvSpPr>
            <a:spLocks noGrp="1"/>
          </p:cNvSpPr>
          <p:nvPr>
            <p:ph type="sldNum" sz="quarter" idx="5"/>
          </p:nvPr>
        </p:nvSpPr>
        <p:spPr/>
        <p:txBody>
          <a:bodyPr/>
          <a:lstStyle/>
          <a:p>
            <a:fld id="{538BB6C3-2AB3-E140-B72A-82047EB64F86}" type="slidenum">
              <a:rPr lang="en-CH" smtClean="0"/>
              <a:t>26</a:t>
            </a:fld>
            <a:endParaRPr lang="en-CH"/>
          </a:p>
        </p:txBody>
      </p:sp>
    </p:spTree>
    <p:extLst>
      <p:ext uri="{BB962C8B-B14F-4D97-AF65-F5344CB8AC3E}">
        <p14:creationId xmlns:p14="http://schemas.microsoft.com/office/powerpoint/2010/main" val="3200967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730DE1B3-D10C-FA46-9920-FB53357C7BEB}" type="slidenum">
              <a:rPr lang="en-CH" smtClean="0"/>
              <a:t>27</a:t>
            </a:fld>
            <a:endParaRPr lang="en-CH"/>
          </a:p>
        </p:txBody>
      </p:sp>
    </p:spTree>
    <p:extLst>
      <p:ext uri="{BB962C8B-B14F-4D97-AF65-F5344CB8AC3E}">
        <p14:creationId xmlns:p14="http://schemas.microsoft.com/office/powerpoint/2010/main" val="3549923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730DE1B3-D10C-FA46-9920-FB53357C7BEB}" type="slidenum">
              <a:rPr lang="en-CH" smtClean="0"/>
              <a:t>28</a:t>
            </a:fld>
            <a:endParaRPr lang="en-CH"/>
          </a:p>
        </p:txBody>
      </p:sp>
    </p:spTree>
    <p:extLst>
      <p:ext uri="{BB962C8B-B14F-4D97-AF65-F5344CB8AC3E}">
        <p14:creationId xmlns:p14="http://schemas.microsoft.com/office/powerpoint/2010/main" val="3947355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H" sz="1200" kern="0" dirty="0">
              <a:solidFill>
                <a:schemeClr val="accent5">
                  <a:lumMod val="50000"/>
                </a:schemeClr>
              </a:solidFill>
              <a:effectLst/>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H" sz="1200" dirty="0"/>
          </a:p>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32</a:t>
            </a:fld>
            <a:endParaRPr lang="en-CH"/>
          </a:p>
        </p:txBody>
      </p:sp>
    </p:spTree>
    <p:extLst>
      <p:ext uri="{BB962C8B-B14F-4D97-AF65-F5344CB8AC3E}">
        <p14:creationId xmlns:p14="http://schemas.microsoft.com/office/powerpoint/2010/main" val="1819710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730DE1B3-D10C-FA46-9920-FB53357C7BEB}" type="slidenum">
              <a:rPr lang="en-CH" smtClean="0"/>
              <a:t>33</a:t>
            </a:fld>
            <a:endParaRPr lang="en-CH"/>
          </a:p>
        </p:txBody>
      </p:sp>
    </p:spTree>
    <p:extLst>
      <p:ext uri="{BB962C8B-B14F-4D97-AF65-F5344CB8AC3E}">
        <p14:creationId xmlns:p14="http://schemas.microsoft.com/office/powerpoint/2010/main" val="428566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4CF9A-C764-34C1-7BC1-5C6EFBEFB90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B4C3B951-4321-7D4F-1FF5-C909CC271A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D800AEE7-FEEA-BE52-91EE-CF682DED1CBF}"/>
              </a:ext>
            </a:extLst>
          </p:cNvPr>
          <p:cNvSpPr>
            <a:spLocks noGrp="1"/>
          </p:cNvSpPr>
          <p:nvPr>
            <p:ph type="dt" sz="half" idx="10"/>
          </p:nvPr>
        </p:nvSpPr>
        <p:spPr/>
        <p:txBody>
          <a:bodyPr/>
          <a:lstStyle/>
          <a:p>
            <a:fld id="{AE577BBD-C8A7-2F42-A078-8EF56002D3D1}" type="datetime1">
              <a:rPr lang="de-CH" smtClean="0"/>
              <a:t>24.01.26</a:t>
            </a:fld>
            <a:endParaRPr lang="en-CH"/>
          </a:p>
        </p:txBody>
      </p:sp>
      <p:sp>
        <p:nvSpPr>
          <p:cNvPr id="5" name="Footer Placeholder 4">
            <a:extLst>
              <a:ext uri="{FF2B5EF4-FFF2-40B4-BE49-F238E27FC236}">
                <a16:creationId xmlns:a16="http://schemas.microsoft.com/office/drawing/2014/main" id="{A3EF9AED-1126-B924-83E5-81D03A5F4A47}"/>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AC0D0C18-A498-1D11-C124-77F11D37D632}"/>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2328110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39C22-B24F-0BBB-5FE1-57A99901D9F8}"/>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88C1AEC8-DC65-966C-57CE-BC56D10A575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776B53E2-95B5-B8ED-E7AE-22EBB44D4D09}"/>
              </a:ext>
            </a:extLst>
          </p:cNvPr>
          <p:cNvSpPr>
            <a:spLocks noGrp="1"/>
          </p:cNvSpPr>
          <p:nvPr>
            <p:ph type="dt" sz="half" idx="10"/>
          </p:nvPr>
        </p:nvSpPr>
        <p:spPr/>
        <p:txBody>
          <a:bodyPr/>
          <a:lstStyle/>
          <a:p>
            <a:fld id="{82E92356-97BB-B94A-BCFA-C9F067F4FFCB}" type="datetime1">
              <a:rPr lang="de-CH" smtClean="0"/>
              <a:t>24.01.26</a:t>
            </a:fld>
            <a:endParaRPr lang="en-CH"/>
          </a:p>
        </p:txBody>
      </p:sp>
      <p:sp>
        <p:nvSpPr>
          <p:cNvPr id="5" name="Footer Placeholder 4">
            <a:extLst>
              <a:ext uri="{FF2B5EF4-FFF2-40B4-BE49-F238E27FC236}">
                <a16:creationId xmlns:a16="http://schemas.microsoft.com/office/drawing/2014/main" id="{228AD4F6-9170-BF26-D1CA-39F24E7A571A}"/>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B5A26638-49E3-43F1-A5FF-85B577C3A649}"/>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3049635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8C502-DA2E-73FA-6C20-A47216C6D0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9FB8E32A-646D-C8BC-A39B-EEB1A0014C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24A709A-CF91-5726-B578-ADB75288E906}"/>
              </a:ext>
            </a:extLst>
          </p:cNvPr>
          <p:cNvSpPr>
            <a:spLocks noGrp="1"/>
          </p:cNvSpPr>
          <p:nvPr>
            <p:ph type="dt" sz="half" idx="10"/>
          </p:nvPr>
        </p:nvSpPr>
        <p:spPr/>
        <p:txBody>
          <a:bodyPr/>
          <a:lstStyle/>
          <a:p>
            <a:fld id="{4CAA96C5-850C-904C-801C-6662FCD0C38A}" type="datetime1">
              <a:rPr lang="de-CH" smtClean="0"/>
              <a:t>24.01.26</a:t>
            </a:fld>
            <a:endParaRPr lang="en-CH"/>
          </a:p>
        </p:txBody>
      </p:sp>
      <p:sp>
        <p:nvSpPr>
          <p:cNvPr id="5" name="Footer Placeholder 4">
            <a:extLst>
              <a:ext uri="{FF2B5EF4-FFF2-40B4-BE49-F238E27FC236}">
                <a16:creationId xmlns:a16="http://schemas.microsoft.com/office/drawing/2014/main" id="{D117833C-F541-7527-746C-5C0D5A45736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19C7B2F1-3997-C453-569D-84B8648D95AE}"/>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802928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F905-18A5-965C-B8B4-414B1219E398}"/>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E02B0C9F-E06E-6F79-1CAC-FB0FB05733B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997195F5-28C9-E0D7-5712-E0076A5ACF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75A48194-35BA-B070-3607-8BC508232569}"/>
              </a:ext>
            </a:extLst>
          </p:cNvPr>
          <p:cNvSpPr>
            <a:spLocks noGrp="1"/>
          </p:cNvSpPr>
          <p:nvPr>
            <p:ph type="dt" sz="half" idx="10"/>
          </p:nvPr>
        </p:nvSpPr>
        <p:spPr/>
        <p:txBody>
          <a:bodyPr/>
          <a:lstStyle/>
          <a:p>
            <a:fld id="{96228317-2864-E34A-B41E-5CD5EA607FF9}" type="datetime1">
              <a:rPr lang="de-CH" smtClean="0"/>
              <a:t>24.01.26</a:t>
            </a:fld>
            <a:endParaRPr lang="en-CH"/>
          </a:p>
        </p:txBody>
      </p:sp>
      <p:sp>
        <p:nvSpPr>
          <p:cNvPr id="6" name="Footer Placeholder 5">
            <a:extLst>
              <a:ext uri="{FF2B5EF4-FFF2-40B4-BE49-F238E27FC236}">
                <a16:creationId xmlns:a16="http://schemas.microsoft.com/office/drawing/2014/main" id="{4EED9FF1-F0AF-FF20-FCC3-5D6E09935A91}"/>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F2D7D08F-E64D-2D04-6701-35128414211F}"/>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881534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5632-67B3-4806-8CB0-030450323FC5}"/>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FD715EB2-2ACF-FFD8-7DCF-D0C370F404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AA4B6EB-9D19-A213-6DE7-E45128188AE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8BD256BC-3272-F876-D1DC-9BB5F1796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D6D7BEE-7C44-524A-CB97-1475211C088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14BDDAB9-C43B-4475-824F-09F0F3AAF6E5}"/>
              </a:ext>
            </a:extLst>
          </p:cNvPr>
          <p:cNvSpPr>
            <a:spLocks noGrp="1"/>
          </p:cNvSpPr>
          <p:nvPr>
            <p:ph type="dt" sz="half" idx="10"/>
          </p:nvPr>
        </p:nvSpPr>
        <p:spPr/>
        <p:txBody>
          <a:bodyPr/>
          <a:lstStyle/>
          <a:p>
            <a:fld id="{681CF376-5CE4-0147-8DCA-34B8C74F46D7}" type="datetime1">
              <a:rPr lang="de-CH" smtClean="0"/>
              <a:t>24.01.26</a:t>
            </a:fld>
            <a:endParaRPr lang="en-CH"/>
          </a:p>
        </p:txBody>
      </p:sp>
      <p:sp>
        <p:nvSpPr>
          <p:cNvPr id="8" name="Footer Placeholder 7">
            <a:extLst>
              <a:ext uri="{FF2B5EF4-FFF2-40B4-BE49-F238E27FC236}">
                <a16:creationId xmlns:a16="http://schemas.microsoft.com/office/drawing/2014/main" id="{C59DFDEB-ED97-A59B-CC42-C52A06900CD3}"/>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B9E08099-632C-6CE0-A72D-13B66FD44702}"/>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1252234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40D34-6C81-395A-6C76-31BE62CD643B}"/>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9EE96D8C-0E7E-410C-98B8-70B22E30457D}"/>
              </a:ext>
            </a:extLst>
          </p:cNvPr>
          <p:cNvSpPr>
            <a:spLocks noGrp="1"/>
          </p:cNvSpPr>
          <p:nvPr>
            <p:ph type="dt" sz="half" idx="10"/>
          </p:nvPr>
        </p:nvSpPr>
        <p:spPr/>
        <p:txBody>
          <a:bodyPr/>
          <a:lstStyle/>
          <a:p>
            <a:fld id="{5C3800DC-9994-8F4D-9DF9-316B52A92A8E}" type="datetime1">
              <a:rPr lang="de-CH" smtClean="0"/>
              <a:t>24.01.26</a:t>
            </a:fld>
            <a:endParaRPr lang="en-CH"/>
          </a:p>
        </p:txBody>
      </p:sp>
      <p:sp>
        <p:nvSpPr>
          <p:cNvPr id="4" name="Footer Placeholder 3">
            <a:extLst>
              <a:ext uri="{FF2B5EF4-FFF2-40B4-BE49-F238E27FC236}">
                <a16:creationId xmlns:a16="http://schemas.microsoft.com/office/drawing/2014/main" id="{4F91061E-2447-7476-2101-A1DE8B642E32}"/>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31F630C6-A1F6-329A-D37A-24880833468B}"/>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1278557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05215A-E330-3973-A1AF-4B4BC43CB5CE}"/>
              </a:ext>
            </a:extLst>
          </p:cNvPr>
          <p:cNvSpPr>
            <a:spLocks noGrp="1"/>
          </p:cNvSpPr>
          <p:nvPr>
            <p:ph type="dt" sz="half" idx="10"/>
          </p:nvPr>
        </p:nvSpPr>
        <p:spPr/>
        <p:txBody>
          <a:bodyPr/>
          <a:lstStyle/>
          <a:p>
            <a:fld id="{CC89C969-46AB-8B47-BED2-9513AD52EA47}" type="datetime1">
              <a:rPr lang="de-CH" smtClean="0"/>
              <a:t>24.01.26</a:t>
            </a:fld>
            <a:endParaRPr lang="en-CH"/>
          </a:p>
        </p:txBody>
      </p:sp>
      <p:sp>
        <p:nvSpPr>
          <p:cNvPr id="3" name="Footer Placeholder 2">
            <a:extLst>
              <a:ext uri="{FF2B5EF4-FFF2-40B4-BE49-F238E27FC236}">
                <a16:creationId xmlns:a16="http://schemas.microsoft.com/office/drawing/2014/main" id="{70CF4531-812E-0F4E-22A7-D63C1F98DC24}"/>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D7AE1C55-A13A-DBA6-9040-2B789B9A01AD}"/>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32382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49487-FFEC-8D2F-7374-5AAAE85B4D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3898932A-40FE-808B-9387-D62191B214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62490B82-E407-401B-1A2E-24FE744FA4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96C2FF-E4ED-02FF-0A70-64EC46DBF927}"/>
              </a:ext>
            </a:extLst>
          </p:cNvPr>
          <p:cNvSpPr>
            <a:spLocks noGrp="1"/>
          </p:cNvSpPr>
          <p:nvPr>
            <p:ph type="dt" sz="half" idx="10"/>
          </p:nvPr>
        </p:nvSpPr>
        <p:spPr/>
        <p:txBody>
          <a:bodyPr/>
          <a:lstStyle/>
          <a:p>
            <a:fld id="{D9CF0134-125F-F841-AFFE-5D4E789A73FB}" type="datetime1">
              <a:rPr lang="de-CH" smtClean="0"/>
              <a:t>24.01.26</a:t>
            </a:fld>
            <a:endParaRPr lang="en-CH"/>
          </a:p>
        </p:txBody>
      </p:sp>
      <p:sp>
        <p:nvSpPr>
          <p:cNvPr id="6" name="Footer Placeholder 5">
            <a:extLst>
              <a:ext uri="{FF2B5EF4-FFF2-40B4-BE49-F238E27FC236}">
                <a16:creationId xmlns:a16="http://schemas.microsoft.com/office/drawing/2014/main" id="{AF376282-E37B-B93D-7085-A05FBA7F19B8}"/>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1A36CF7-7032-C8E6-6796-8A80C0F78A77}"/>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223439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DCE8-BFCC-88E8-EC5F-47C6B64D7B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59255201-8DF4-8219-644E-0DCB57A0D2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E6BE9AAC-097E-B725-1BCC-D9CC68EBC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8361D3-2064-C0B5-1602-69AFB27534B3}"/>
              </a:ext>
            </a:extLst>
          </p:cNvPr>
          <p:cNvSpPr>
            <a:spLocks noGrp="1"/>
          </p:cNvSpPr>
          <p:nvPr>
            <p:ph type="dt" sz="half" idx="10"/>
          </p:nvPr>
        </p:nvSpPr>
        <p:spPr/>
        <p:txBody>
          <a:bodyPr/>
          <a:lstStyle/>
          <a:p>
            <a:fld id="{88502C97-E055-2C44-B3DA-C9BA9CF25088}" type="datetime1">
              <a:rPr lang="de-CH" smtClean="0"/>
              <a:t>24.01.26</a:t>
            </a:fld>
            <a:endParaRPr lang="en-CH"/>
          </a:p>
        </p:txBody>
      </p:sp>
      <p:sp>
        <p:nvSpPr>
          <p:cNvPr id="6" name="Footer Placeholder 5">
            <a:extLst>
              <a:ext uri="{FF2B5EF4-FFF2-40B4-BE49-F238E27FC236}">
                <a16:creationId xmlns:a16="http://schemas.microsoft.com/office/drawing/2014/main" id="{CD8A7AA6-CE90-A3E9-14AB-892E892719E6}"/>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DFFBCBF8-CF8C-A259-B573-9619BBD3A835}"/>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2728733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3A3B-579F-47C9-8878-5F0F4736735C}"/>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136A2F21-4758-29B6-6B2F-9BB39783EBE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85B833DE-F4E3-F200-4201-18E89B2963BA}"/>
              </a:ext>
            </a:extLst>
          </p:cNvPr>
          <p:cNvSpPr>
            <a:spLocks noGrp="1"/>
          </p:cNvSpPr>
          <p:nvPr>
            <p:ph type="dt" sz="half" idx="10"/>
          </p:nvPr>
        </p:nvSpPr>
        <p:spPr/>
        <p:txBody>
          <a:bodyPr/>
          <a:lstStyle/>
          <a:p>
            <a:fld id="{974D824D-95F6-CA48-90EF-9440E07A33AE}" type="datetime1">
              <a:rPr lang="de-CH" smtClean="0"/>
              <a:t>24.01.26</a:t>
            </a:fld>
            <a:endParaRPr lang="en-CH"/>
          </a:p>
        </p:txBody>
      </p:sp>
      <p:sp>
        <p:nvSpPr>
          <p:cNvPr id="5" name="Footer Placeholder 4">
            <a:extLst>
              <a:ext uri="{FF2B5EF4-FFF2-40B4-BE49-F238E27FC236}">
                <a16:creationId xmlns:a16="http://schemas.microsoft.com/office/drawing/2014/main" id="{CE76BFD6-9ABA-6979-1567-660D9053EDD8}"/>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E383757-FCDD-3643-7DA5-049658281343}"/>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2771456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74820A-6CE4-75B9-896B-CD9D131C483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2D935BF9-094E-EC25-46A4-A85284F8375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6448A526-6121-6362-4D06-6AEF69374ACC}"/>
              </a:ext>
            </a:extLst>
          </p:cNvPr>
          <p:cNvSpPr>
            <a:spLocks noGrp="1"/>
          </p:cNvSpPr>
          <p:nvPr>
            <p:ph type="dt" sz="half" idx="10"/>
          </p:nvPr>
        </p:nvSpPr>
        <p:spPr/>
        <p:txBody>
          <a:bodyPr/>
          <a:lstStyle/>
          <a:p>
            <a:fld id="{D719B327-33BF-C043-8DAA-FDA06BF443D2}" type="datetime1">
              <a:rPr lang="de-CH" smtClean="0"/>
              <a:t>24.01.26</a:t>
            </a:fld>
            <a:endParaRPr lang="en-CH"/>
          </a:p>
        </p:txBody>
      </p:sp>
      <p:sp>
        <p:nvSpPr>
          <p:cNvPr id="5" name="Footer Placeholder 4">
            <a:extLst>
              <a:ext uri="{FF2B5EF4-FFF2-40B4-BE49-F238E27FC236}">
                <a16:creationId xmlns:a16="http://schemas.microsoft.com/office/drawing/2014/main" id="{801C3C18-B926-8798-EC21-C19320BFB84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B5EE7C5-C3BD-E82B-3081-0116179443BB}"/>
              </a:ext>
            </a:extLst>
          </p:cNvPr>
          <p:cNvSpPr>
            <a:spLocks noGrp="1"/>
          </p:cNvSpPr>
          <p:nvPr>
            <p:ph type="sldNum" sz="quarter" idx="12"/>
          </p:nvPr>
        </p:nvSpPr>
        <p:spPr/>
        <p:txBody>
          <a:bodyPr/>
          <a:lstStyle/>
          <a:p>
            <a:fld id="{6897FFF3-9BE7-6F4B-AB28-3A1D192ED757}" type="slidenum">
              <a:rPr lang="en-CH" smtClean="0"/>
              <a:t>‹#›</a:t>
            </a:fld>
            <a:endParaRPr lang="en-CH"/>
          </a:p>
        </p:txBody>
      </p:sp>
    </p:spTree>
    <p:extLst>
      <p:ext uri="{BB962C8B-B14F-4D97-AF65-F5344CB8AC3E}">
        <p14:creationId xmlns:p14="http://schemas.microsoft.com/office/powerpoint/2010/main" val="710379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4FCF1B-8A36-89B2-69C2-742E96EAB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97936C9D-1900-B22A-C8E4-38E24EAD2D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7D062FDA-9A4B-02F5-69AF-5FDFB756DF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30CECD-3D4C-3440-B7D3-1877894AB1D9}" type="datetime1">
              <a:rPr lang="de-CH" smtClean="0"/>
              <a:t>24.01.26</a:t>
            </a:fld>
            <a:endParaRPr lang="en-CH"/>
          </a:p>
        </p:txBody>
      </p:sp>
      <p:sp>
        <p:nvSpPr>
          <p:cNvPr id="5" name="Footer Placeholder 4">
            <a:extLst>
              <a:ext uri="{FF2B5EF4-FFF2-40B4-BE49-F238E27FC236}">
                <a16:creationId xmlns:a16="http://schemas.microsoft.com/office/drawing/2014/main" id="{194969F2-52B1-EE27-2D4B-996A54B5AA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H"/>
          </a:p>
        </p:txBody>
      </p:sp>
      <p:sp>
        <p:nvSpPr>
          <p:cNvPr id="6" name="Slide Number Placeholder 5">
            <a:extLst>
              <a:ext uri="{FF2B5EF4-FFF2-40B4-BE49-F238E27FC236}">
                <a16:creationId xmlns:a16="http://schemas.microsoft.com/office/drawing/2014/main" id="{C1A7A1DD-4654-3BB9-96A6-674EC2EC11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97FFF3-9BE7-6F4B-AB28-3A1D192ED757}" type="slidenum">
              <a:rPr lang="en-CH" smtClean="0"/>
              <a:t>‹#›</a:t>
            </a:fld>
            <a:endParaRPr lang="en-CH"/>
          </a:p>
        </p:txBody>
      </p:sp>
    </p:spTree>
    <p:extLst>
      <p:ext uri="{BB962C8B-B14F-4D97-AF65-F5344CB8AC3E}">
        <p14:creationId xmlns:p14="http://schemas.microsoft.com/office/powerpoint/2010/main" val="4226582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gob.pe/institucion/produce/noticias/931385-produce-puerto-de-chancay-generara-un-impacto-economico-de-us-4500-millones-anuales-al-pais?utm_source=chatgpt.com"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hyperlink" Target="https://smartcity.valencia.es/vlci/vlci-platform/" TargetMode="External"/><Relationship Id="rId3" Type="http://schemas.openxmlformats.org/officeDocument/2006/relationships/hyperlink" Target="https://www.itu.int/en/action/environment-and-climate-change/Documents/frontier-technologies-to-protect-the-environment-and-tackle-climate-change.pdf" TargetMode="External"/><Relationship Id="rId7" Type="http://schemas.openxmlformats.org/officeDocument/2006/relationships/hyperlink" Target="https://www.itu.int/en/ITU-T/ssc/united/Documents/U4SSC%20Publications/Factsheets/Factsheet_Valencia_Spain.pdf"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itu.int/en/publications/Documents/tsb/2021-U4SSC-Simple-ways-to-be-smart/index.html#p=1" TargetMode="External"/><Relationship Id="rId5" Type="http://schemas.openxmlformats.org/officeDocument/2006/relationships/hyperlink" Target="https://www.itu.int/en/ITU-T/ssc/united/Documents/U4SSC%20Publications/Factsheets/September-2021/U4SSC_Mashhad-Iran_Factsheet.pdf" TargetMode="External"/><Relationship Id="rId4" Type="http://schemas.openxmlformats.org/officeDocument/2006/relationships/hyperlink" Target="https://www.itu.int/en/publications/Documents/tsb/2018-U4SSC-Case-of-Moscow/files/downloads/The-Case-of-Moscow-E_18-00503.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nstruction site with cranes and a body of water in the background&#10;&#10;Description automatically generated with low confidence">
            <a:extLst>
              <a:ext uri="{FF2B5EF4-FFF2-40B4-BE49-F238E27FC236}">
                <a16:creationId xmlns:a16="http://schemas.microsoft.com/office/drawing/2014/main" id="{32EEBDD6-9074-CA22-D663-BFA6CE7966BE}"/>
              </a:ext>
            </a:extLst>
          </p:cNvPr>
          <p:cNvPicPr>
            <a:picLocks noChangeAspect="1"/>
          </p:cNvPicPr>
          <p:nvPr/>
        </p:nvPicPr>
        <p:blipFill rotWithShape="1">
          <a:blip r:embed="rId2"/>
          <a:srcRect l="6236"/>
          <a:stretch/>
        </p:blipFill>
        <p:spPr>
          <a:xfrm>
            <a:off x="103239" y="3702380"/>
            <a:ext cx="11955437" cy="3081878"/>
          </a:xfrm>
          <a:prstGeom prst="rect">
            <a:avLst/>
          </a:prstGeom>
        </p:spPr>
      </p:pic>
      <p:sp>
        <p:nvSpPr>
          <p:cNvPr id="3" name="Title 1">
            <a:extLst>
              <a:ext uri="{FF2B5EF4-FFF2-40B4-BE49-F238E27FC236}">
                <a16:creationId xmlns:a16="http://schemas.microsoft.com/office/drawing/2014/main" id="{0D461EBB-725F-D0C0-DB25-62F02EF58400}"/>
              </a:ext>
            </a:extLst>
          </p:cNvPr>
          <p:cNvSpPr txBox="1">
            <a:spLocks/>
          </p:cNvSpPr>
          <p:nvPr/>
        </p:nvSpPr>
        <p:spPr>
          <a:xfrm>
            <a:off x="510387" y="2728998"/>
            <a:ext cx="4359142" cy="1037815"/>
          </a:xfrm>
          <a:prstGeom prst="rect">
            <a:avLst/>
          </a:prstGeom>
        </p:spPr>
        <p:txBody>
          <a:bodyPr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CH" sz="3200" b="1" dirty="0">
              <a:solidFill>
                <a:srgbClr val="2F4B5D"/>
              </a:solidFill>
              <a:latin typeface="Open Sans" panose="020B0606030504020204" pitchFamily="34" charset="0"/>
              <a:ea typeface="Open Sans" panose="020B0606030504020204" pitchFamily="34" charset="0"/>
              <a:cs typeface="Open Sans" panose="020B0606030504020204" pitchFamily="34" charset="0"/>
            </a:endParaRPr>
          </a:p>
          <a:p>
            <a:pPr algn="ctr"/>
            <a:r>
              <a:rPr lang="en-CH" sz="3400" b="1" dirty="0">
                <a:solidFill>
                  <a:srgbClr val="2F4B5D"/>
                </a:solidFill>
                <a:latin typeface="Open Sans" panose="020B0606030504020204" pitchFamily="34" charset="0"/>
                <a:ea typeface="Open Sans" panose="020B0606030504020204" pitchFamily="34" charset="0"/>
                <a:cs typeface="Open Sans" panose="020B0606030504020204" pitchFamily="34" charset="0"/>
              </a:rPr>
              <a:t>Rosa M Delgado</a:t>
            </a:r>
            <a:br>
              <a:rPr lang="en-GB" sz="3400" b="1" dirty="0">
                <a:solidFill>
                  <a:schemeClr val="accent5">
                    <a:lumMod val="50000"/>
                  </a:schemeClr>
                </a:solidFill>
                <a:latin typeface="Open Sans" panose="020B0606030504020204" pitchFamily="34" charset="0"/>
                <a:ea typeface="Open Sans" panose="020B0606030504020204" pitchFamily="34" charset="0"/>
                <a:cs typeface="Open Sans" panose="020B0606030504020204" pitchFamily="34" charset="0"/>
              </a:rPr>
            </a:br>
            <a:r>
              <a:rPr lang="en-CH" sz="2800" dirty="0">
                <a:solidFill>
                  <a:srgbClr val="2F4B5D"/>
                </a:solidFill>
                <a:latin typeface="Open Sans" panose="020B0606030504020204" pitchFamily="34" charset="0"/>
                <a:ea typeface="Open Sans" panose="020B0606030504020204" pitchFamily="34" charset="0"/>
                <a:cs typeface="Open Sans" panose="020B0606030504020204" pitchFamily="34" charset="0"/>
              </a:rPr>
              <a:t>President</a:t>
            </a:r>
            <a:endParaRPr lang="en-CH" sz="28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Subtitle 2">
            <a:extLst>
              <a:ext uri="{FF2B5EF4-FFF2-40B4-BE49-F238E27FC236}">
                <a16:creationId xmlns:a16="http://schemas.microsoft.com/office/drawing/2014/main" id="{65E76188-E66A-C3B9-CFE8-883497A02428}"/>
              </a:ext>
            </a:extLst>
          </p:cNvPr>
          <p:cNvSpPr txBox="1">
            <a:spLocks/>
          </p:cNvSpPr>
          <p:nvPr/>
        </p:nvSpPr>
        <p:spPr>
          <a:xfrm>
            <a:off x="453810" y="262991"/>
            <a:ext cx="11146520" cy="14024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4000" b="1" dirty="0">
                <a:solidFill>
                  <a:srgbClr val="C00000"/>
                </a:solidFill>
                <a:effectLst/>
                <a:latin typeface="Open Sans" panose="020B0606030504020204" pitchFamily="34" charset="0"/>
                <a:ea typeface="Open Sans" panose="020B0606030504020204" pitchFamily="34" charset="0"/>
                <a:cs typeface="Open Sans" panose="020B0606030504020204" pitchFamily="34" charset="0"/>
              </a:rPr>
              <a:t>Puerto-Ciudad</a:t>
            </a:r>
            <a:r>
              <a:rPr lang="es-ES" sz="4000" b="1" dirty="0">
                <a:solidFill>
                  <a:srgbClr val="C00000"/>
                </a:solidFill>
                <a:latin typeface="Open Sans" panose="020B0606030504020204" pitchFamily="34" charset="0"/>
                <a:ea typeface="Open Sans" panose="020B0606030504020204" pitchFamily="34" charset="0"/>
                <a:cs typeface="Open Sans" panose="020B0606030504020204" pitchFamily="34" charset="0"/>
              </a:rPr>
              <a:t> </a:t>
            </a:r>
            <a:r>
              <a:rPr lang="es-ES" sz="4000" b="1" dirty="0">
                <a:solidFill>
                  <a:srgbClr val="C00000"/>
                </a:solidFill>
                <a:effectLst/>
                <a:latin typeface="Open Sans" panose="020B0606030504020204" pitchFamily="34" charset="0"/>
                <a:ea typeface="Open Sans" panose="020B0606030504020204" pitchFamily="34" charset="0"/>
                <a:cs typeface="Open Sans" panose="020B0606030504020204" pitchFamily="34" charset="0"/>
              </a:rPr>
              <a:t>Inteligente de Chancay</a:t>
            </a:r>
          </a:p>
          <a:p>
            <a:pPr marL="0" indent="0" algn="ctr">
              <a:buNone/>
            </a:pPr>
            <a:endParaRPr lang="en-CH" sz="1000" b="1" kern="0" dirty="0">
              <a:solidFill>
                <a:schemeClr val="accent5">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gn="ctr">
              <a:buNone/>
            </a:pPr>
            <a:r>
              <a:rPr lang="en-CH" b="1" kern="0" dirty="0">
                <a:solidFill>
                  <a:schemeClr val="accent5">
                    <a:lumMod val="50000"/>
                  </a:schemeClr>
                </a:solidFill>
                <a:effectLst/>
                <a:latin typeface="Open Sans" panose="020B0606030504020204" pitchFamily="34" charset="0"/>
                <a:ea typeface="Open Sans" panose="020B0606030504020204" pitchFamily="34" charset="0"/>
                <a:cs typeface="Open Sans" panose="020B0606030504020204" pitchFamily="34" charset="0"/>
              </a:rPr>
              <a:t>VI Jornada Internacional de Ciencias Avanzadas, Astrodinámica y Teledetección – 2026</a:t>
            </a:r>
            <a:endParaRPr lang="en-CH" kern="100" dirty="0">
              <a:solidFill>
                <a:schemeClr val="accent5">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gn="ctr">
              <a:buNone/>
            </a:pPr>
            <a:endParaRPr lang="es-ES" sz="2400" b="1" dirty="0">
              <a:solidFill>
                <a:schemeClr val="accent5">
                  <a:lumMod val="50000"/>
                </a:schemeClr>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gn="ctr">
              <a:buNone/>
            </a:pPr>
            <a:endParaRPr lang="en-CH" sz="40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endParaRPr>
          </a:p>
        </p:txBody>
      </p:sp>
      <p:pic>
        <p:nvPicPr>
          <p:cNvPr id="5" name="Picture 4" descr="IPv6 Council Peru.fw.png">
            <a:extLst>
              <a:ext uri="{FF2B5EF4-FFF2-40B4-BE49-F238E27FC236}">
                <a16:creationId xmlns:a16="http://schemas.microsoft.com/office/drawing/2014/main" id="{D5B7A128-604B-064A-9CA8-F34CD4913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36" y="2638821"/>
            <a:ext cx="1204008" cy="1589274"/>
          </a:xfrm>
          <a:prstGeom prst="rect">
            <a:avLst/>
          </a:prstGeom>
        </p:spPr>
      </p:pic>
      <p:sp>
        <p:nvSpPr>
          <p:cNvPr id="7" name="TextBox 6">
            <a:extLst>
              <a:ext uri="{FF2B5EF4-FFF2-40B4-BE49-F238E27FC236}">
                <a16:creationId xmlns:a16="http://schemas.microsoft.com/office/drawing/2014/main" id="{AA50BA5E-78D6-151F-D9CF-598C81E05F0B}"/>
              </a:ext>
            </a:extLst>
          </p:cNvPr>
          <p:cNvSpPr txBox="1"/>
          <p:nvPr/>
        </p:nvSpPr>
        <p:spPr>
          <a:xfrm>
            <a:off x="7903818" y="3235161"/>
            <a:ext cx="3937553" cy="461665"/>
          </a:xfrm>
          <a:prstGeom prst="rect">
            <a:avLst/>
          </a:prstGeom>
          <a:noFill/>
        </p:spPr>
        <p:txBody>
          <a:bodyPr wrap="none" rtlCol="0">
            <a:spAutoFit/>
          </a:bodyPr>
          <a:lstStyle/>
          <a:p>
            <a:r>
              <a:rPr lang="en-CH" sz="2400" b="1" dirty="0">
                <a:solidFill>
                  <a:schemeClr val="accent5">
                    <a:lumMod val="50000"/>
                  </a:schemeClr>
                </a:solidFill>
                <a:latin typeface="Open Sans" panose="020B0606030504020204" pitchFamily="34" charset="0"/>
                <a:ea typeface="Open Sans" panose="020B0606030504020204" pitchFamily="34" charset="0"/>
                <a:cs typeface="Open Sans" panose="020B0606030504020204" pitchFamily="34" charset="0"/>
              </a:rPr>
              <a:t>Ayacucho, 23 Enero 2026</a:t>
            </a:r>
          </a:p>
        </p:txBody>
      </p:sp>
      <p:sp>
        <p:nvSpPr>
          <p:cNvPr id="6" name="TextBox 5">
            <a:extLst>
              <a:ext uri="{FF2B5EF4-FFF2-40B4-BE49-F238E27FC236}">
                <a16:creationId xmlns:a16="http://schemas.microsoft.com/office/drawing/2014/main" id="{DD7ABA3A-BF86-FF59-5F91-E1667653761D}"/>
              </a:ext>
            </a:extLst>
          </p:cNvPr>
          <p:cNvSpPr txBox="1"/>
          <p:nvPr/>
        </p:nvSpPr>
        <p:spPr>
          <a:xfrm>
            <a:off x="640080" y="3489960"/>
            <a:ext cx="184731" cy="369332"/>
          </a:xfrm>
          <a:prstGeom prst="rect">
            <a:avLst/>
          </a:prstGeom>
          <a:noFill/>
        </p:spPr>
        <p:txBody>
          <a:bodyPr wrap="none" rtlCol="0">
            <a:spAutoFit/>
          </a:bodyPr>
          <a:lstStyle/>
          <a:p>
            <a:endParaRPr lang="en-CH" dirty="0"/>
          </a:p>
        </p:txBody>
      </p:sp>
    </p:spTree>
    <p:extLst>
      <p:ext uri="{BB962C8B-B14F-4D97-AF65-F5344CB8AC3E}">
        <p14:creationId xmlns:p14="http://schemas.microsoft.com/office/powerpoint/2010/main" val="39814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7" name="Rectangle 3"/>
          <p:cNvSpPr>
            <a:spLocks noGrp="1" noChangeArrowheads="1"/>
          </p:cNvSpPr>
          <p:nvPr>
            <p:ph type="body" idx="1"/>
          </p:nvPr>
        </p:nvSpPr>
        <p:spPr>
          <a:xfrm>
            <a:off x="1362812" y="843559"/>
            <a:ext cx="9480394" cy="4944313"/>
          </a:xfrm>
          <a:noFill/>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lIns="92075" tIns="46038" rIns="92075" bIns="46038" rtlCol="0">
            <a:noAutofit/>
          </a:bodyPr>
          <a:lstStyle/>
          <a:p>
            <a:pPr marL="114300" indent="0" algn="ctr">
              <a:lnSpc>
                <a:spcPct val="80000"/>
              </a:lnSpc>
              <a:buNone/>
            </a:pPr>
            <a:r>
              <a:rPr lang="en-US" sz="4000" b="1" dirty="0">
                <a:solidFill>
                  <a:schemeClr val="accent5">
                    <a:lumMod val="50000"/>
                  </a:schemeClr>
                </a:solidFill>
                <a:latin typeface="Segoe UI" panose="020B0502040204020203" pitchFamily="34" charset="0"/>
                <a:cs typeface="Segoe UI" panose="020B0502040204020203" pitchFamily="34" charset="0"/>
              </a:rPr>
              <a:t>Agenda</a:t>
            </a:r>
          </a:p>
          <a:p>
            <a:pPr marL="114300" indent="0" algn="ctr">
              <a:lnSpc>
                <a:spcPct val="80000"/>
              </a:lnSpc>
              <a:buNone/>
            </a:pPr>
            <a:endParaRPr lang="en-US" sz="1000" b="1" dirty="0">
              <a:solidFill>
                <a:schemeClr val="accent5">
                  <a:lumMod val="50000"/>
                </a:schemeClr>
              </a:solidFill>
              <a:latin typeface="Segoe UI" panose="020B0502040204020203" pitchFamily="34" charset="0"/>
              <a:cs typeface="Segoe UI" panose="020B0502040204020203" pitchFamily="34" charset="0"/>
            </a:endParaRPr>
          </a:p>
          <a:p>
            <a:pPr marL="0" indent="0" algn="ctr">
              <a:buNone/>
            </a:pPr>
            <a:r>
              <a:rPr lang="es-ES_tradnl"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¿Qué representa Chancay para Perú y Sudamérica?</a:t>
            </a:r>
          </a:p>
          <a:p>
            <a:pPr marL="0" indent="0" algn="ctr">
              <a:buNone/>
            </a:pPr>
            <a:r>
              <a:rPr lang="es-ES_tradnl" sz="2400" dirty="0">
                <a:solidFill>
                  <a:schemeClr val="accent5">
                    <a:lumMod val="50000"/>
                  </a:schemeClr>
                </a:solidFill>
                <a:effectLst/>
                <a:latin typeface="Segoe UI" panose="020B0502040204020203" pitchFamily="34" charset="0"/>
                <a:cs typeface="Segoe UI" panose="020B0502040204020203" pitchFamily="34" charset="0"/>
              </a:rPr>
              <a:t>Crecimiento </a:t>
            </a:r>
            <a:r>
              <a:rPr lang="es-ES_tradnl" sz="2400" dirty="0">
                <a:solidFill>
                  <a:schemeClr val="accent5">
                    <a:lumMod val="50000"/>
                  </a:schemeClr>
                </a:solidFill>
                <a:latin typeface="Segoe UI" panose="020B0502040204020203" pitchFamily="34" charset="0"/>
                <a:cs typeface="Segoe UI" panose="020B0502040204020203" pitchFamily="34" charset="0"/>
              </a:rPr>
              <a:t>E</a:t>
            </a:r>
            <a:r>
              <a:rPr lang="es-ES_tradnl" sz="2400" dirty="0">
                <a:solidFill>
                  <a:schemeClr val="accent5">
                    <a:lumMod val="50000"/>
                  </a:schemeClr>
                </a:solidFill>
                <a:effectLst/>
                <a:latin typeface="Segoe UI" panose="020B0502040204020203" pitchFamily="34" charset="0"/>
                <a:cs typeface="Segoe UI" panose="020B0502040204020203" pitchFamily="34" charset="0"/>
              </a:rPr>
              <a:t>conómico </a:t>
            </a:r>
            <a:r>
              <a:rPr lang="es-ES_tradnl" sz="2400" dirty="0">
                <a:solidFill>
                  <a:schemeClr val="accent5">
                    <a:lumMod val="50000"/>
                  </a:schemeClr>
                </a:solidFill>
                <a:latin typeface="Segoe UI" panose="020B0502040204020203" pitchFamily="34" charset="0"/>
                <a:cs typeface="Segoe UI" panose="020B0502040204020203" pitchFamily="34" charset="0"/>
              </a:rPr>
              <a:t>B</a:t>
            </a:r>
            <a:r>
              <a:rPr lang="es-ES_tradnl" sz="2400" dirty="0">
                <a:solidFill>
                  <a:schemeClr val="accent5">
                    <a:lumMod val="50000"/>
                  </a:schemeClr>
                </a:solidFill>
                <a:effectLst/>
                <a:latin typeface="Segoe UI" panose="020B0502040204020203" pitchFamily="34" charset="0"/>
                <a:cs typeface="Segoe UI" panose="020B0502040204020203" pitchFamily="34" charset="0"/>
              </a:rPr>
              <a:t>asado en las Exportaciones</a:t>
            </a:r>
          </a:p>
          <a:p>
            <a:pPr marL="0" indent="0" algn="ctr">
              <a:buNone/>
            </a:pPr>
            <a:r>
              <a:rPr lang="en-US" sz="2400" dirty="0">
                <a:solidFill>
                  <a:schemeClr val="accent5">
                    <a:lumMod val="50000"/>
                  </a:schemeClr>
                </a:solidFill>
                <a:latin typeface="Segoe UI" panose="020B0502040204020203" pitchFamily="34" charset="0"/>
                <a:cs typeface="Segoe UI" panose="020B0502040204020203" pitchFamily="34" charset="0"/>
              </a:rPr>
              <a:t>Estado Actual </a:t>
            </a:r>
            <a:r>
              <a:rPr lang="en-US" sz="2400" dirty="0" err="1">
                <a:solidFill>
                  <a:schemeClr val="accent5">
                    <a:lumMod val="50000"/>
                  </a:schemeClr>
                </a:solidFill>
                <a:latin typeface="Segoe UI" panose="020B0502040204020203" pitchFamily="34" charset="0"/>
                <a:cs typeface="Segoe UI" panose="020B0502040204020203" pitchFamily="34" charset="0"/>
              </a:rPr>
              <a:t>Chancay</a:t>
            </a:r>
            <a:r>
              <a:rPr lang="en-US" sz="2400" dirty="0">
                <a:solidFill>
                  <a:schemeClr val="accent5">
                    <a:lumMod val="50000"/>
                  </a:schemeClr>
                </a:solidFill>
                <a:latin typeface="Segoe UI" panose="020B0502040204020203" pitchFamily="34" charset="0"/>
                <a:cs typeface="Segoe UI" panose="020B0502040204020203" pitchFamily="34" charset="0"/>
              </a:rPr>
              <a:t> </a:t>
            </a:r>
            <a:endParaRPr lang="es-ES_tradnl"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p>
            <a:pPr marL="0" indent="0" algn="ctr">
              <a:buNone/>
            </a:pPr>
            <a:r>
              <a:rPr lang="en-US" sz="2400" i="1" dirty="0">
                <a:solidFill>
                  <a:schemeClr val="accent5">
                    <a:lumMod val="50000"/>
                  </a:schemeClr>
                </a:solidFill>
                <a:latin typeface="Segoe UI" panose="020B0502040204020203" pitchFamily="34" charset="0"/>
                <a:ea typeface="+mj-ea"/>
                <a:cs typeface="Segoe UI" panose="020B0502040204020203" pitchFamily="34" charset="0"/>
              </a:rPr>
              <a:t>La </a:t>
            </a:r>
            <a:r>
              <a:rPr lang="es-ES" sz="2400" i="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IA Transforma Puertos y Ciudades Marítimas</a:t>
            </a:r>
            <a:r>
              <a:rPr lang="es-ES_tradnl" sz="2400" i="1" dirty="0">
                <a:solidFill>
                  <a:schemeClr val="accent5">
                    <a:lumMod val="50000"/>
                  </a:schemeClr>
                </a:solidFill>
                <a:latin typeface="Segoe UI" panose="020B0502040204020203" pitchFamily="34" charset="0"/>
                <a:ea typeface="+mj-ea"/>
                <a:cs typeface="Segoe UI" panose="020B0502040204020203" pitchFamily="34" charset="0"/>
              </a:rPr>
              <a:t> </a:t>
            </a:r>
            <a:r>
              <a:rPr lang="en-US" sz="2400" i="1" dirty="0">
                <a:solidFill>
                  <a:schemeClr val="accent5">
                    <a:lumMod val="50000"/>
                  </a:schemeClr>
                </a:solidFill>
                <a:latin typeface="Segoe UI" panose="020B0502040204020203" pitchFamily="34" charset="0"/>
                <a:ea typeface="+mj-ea"/>
                <a:cs typeface="Segoe UI" panose="020B0502040204020203" pitchFamily="34" charset="0"/>
              </a:rPr>
              <a:t> </a:t>
            </a:r>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marL="0" indent="0" algn="ctr">
              <a:buNone/>
            </a:pPr>
            <a:r>
              <a:rPr lang="es-ES_tradnl" sz="2400" dirty="0">
                <a:solidFill>
                  <a:schemeClr val="accent5">
                    <a:lumMod val="50000"/>
                  </a:schemeClr>
                </a:solidFill>
                <a:latin typeface="Segoe UI" panose="020B0502040204020203" pitchFamily="34" charset="0"/>
                <a:cs typeface="Segoe UI" panose="020B0502040204020203" pitchFamily="34" charset="0"/>
              </a:rPr>
              <a:t>Perfiles Profesionales Requeridos en Chancay</a:t>
            </a:r>
          </a:p>
          <a:p>
            <a:pPr marL="0" indent="0" algn="ctr">
              <a:buNone/>
            </a:pPr>
            <a:r>
              <a:rPr lang="es-ES_tradnl"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Análisis FODA (</a:t>
            </a:r>
            <a:r>
              <a:rPr lang="es-ES_tradnl" sz="2400" dirty="0">
                <a:solidFill>
                  <a:schemeClr val="accent5">
                    <a:lumMod val="50000"/>
                  </a:schemeClr>
                </a:solidFill>
                <a:latin typeface="Segoe UI" panose="020B0502040204020203" pitchFamily="34" charset="0"/>
                <a:cs typeface="Segoe UI" panose="020B0502040204020203" pitchFamily="34" charset="0"/>
              </a:rPr>
              <a:t>SWOT) </a:t>
            </a:r>
          </a:p>
          <a:p>
            <a:pPr marL="0" indent="0" algn="ctr">
              <a:buNone/>
            </a:pPr>
            <a:r>
              <a:rPr lang="es-ES_tradnl" sz="2400" i="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Hub Logístico Regional</a:t>
            </a:r>
            <a:r>
              <a:rPr lang="es-ES_tradnl" sz="2400" dirty="0">
                <a:solidFill>
                  <a:schemeClr val="accent5">
                    <a:lumMod val="50000"/>
                  </a:schemeClr>
                </a:solidFill>
                <a:latin typeface="Segoe UI" panose="020B0502040204020203" pitchFamily="34" charset="0"/>
                <a:cs typeface="Segoe UI" panose="020B0502040204020203" pitchFamily="34" charset="0"/>
              </a:rPr>
              <a:t> </a:t>
            </a:r>
          </a:p>
          <a:p>
            <a:pPr marL="0" indent="0" algn="ctr">
              <a:buNone/>
            </a:pPr>
            <a:r>
              <a:rPr lang="es-ES_tradnl" sz="2400" i="1" kern="1200" dirty="0">
                <a:solidFill>
                  <a:schemeClr val="accent5">
                    <a:lumMod val="50000"/>
                  </a:schemeClr>
                </a:solidFill>
                <a:effectLst/>
                <a:latin typeface="Segoe UI" panose="020B0502040204020203" pitchFamily="34" charset="0"/>
                <a:ea typeface="+mj-ea"/>
                <a:cs typeface="Segoe UI" panose="020B0502040204020203" pitchFamily="34" charset="0"/>
              </a:rPr>
              <a:t>Ciberseguridad en la </a:t>
            </a:r>
            <a:r>
              <a:rPr lang="es-ES_tradnl" sz="2400" i="1" dirty="0">
                <a:solidFill>
                  <a:schemeClr val="accent5">
                    <a:lumMod val="50000"/>
                  </a:schemeClr>
                </a:solidFill>
                <a:latin typeface="Segoe UI" panose="020B0502040204020203" pitchFamily="34" charset="0"/>
                <a:ea typeface="+mj-ea"/>
                <a:cs typeface="Segoe UI" panose="020B0502040204020203" pitchFamily="34" charset="0"/>
              </a:rPr>
              <a:t>e</a:t>
            </a:r>
            <a:r>
              <a:rPr lang="es-ES_tradnl" sz="2400" kern="1200" dirty="0">
                <a:solidFill>
                  <a:schemeClr val="accent5">
                    <a:lumMod val="50000"/>
                  </a:schemeClr>
                </a:solidFill>
                <a:effectLst/>
                <a:latin typeface="Segoe UI" panose="020B0502040204020203" pitchFamily="34" charset="0"/>
                <a:ea typeface="+mj-ea"/>
                <a:cs typeface="Segoe UI" panose="020B0502040204020203" pitchFamily="34" charset="0"/>
              </a:rPr>
              <a:t>ra de la IA</a:t>
            </a:r>
          </a:p>
          <a:p>
            <a:pPr marL="0" indent="0" algn="ctr">
              <a:buNone/>
            </a:pPr>
            <a:r>
              <a:rPr lang="es-ES_tradnl" sz="2400" dirty="0">
                <a:solidFill>
                  <a:schemeClr val="accent5">
                    <a:lumMod val="50000"/>
                  </a:schemeClr>
                </a:solidFill>
                <a:latin typeface="Segoe UI" panose="020B0502040204020203" pitchFamily="34" charset="0"/>
                <a:ea typeface="+mj-ea"/>
                <a:cs typeface="Segoe UI" panose="020B0502040204020203" pitchFamily="34" charset="0"/>
              </a:rPr>
              <a:t>Conclusiones</a:t>
            </a:r>
          </a:p>
          <a:p>
            <a:pPr marL="0" indent="0" algn="ctr">
              <a:buNone/>
            </a:pPr>
            <a:r>
              <a:rPr lang="es-ES_tradnl" sz="2400" dirty="0">
                <a:solidFill>
                  <a:schemeClr val="accent5">
                    <a:lumMod val="50000"/>
                  </a:schemeClr>
                </a:solidFill>
                <a:latin typeface="Segoe UI" panose="020B0502040204020203" pitchFamily="34" charset="0"/>
                <a:ea typeface="+mj-ea"/>
                <a:cs typeface="Segoe UI" panose="020B0502040204020203" pitchFamily="34" charset="0"/>
              </a:rPr>
              <a:t>Recomendacione</a:t>
            </a:r>
            <a:r>
              <a:rPr lang="es-ES_tradnl" sz="2400" b="1" dirty="0">
                <a:solidFill>
                  <a:schemeClr val="accent5">
                    <a:lumMod val="50000"/>
                  </a:schemeClr>
                </a:solidFill>
                <a:latin typeface="Segoe UI" panose="020B0502040204020203" pitchFamily="34" charset="0"/>
                <a:ea typeface="+mj-ea"/>
                <a:cs typeface="Segoe UI" panose="020B0502040204020203" pitchFamily="34" charset="0"/>
              </a:rPr>
              <a:t>s </a:t>
            </a:r>
            <a:endParaRPr lang="es-ES_tradnl" sz="2400" b="1" u="none" strike="noStrike" dirty="0">
              <a:solidFill>
                <a:schemeClr val="accent5">
                  <a:lumMod val="50000"/>
                </a:schemeClr>
              </a:solidFill>
              <a:effectLst/>
              <a:latin typeface="Segoe UI" panose="020B0502040204020203" pitchFamily="34" charset="0"/>
              <a:cs typeface="Segoe UI" panose="020B0502040204020203" pitchFamily="34" charset="0"/>
            </a:endParaRPr>
          </a:p>
          <a:p>
            <a:pPr marL="0" indent="0" algn="ctr">
              <a:buNone/>
            </a:pPr>
            <a:endParaRPr lang="es-ES_tradnl" sz="3200" b="1" dirty="0">
              <a:solidFill>
                <a:schemeClr val="accent5">
                  <a:lumMod val="50000"/>
                </a:schemeClr>
              </a:solidFill>
              <a:latin typeface="Segoe UI" panose="020B0502040204020203" pitchFamily="34" charset="0"/>
              <a:cs typeface="Segoe UI" panose="020B0502040204020203" pitchFamily="34" charset="0"/>
            </a:endParaRPr>
          </a:p>
          <a:p>
            <a:pPr algn="ctr"/>
            <a:endParaRPr lang="fr-CH" sz="3200" b="1" dirty="0">
              <a:solidFill>
                <a:schemeClr val="accent5">
                  <a:lumMod val="50000"/>
                </a:schemeClr>
              </a:solidFill>
              <a:latin typeface="Segoe UI" panose="020B0502040204020203" pitchFamily="34" charset="0"/>
              <a:cs typeface="Segoe UI" panose="020B0502040204020203" pitchFamily="34" charset="0"/>
            </a:endParaRPr>
          </a:p>
          <a:p>
            <a:endParaRPr lang="en-GB" sz="2000" b="1" dirty="0">
              <a:solidFill>
                <a:schemeClr val="accent5">
                  <a:lumMod val="50000"/>
                </a:schemeClr>
              </a:solidFill>
            </a:endParaRPr>
          </a:p>
        </p:txBody>
      </p:sp>
      <p:sp>
        <p:nvSpPr>
          <p:cNvPr id="4" name="Slide Number Placeholder 3"/>
          <p:cNvSpPr>
            <a:spLocks noGrp="1"/>
          </p:cNvSpPr>
          <p:nvPr>
            <p:ph type="sldNum" sz="quarter" idx="12"/>
          </p:nvPr>
        </p:nvSpPr>
        <p:spPr/>
        <p:txBody>
          <a:bodyPr/>
          <a:lstStyle/>
          <a:p>
            <a:fld id="{769C13D2-5F24-0543-B21C-342BBADD5259}" type="slidenum">
              <a:rPr lang="en-US" smtClean="0"/>
              <a:t>2</a:t>
            </a:fld>
            <a:endParaRPr lang="en-US" dirty="0"/>
          </a:p>
        </p:txBody>
      </p:sp>
      <p:sp>
        <p:nvSpPr>
          <p:cNvPr id="5" name="Google Shape;114;p4">
            <a:extLst>
              <a:ext uri="{FF2B5EF4-FFF2-40B4-BE49-F238E27FC236}">
                <a16:creationId xmlns:a16="http://schemas.microsoft.com/office/drawing/2014/main" id="{4A396435-EF70-4A7F-9E60-191AD66DBB72}"/>
              </a:ext>
            </a:extLst>
          </p:cNvPr>
          <p:cNvSpPr/>
          <p:nvPr/>
        </p:nvSpPr>
        <p:spPr>
          <a:xfrm rot="14357707">
            <a:off x="9464281" y="2126591"/>
            <a:ext cx="6056859" cy="4390531"/>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 name="Google Shape;434;p8">
            <a:extLst>
              <a:ext uri="{FF2B5EF4-FFF2-40B4-BE49-F238E27FC236}">
                <a16:creationId xmlns:a16="http://schemas.microsoft.com/office/drawing/2014/main" id="{376003BC-18F7-4C74-9F21-6194708F1E89}"/>
              </a:ext>
            </a:extLst>
          </p:cNvPr>
          <p:cNvSpPr/>
          <p:nvPr/>
        </p:nvSpPr>
        <p:spPr>
          <a:xfrm rot="-5614195">
            <a:off x="-3304082" y="367874"/>
            <a:ext cx="5519960" cy="4248133"/>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A8BF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247753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erial view of a port&#10;&#10;Description automatically generated">
            <a:extLst>
              <a:ext uri="{FF2B5EF4-FFF2-40B4-BE49-F238E27FC236}">
                <a16:creationId xmlns:a16="http://schemas.microsoft.com/office/drawing/2014/main" id="{FF798DB7-15C0-C000-5DEF-0B826FA589B0}"/>
              </a:ext>
            </a:extLst>
          </p:cNvPr>
          <p:cNvPicPr>
            <a:picLocks noChangeAspect="1"/>
          </p:cNvPicPr>
          <p:nvPr/>
        </p:nvPicPr>
        <p:blipFill>
          <a:blip r:embed="rId3"/>
          <a:srcRect r="11111"/>
          <a:stretch>
            <a:fillRect/>
          </a:stretch>
        </p:blipFill>
        <p:spPr>
          <a:xfrm>
            <a:off x="20" y="15508"/>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4BC16A-775E-964F-79A9-CFBDECEE8AF3}"/>
              </a:ext>
            </a:extLst>
          </p:cNvPr>
          <p:cNvSpPr txBox="1"/>
          <p:nvPr/>
        </p:nvSpPr>
        <p:spPr>
          <a:xfrm>
            <a:off x="523875" y="5317240"/>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s-ES_tradnl" sz="32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¿Qué representa Chancay para Perú y Sudamérica?</a:t>
            </a:r>
            <a:endParaRPr lang="en-US" sz="3200" b="1" dirty="0">
              <a:solidFill>
                <a:schemeClr val="tx1">
                  <a:lumMod val="85000"/>
                  <a:lumOff val="15000"/>
                </a:schemeClr>
              </a:solidFill>
              <a:latin typeface="Segoe UI" panose="020B0502040204020203" pitchFamily="34" charset="0"/>
              <a:ea typeface="+mj-ea"/>
              <a:cs typeface="Segoe UI" panose="020B0502040204020203" pitchFamily="34" charset="0"/>
            </a:endParaRP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1AC69C9-29D2-F286-CA32-F8986A1619D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457200">
              <a:spcAft>
                <a:spcPts val="600"/>
              </a:spcAft>
            </a:pPr>
            <a:fld id="{6897FFF3-9BE7-6F4B-AB28-3A1D192ED757}" type="slidenum">
              <a:rPr lang="en-US">
                <a:solidFill>
                  <a:srgbClr val="FFFFFF"/>
                </a:solidFill>
              </a:rPr>
              <a:pPr defTabSz="457200">
                <a:spcAft>
                  <a:spcPts val="600"/>
                </a:spcAft>
              </a:pPr>
              <a:t>3</a:t>
            </a:fld>
            <a:endParaRPr lang="en-US">
              <a:solidFill>
                <a:srgbClr val="FFFFFF"/>
              </a:solidFill>
            </a:endParaRPr>
          </a:p>
        </p:txBody>
      </p:sp>
    </p:spTree>
    <p:extLst>
      <p:ext uri="{BB962C8B-B14F-4D97-AF65-F5344CB8AC3E}">
        <p14:creationId xmlns:p14="http://schemas.microsoft.com/office/powerpoint/2010/main" val="3129196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E205C2-1AD0-7204-DD72-990A3EA5BA88}"/>
              </a:ext>
            </a:extLst>
          </p:cNvPr>
          <p:cNvSpPr txBox="1"/>
          <p:nvPr/>
        </p:nvSpPr>
        <p:spPr>
          <a:xfrm>
            <a:off x="170481" y="740961"/>
            <a:ext cx="11840705" cy="5463034"/>
          </a:xfrm>
          <a:prstGeom prst="rect">
            <a:avLst/>
          </a:prstGeom>
          <a:noFill/>
        </p:spPr>
        <p:txBody>
          <a:bodyPr wrap="square" rtlCol="0">
            <a:spAutoFit/>
          </a:bodyPr>
          <a:lstStyle/>
          <a:p>
            <a:pPr algn="ctr"/>
            <a:r>
              <a:rPr lang="es-ES"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América Latina</a:t>
            </a:r>
          </a:p>
          <a:p>
            <a:pPr algn="ctr"/>
            <a:r>
              <a:rPr lang="es-ES" sz="2300" b="1" kern="0" dirty="0">
                <a:solidFill>
                  <a:srgbClr val="1F4E79"/>
                </a:solidFill>
                <a:latin typeface="Segoe UI" panose="020B0502040204020203" pitchFamily="34" charset="0"/>
                <a:ea typeface="Times New Roman" panose="02020603050405020304" pitchFamily="18" charset="0"/>
                <a:cs typeface="Segoe UI" panose="020B0502040204020203" pitchFamily="34" charset="0"/>
              </a:rPr>
              <a:t>A</a:t>
            </a:r>
            <a:r>
              <a:rPr lang="es-ES"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cceso a Internet se </a:t>
            </a:r>
            <a:r>
              <a:rPr lang="es-ES_tradnl"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duplicó en la última década</a:t>
            </a:r>
            <a:r>
              <a:rPr lang="es-ES_tradnl" sz="2300"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(e-comercio y Fintech) </a:t>
            </a:r>
          </a:p>
          <a:p>
            <a:pPr algn="ctr"/>
            <a:r>
              <a:rPr lang="es-ES_tradnl" sz="2300" kern="0" dirty="0">
                <a:solidFill>
                  <a:srgbClr val="1F4E79"/>
                </a:solidFill>
                <a:latin typeface="Segoe UI" panose="020B0502040204020203" pitchFamily="34" charset="0"/>
                <a:ea typeface="Times New Roman" panose="02020603050405020304" pitchFamily="18" charset="0"/>
                <a:cs typeface="Segoe UI" panose="020B0502040204020203" pitchFamily="34" charset="0"/>
              </a:rPr>
              <a:t>P</a:t>
            </a:r>
            <a:r>
              <a:rPr lang="es-ES_tradnl" sz="2300"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ero, </a:t>
            </a:r>
            <a:r>
              <a:rPr lang="es-ES_tradnl" sz="2300" b="1" kern="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sigue rezagada en infraestructura y adopción tecnológica</a:t>
            </a:r>
          </a:p>
          <a:p>
            <a:pPr algn="ctr"/>
            <a:endParaRPr lang="es-ES_tradnl" sz="2400" b="1" kern="0" dirty="0">
              <a:solidFill>
                <a:srgbClr val="C00000"/>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_tradnl" sz="2300" b="1" kern="0" dirty="0">
                <a:solidFill>
                  <a:srgbClr val="1F4E79"/>
                </a:solidFill>
                <a:latin typeface="Segoe UI" panose="020B0502040204020203" pitchFamily="34" charset="0"/>
                <a:ea typeface="Times New Roman" panose="02020603050405020304" pitchFamily="18" charset="0"/>
                <a:cs typeface="Segoe UI" panose="020B0502040204020203" pitchFamily="34" charset="0"/>
              </a:rPr>
              <a:t>O</a:t>
            </a:r>
            <a:r>
              <a:rPr lang="es-ES_tradnl"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portunidad </a:t>
            </a:r>
            <a:r>
              <a:rPr lang="es-ES_tradnl" sz="2300" b="1" kern="0" dirty="0">
                <a:solidFill>
                  <a:srgbClr val="1F4E79"/>
                </a:solidFill>
                <a:effectLst/>
                <a:latin typeface="Segoe UI" panose="020B0502040204020203" pitchFamily="34" charset="0"/>
                <a:ea typeface="Times New Roman" panose="02020603050405020304" pitchFamily="18" charset="0"/>
              </a:rPr>
              <a:t>única </a:t>
            </a:r>
            <a:r>
              <a:rPr lang="es-ES_tradnl"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de construir una ciudad portuaria del siglo XXI</a:t>
            </a:r>
            <a:endParaRPr lang="es-ES_tradnl" sz="2300"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endParaRPr>
          </a:p>
          <a:p>
            <a:pPr algn="ctr"/>
            <a:r>
              <a:rPr lang="es-ES_tradnl" sz="2300"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libre de errores urbanos del pasado </a:t>
            </a:r>
          </a:p>
          <a:p>
            <a:pPr algn="ctr"/>
            <a:r>
              <a:rPr lang="es-ES_tradnl" sz="2300" kern="0" dirty="0">
                <a:solidFill>
                  <a:srgbClr val="1F4E79"/>
                </a:solidFill>
                <a:latin typeface="Segoe UI" panose="020B0502040204020203" pitchFamily="34" charset="0"/>
                <a:ea typeface="Times New Roman" panose="02020603050405020304" pitchFamily="18" charset="0"/>
                <a:cs typeface="Segoe UI" panose="020B0502040204020203" pitchFamily="34" charset="0"/>
              </a:rPr>
              <a:t>E</a:t>
            </a:r>
            <a:r>
              <a:rPr lang="es-ES_tradnl" sz="2300"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nfoque </a:t>
            </a:r>
            <a:r>
              <a:rPr lang="es-ES_tradnl" sz="2300" b="1" kern="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en innovación, automatización y sostenibilidad</a:t>
            </a:r>
            <a:r>
              <a:rPr lang="es-ES_tradnl"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a:t>
            </a:r>
          </a:p>
          <a:p>
            <a:pPr algn="ctr"/>
            <a:endParaRPr lang="es-ES_tradnl" sz="2400" kern="0" dirty="0">
              <a:solidFill>
                <a:srgbClr val="1F4E79"/>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_tradnl" sz="2300" b="1" dirty="0">
                <a:solidFill>
                  <a:srgbClr val="00B050"/>
                </a:solidFill>
                <a:latin typeface="Segoe UI" panose="020B0502040204020203" pitchFamily="34" charset="0"/>
                <a:cs typeface="Segoe UI" panose="020B0502040204020203" pitchFamily="34" charset="0"/>
              </a:rPr>
              <a:t>IA: </a:t>
            </a:r>
            <a:r>
              <a:rPr lang="es-ES_tradnl" sz="2300" b="1" i="0" u="none" strike="noStrike" dirty="0">
                <a:solidFill>
                  <a:srgbClr val="00B050"/>
                </a:solidFill>
                <a:effectLst/>
                <a:latin typeface="Segoe UI" panose="020B0502040204020203" pitchFamily="34" charset="0"/>
                <a:cs typeface="Segoe UI" panose="020B0502040204020203" pitchFamily="34" charset="0"/>
              </a:rPr>
              <a:t>Herramienta fundamental para transformar la gestión portuaria</a:t>
            </a:r>
          </a:p>
          <a:p>
            <a:pPr algn="ctr"/>
            <a:endParaRPr lang="es-ES_tradnl" sz="2400" b="1" kern="0" dirty="0">
              <a:solidFill>
                <a:srgbClr val="00B050"/>
              </a:solidFill>
              <a:latin typeface="Segoe UI" panose="020B0502040204020203" pitchFamily="34" charset="0"/>
              <a:ea typeface="Times New Roman" panose="02020603050405020304" pitchFamily="18" charset="0"/>
              <a:cs typeface="Segoe UI" panose="020B0502040204020203" pitchFamily="34" charset="0"/>
            </a:endParaRPr>
          </a:p>
          <a:p>
            <a:pPr algn="ctr"/>
            <a:r>
              <a:rPr lang="en-GB" sz="2300" b="1" i="0" dirty="0">
                <a:solidFill>
                  <a:schemeClr val="accent5">
                    <a:lumMod val="50000"/>
                  </a:schemeClr>
                </a:solidFill>
                <a:effectLst/>
                <a:latin typeface="Segoe UI" panose="020B0502040204020203" pitchFamily="34" charset="0"/>
                <a:cs typeface="Segoe UI" panose="020B0502040204020203" pitchFamily="34" charset="0"/>
              </a:rPr>
              <a:t>Perú: </a:t>
            </a:r>
            <a:r>
              <a:rPr lang="es-ES_tradnl" sz="2300" b="1" i="0" dirty="0">
                <a:solidFill>
                  <a:srgbClr val="C00000"/>
                </a:solidFill>
                <a:effectLst/>
                <a:latin typeface="Segoe UI" panose="020B0502040204020203" pitchFamily="34" charset="0"/>
                <a:cs typeface="Segoe UI" panose="020B0502040204020203" pitchFamily="34" charset="0"/>
              </a:rPr>
              <a:t>Exportaciones totales crecieron en 14,8% </a:t>
            </a:r>
            <a:r>
              <a:rPr lang="es-ES_tradnl" sz="2300" i="0" dirty="0">
                <a:solidFill>
                  <a:schemeClr val="accent5">
                    <a:lumMod val="50000"/>
                  </a:schemeClr>
                </a:solidFill>
                <a:effectLst/>
                <a:latin typeface="Segoe UI" panose="020B0502040204020203" pitchFamily="34" charset="0"/>
                <a:cs typeface="Segoe UI" panose="020B0502040204020203" pitchFamily="34" charset="0"/>
              </a:rPr>
              <a:t>entre </a:t>
            </a:r>
            <a:r>
              <a:rPr lang="es-ES_tradnl" sz="2300" dirty="0">
                <a:solidFill>
                  <a:schemeClr val="accent5">
                    <a:lumMod val="50000"/>
                  </a:schemeClr>
                </a:solidFill>
                <a:latin typeface="Segoe UI" panose="020B0502040204020203" pitchFamily="34" charset="0"/>
                <a:cs typeface="Segoe UI" panose="020B0502040204020203" pitchFamily="34" charset="0"/>
              </a:rPr>
              <a:t>abril</a:t>
            </a:r>
            <a:r>
              <a:rPr lang="es-ES_tradnl" sz="2300" i="0" dirty="0">
                <a:solidFill>
                  <a:schemeClr val="accent5">
                    <a:lumMod val="50000"/>
                  </a:schemeClr>
                </a:solidFill>
                <a:effectLst/>
                <a:latin typeface="Segoe UI" panose="020B0502040204020203" pitchFamily="34" charset="0"/>
                <a:cs typeface="Segoe UI" panose="020B0502040204020203" pitchFamily="34" charset="0"/>
              </a:rPr>
              <a:t> y setiembre 2025</a:t>
            </a:r>
          </a:p>
          <a:p>
            <a:pPr algn="ctr"/>
            <a:r>
              <a:rPr lang="es-ES_tradnl" sz="2300" b="1" i="0" dirty="0" err="1">
                <a:solidFill>
                  <a:schemeClr val="accent5">
                    <a:lumMod val="50000"/>
                  </a:schemeClr>
                </a:solidFill>
                <a:effectLst/>
                <a:latin typeface="Segoe UI" panose="020B0502040204020203" pitchFamily="34" charset="0"/>
                <a:cs typeface="Segoe UI" panose="020B0502040204020203" pitchFamily="34" charset="0"/>
              </a:rPr>
              <a:t>Shanghai</a:t>
            </a:r>
            <a:r>
              <a:rPr lang="es-ES_tradnl" sz="2300" b="1" dirty="0">
                <a:solidFill>
                  <a:schemeClr val="accent5">
                    <a:lumMod val="50000"/>
                  </a:schemeClr>
                </a:solidFill>
                <a:latin typeface="Segoe UI" panose="020B0502040204020203" pitchFamily="34" charset="0"/>
                <a:cs typeface="Segoe UI" panose="020B0502040204020203" pitchFamily="34" charset="0"/>
              </a:rPr>
              <a:t>: </a:t>
            </a:r>
            <a:r>
              <a:rPr lang="es-ES_tradnl" sz="2300" i="0" dirty="0">
                <a:solidFill>
                  <a:schemeClr val="accent5">
                    <a:lumMod val="50000"/>
                  </a:schemeClr>
                </a:solidFill>
                <a:effectLst/>
                <a:latin typeface="Segoe UI" panose="020B0502040204020203" pitchFamily="34" charset="0"/>
                <a:cs typeface="Segoe UI" panose="020B0502040204020203" pitchFamily="34" charset="0"/>
              </a:rPr>
              <a:t>Comercio exterior </a:t>
            </a:r>
            <a:r>
              <a:rPr lang="es-ES_tradnl" sz="2300" b="1" i="0" dirty="0">
                <a:solidFill>
                  <a:schemeClr val="accent5">
                    <a:lumMod val="50000"/>
                  </a:schemeClr>
                </a:solidFill>
                <a:effectLst/>
                <a:latin typeface="Segoe UI" panose="020B0502040204020203" pitchFamily="34" charset="0"/>
                <a:cs typeface="Segoe UI" panose="020B0502040204020203" pitchFamily="34" charset="0"/>
              </a:rPr>
              <a:t>aument</a:t>
            </a:r>
            <a:r>
              <a:rPr lang="es-ES_tradnl" sz="2300" b="1" kern="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ó</a:t>
            </a:r>
            <a:r>
              <a:rPr lang="es-ES_tradnl" sz="2300" b="1" i="0" dirty="0">
                <a:solidFill>
                  <a:schemeClr val="accent5">
                    <a:lumMod val="50000"/>
                  </a:schemeClr>
                </a:solidFill>
                <a:effectLst/>
                <a:latin typeface="Segoe UI" panose="020B0502040204020203" pitchFamily="34" charset="0"/>
                <a:cs typeface="Segoe UI" panose="020B0502040204020203" pitchFamily="34" charset="0"/>
              </a:rPr>
              <a:t> 5,4%</a:t>
            </a:r>
            <a:r>
              <a:rPr lang="es-ES_tradnl" sz="2300" i="0" dirty="0">
                <a:solidFill>
                  <a:schemeClr val="accent5">
                    <a:lumMod val="50000"/>
                  </a:schemeClr>
                </a:solidFill>
                <a:effectLst/>
                <a:latin typeface="Segoe UI" panose="020B0502040204020203" pitchFamily="34" charset="0"/>
                <a:cs typeface="Segoe UI" panose="020B0502040204020203" pitchFamily="34" charset="0"/>
              </a:rPr>
              <a:t> entre enero y septiembre 2025</a:t>
            </a:r>
          </a:p>
          <a:p>
            <a:pPr algn="ctr"/>
            <a:endParaRPr lang="es-ES_tradnl" sz="2400" kern="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_tradnl" sz="2300" b="1" i="0" u="none" strike="noStrike" dirty="0">
                <a:solidFill>
                  <a:srgbClr val="C00000"/>
                </a:solidFill>
                <a:effectLst/>
                <a:latin typeface="Segoe UI" panose="020B0502040204020203" pitchFamily="34" charset="0"/>
                <a:ea typeface="Roboto" panose="02000000000000000000" pitchFamily="2" charset="0"/>
                <a:cs typeface="Segoe UI" panose="020B0502040204020203" pitchFamily="34" charset="0"/>
              </a:rPr>
              <a:t>Financiamiento</a:t>
            </a:r>
            <a:r>
              <a:rPr lang="es-ES_tradnl" sz="2300" b="1" dirty="0">
                <a:solidFill>
                  <a:srgbClr val="00B050"/>
                </a:solidFill>
                <a:latin typeface="Segoe UI" panose="020B0502040204020203" pitchFamily="34" charset="0"/>
                <a:ea typeface="Roboto" panose="02000000000000000000" pitchFamily="2" charset="0"/>
                <a:cs typeface="Segoe UI" panose="020B0502040204020203" pitchFamily="34" charset="0"/>
              </a:rPr>
              <a:t>:</a:t>
            </a:r>
            <a:r>
              <a:rPr lang="es-ES_tradnl" sz="2300" b="1" i="0" u="none" strike="noStrike" dirty="0">
                <a:solidFill>
                  <a:srgbClr val="00B050"/>
                </a:solidFill>
                <a:effectLst/>
                <a:latin typeface="Segoe UI" panose="020B0502040204020203" pitchFamily="34" charset="0"/>
                <a:ea typeface="Roboto" panose="02000000000000000000" pitchFamily="2" charset="0"/>
                <a:cs typeface="Segoe UI" panose="020B0502040204020203" pitchFamily="34" charset="0"/>
              </a:rPr>
              <a:t> </a:t>
            </a:r>
            <a:r>
              <a:rPr lang="es-ES_tradnl" sz="2300" b="1" i="0" u="none" strike="noStrike" dirty="0">
                <a:solidFill>
                  <a:schemeClr val="accent5">
                    <a:lumMod val="50000"/>
                  </a:schemeClr>
                </a:solidFill>
                <a:effectLst/>
                <a:latin typeface="Segoe UI" panose="020B0502040204020203" pitchFamily="34" charset="0"/>
                <a:ea typeface="Roboto" panose="02000000000000000000" pitchFamily="2" charset="0"/>
                <a:cs typeface="Segoe UI" panose="020B0502040204020203" pitchFamily="34" charset="0"/>
              </a:rPr>
              <a:t>US$ 1,213 </a:t>
            </a:r>
            <a:r>
              <a:rPr lang="es-ES_tradnl" sz="2300" b="1" dirty="0">
                <a:solidFill>
                  <a:schemeClr val="accent5">
                    <a:lumMod val="50000"/>
                  </a:schemeClr>
                </a:solidFill>
                <a:latin typeface="Segoe UI" panose="020B0502040204020203" pitchFamily="34" charset="0"/>
                <a:ea typeface="Roboto" panose="02000000000000000000" pitchFamily="2" charset="0"/>
                <a:cs typeface="Segoe UI" panose="020B0502040204020203" pitchFamily="34" charset="0"/>
              </a:rPr>
              <a:t>M (Fase I) </a:t>
            </a:r>
            <a:r>
              <a:rPr lang="es-ES_tradnl" sz="2300" b="1" i="0" u="none" strike="noStrike" dirty="0">
                <a:solidFill>
                  <a:schemeClr val="accent5">
                    <a:lumMod val="50000"/>
                  </a:schemeClr>
                </a:solidFill>
                <a:effectLst/>
                <a:latin typeface="Segoe UI" panose="020B0502040204020203" pitchFamily="34" charset="0"/>
                <a:ea typeface="Roboto" panose="02000000000000000000" pitchFamily="2" charset="0"/>
                <a:cs typeface="Segoe UI" panose="020B0502040204020203" pitchFamily="34" charset="0"/>
              </a:rPr>
              <a:t>Final</a:t>
            </a:r>
            <a:r>
              <a:rPr lang="es-ES_tradnl" sz="2300" b="1" dirty="0">
                <a:solidFill>
                  <a:schemeClr val="accent5">
                    <a:lumMod val="50000"/>
                  </a:schemeClr>
                </a:solidFill>
                <a:latin typeface="Segoe UI" panose="020B0502040204020203" pitchFamily="34" charset="0"/>
                <a:ea typeface="Roboto" panose="02000000000000000000" pitchFamily="2" charset="0"/>
                <a:cs typeface="Segoe UI" panose="020B0502040204020203" pitchFamily="34" charset="0"/>
              </a:rPr>
              <a:t> </a:t>
            </a:r>
            <a:r>
              <a:rPr lang="es-ES_tradnl" sz="2300" b="1" i="0" u="none" strike="noStrike" dirty="0">
                <a:solidFill>
                  <a:schemeClr val="accent5">
                    <a:lumMod val="50000"/>
                  </a:schemeClr>
                </a:solidFill>
                <a:effectLst/>
                <a:latin typeface="Segoe UI" panose="020B0502040204020203" pitchFamily="34" charset="0"/>
                <a:ea typeface="Roboto" panose="02000000000000000000" pitchFamily="2" charset="0"/>
                <a:cs typeface="Segoe UI" panose="020B0502040204020203" pitchFamily="34" charset="0"/>
              </a:rPr>
              <a:t>US$ 3,600 </a:t>
            </a:r>
            <a:r>
              <a:rPr lang="es-ES_tradnl" sz="2300" b="1" dirty="0">
                <a:solidFill>
                  <a:schemeClr val="accent5">
                    <a:lumMod val="50000"/>
                  </a:schemeClr>
                </a:solidFill>
                <a:latin typeface="Segoe UI" panose="020B0502040204020203" pitchFamily="34" charset="0"/>
                <a:ea typeface="Roboto" panose="02000000000000000000" pitchFamily="2" charset="0"/>
                <a:cs typeface="Segoe UI" panose="020B0502040204020203" pitchFamily="34" charset="0"/>
              </a:rPr>
              <a:t>M  </a:t>
            </a:r>
          </a:p>
          <a:p>
            <a:pPr algn="ctr"/>
            <a:r>
              <a:rPr lang="es-ES" sz="2300" dirty="0" err="1">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Qosqo</a:t>
            </a:r>
            <a:r>
              <a:rPr lang="es-ES" sz="2300" dirty="0">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 </a:t>
            </a:r>
            <a:r>
              <a:rPr lang="es-ES" sz="2300" dirty="0" err="1">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Shipping</a:t>
            </a:r>
            <a:r>
              <a:rPr lang="es-ES" sz="2300" dirty="0">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 (60%) y </a:t>
            </a:r>
            <a:r>
              <a:rPr lang="es-ES" sz="2300" dirty="0" err="1">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Volcan</a:t>
            </a:r>
            <a:r>
              <a:rPr lang="es-ES" sz="2300" dirty="0">
                <a:solidFill>
                  <a:schemeClr val="accent5">
                    <a:lumMod val="50000"/>
                  </a:schemeClr>
                </a:solidFill>
                <a:latin typeface="Segoe UI" panose="020B0502040204020203" pitchFamily="34" charset="0"/>
                <a:ea typeface="Segoe UI Symbol" panose="020B0502040204020203" pitchFamily="34" charset="0"/>
                <a:cs typeface="Segoe UI" panose="020B0502040204020203" pitchFamily="34" charset="0"/>
              </a:rPr>
              <a:t> (40%)</a:t>
            </a:r>
            <a:r>
              <a:rPr lang="en-CH" sz="2300" dirty="0">
                <a:effectLst/>
                <a:latin typeface="Segoe UI" panose="020B0502040204020203" pitchFamily="34" charset="0"/>
                <a:cs typeface="Segoe UI" panose="020B0502040204020203" pitchFamily="34" charset="0"/>
              </a:rPr>
              <a:t> </a:t>
            </a:r>
          </a:p>
        </p:txBody>
      </p:sp>
      <p:sp>
        <p:nvSpPr>
          <p:cNvPr id="2" name="Google Shape;423;p7">
            <a:extLst>
              <a:ext uri="{FF2B5EF4-FFF2-40B4-BE49-F238E27FC236}">
                <a16:creationId xmlns:a16="http://schemas.microsoft.com/office/drawing/2014/main" id="{D8442B6A-4DC2-1B38-ED32-0CFDD98F81B4}"/>
              </a:ext>
            </a:extLst>
          </p:cNvPr>
          <p:cNvSpPr/>
          <p:nvPr/>
        </p:nvSpPr>
        <p:spPr>
          <a:xfrm>
            <a:off x="-15498" y="-17822"/>
            <a:ext cx="12192000" cy="689741"/>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fr-CH" sz="2800" b="1" dirty="0" err="1">
                <a:solidFill>
                  <a:schemeClr val="bg1"/>
                </a:solidFill>
                <a:latin typeface="Montserrat" pitchFamily="2" charset="77"/>
              </a:rPr>
              <a:t>Chancay</a:t>
            </a:r>
            <a:r>
              <a:rPr lang="fr-CH" sz="2800" b="1" dirty="0">
                <a:solidFill>
                  <a:schemeClr val="bg1"/>
                </a:solidFill>
                <a:latin typeface="Montserrat" pitchFamily="2" charset="77"/>
              </a:rPr>
              <a:t> Ciudad-Puerto </a:t>
            </a:r>
            <a:r>
              <a:rPr lang="fr-CH" sz="2800" b="1" dirty="0" err="1">
                <a:solidFill>
                  <a:schemeClr val="bg1"/>
                </a:solidFill>
                <a:latin typeface="Montserrat" pitchFamily="2" charset="77"/>
              </a:rPr>
              <a:t>Inteligente</a:t>
            </a:r>
            <a:endParaRPr lang="fr-CH" sz="2800" b="1" dirty="0">
              <a:solidFill>
                <a:schemeClr val="bg1"/>
              </a:solidFill>
              <a:latin typeface="Montserrat" pitchFamily="2" charset="77"/>
            </a:endParaRPr>
          </a:p>
          <a:p>
            <a:pPr algn="ctr"/>
            <a:endParaRPr lang="es-ES_tradnl" sz="2800" b="1" i="0" u="none" strike="noStrike" dirty="0">
              <a:solidFill>
                <a:schemeClr val="bg1"/>
              </a:solidFill>
              <a:effectLst/>
              <a:latin typeface="Open Sans" panose="020B0606030504020204" pitchFamily="34" charset="0"/>
            </a:endParaRPr>
          </a:p>
        </p:txBody>
      </p:sp>
      <p:sp>
        <p:nvSpPr>
          <p:cNvPr id="3" name="Slide Number Placeholder 2">
            <a:extLst>
              <a:ext uri="{FF2B5EF4-FFF2-40B4-BE49-F238E27FC236}">
                <a16:creationId xmlns:a16="http://schemas.microsoft.com/office/drawing/2014/main" id="{3B02AE94-0C8B-5FBA-A9AE-673395B412FE}"/>
              </a:ext>
            </a:extLst>
          </p:cNvPr>
          <p:cNvSpPr>
            <a:spLocks noGrp="1"/>
          </p:cNvSpPr>
          <p:nvPr>
            <p:ph type="sldNum" sz="quarter" idx="12"/>
          </p:nvPr>
        </p:nvSpPr>
        <p:spPr/>
        <p:txBody>
          <a:bodyPr/>
          <a:lstStyle/>
          <a:p>
            <a:fld id="{6897FFF3-9BE7-6F4B-AB28-3A1D192ED757}" type="slidenum">
              <a:rPr lang="en-CH" smtClean="0"/>
              <a:t>4</a:t>
            </a:fld>
            <a:endParaRPr lang="en-CH" dirty="0"/>
          </a:p>
        </p:txBody>
      </p:sp>
    </p:spTree>
    <p:extLst>
      <p:ext uri="{BB962C8B-B14F-4D97-AF65-F5344CB8AC3E}">
        <p14:creationId xmlns:p14="http://schemas.microsoft.com/office/powerpoint/2010/main" val="1574715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E205C2-1AD0-7204-DD72-990A3EA5BA88}"/>
              </a:ext>
            </a:extLst>
          </p:cNvPr>
          <p:cNvSpPr txBox="1"/>
          <p:nvPr/>
        </p:nvSpPr>
        <p:spPr>
          <a:xfrm>
            <a:off x="173415" y="1020702"/>
            <a:ext cx="11874993" cy="5293757"/>
          </a:xfrm>
          <a:prstGeom prst="rect">
            <a:avLst/>
          </a:prstGeom>
          <a:noFill/>
        </p:spPr>
        <p:txBody>
          <a:bodyPr wrap="square" rtlCol="0">
            <a:spAutoFit/>
          </a:bodyPr>
          <a:lstStyle/>
          <a:p>
            <a:pPr algn="ctr"/>
            <a:r>
              <a:rPr lang="es-ES_tradnl" sz="2400" b="1" i="1" dirty="0">
                <a:solidFill>
                  <a:srgbClr val="C00000"/>
                </a:solidFill>
                <a:effectLst/>
                <a:latin typeface="Segoe UI" panose="020B0502040204020203" pitchFamily="34" charset="0"/>
                <a:cs typeface="Segoe UI" panose="020B0502040204020203" pitchFamily="34" charset="0"/>
              </a:rPr>
              <a:t>Más que un puerto</a:t>
            </a:r>
          </a:p>
          <a:p>
            <a:pPr algn="ct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Primer </a:t>
            </a:r>
            <a:r>
              <a:rPr lang="es-ES_tradnl" sz="2000" b="1" dirty="0">
                <a:solidFill>
                  <a:schemeClr val="accent5">
                    <a:lumMod val="50000"/>
                  </a:schemeClr>
                </a:solidFill>
                <a:latin typeface="Segoe UI" panose="020B0502040204020203" pitchFamily="34" charset="0"/>
                <a:cs typeface="Segoe UI" panose="020B0502040204020203" pitchFamily="34" charset="0"/>
              </a:rPr>
              <a:t>H</a:t>
            </a: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ub </a:t>
            </a:r>
            <a:r>
              <a:rPr lang="es-ES_tradnl" sz="2000" b="1" dirty="0">
                <a:solidFill>
                  <a:schemeClr val="accent5">
                    <a:lumMod val="50000"/>
                  </a:schemeClr>
                </a:solidFill>
                <a:latin typeface="Segoe UI" panose="020B0502040204020203" pitchFamily="34" charset="0"/>
                <a:cs typeface="Segoe UI" panose="020B0502040204020203" pitchFamily="34" charset="0"/>
              </a:rPr>
              <a:t>D</a:t>
            </a: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igital del Pacífico Sur</a:t>
            </a:r>
            <a:r>
              <a:rPr lang="es-ES_tradnl" sz="2000" b="1" dirty="0">
                <a:solidFill>
                  <a:schemeClr val="accent5">
                    <a:lumMod val="50000"/>
                  </a:schemeClr>
                </a:solidFill>
                <a:latin typeface="Segoe UI" panose="020B0502040204020203" pitchFamily="34" charset="0"/>
                <a:cs typeface="Segoe UI" panose="020B0502040204020203" pitchFamily="34" charset="0"/>
              </a:rPr>
              <a:t>. </a:t>
            </a:r>
          </a:p>
          <a:p>
            <a:pPr algn="ctr"/>
            <a:r>
              <a:rPr lang="es-ES_tradnl" sz="2000" dirty="0">
                <a:solidFill>
                  <a:schemeClr val="accent5">
                    <a:lumMod val="50000"/>
                  </a:schemeClr>
                </a:solidFill>
                <a:latin typeface="Segoe UI" panose="020B0502040204020203" pitchFamily="34" charset="0"/>
                <a:cs typeface="Segoe UI" panose="020B0502040204020203" pitchFamily="34" charset="0"/>
              </a:rPr>
              <a:t>Recibe </a:t>
            </a:r>
            <a:r>
              <a:rPr lang="es-ES_tradnl" sz="2000" dirty="0" err="1">
                <a:solidFill>
                  <a:schemeClr val="accent5">
                    <a:lumMod val="50000"/>
                  </a:schemeClr>
                </a:solidFill>
                <a:latin typeface="Segoe UI" panose="020B0502040204020203" pitchFamily="34" charset="0"/>
                <a:cs typeface="Segoe UI" panose="020B0502040204020203" pitchFamily="34" charset="0"/>
              </a:rPr>
              <a:t>ULCVs</a:t>
            </a:r>
            <a:r>
              <a:rPr lang="es-ES_tradnl" sz="2000" dirty="0">
                <a:solidFill>
                  <a:schemeClr val="accent5">
                    <a:lumMod val="50000"/>
                  </a:schemeClr>
                </a:solidFill>
                <a:latin typeface="Segoe UI" panose="020B0502040204020203" pitchFamily="34" charset="0"/>
                <a:cs typeface="Segoe UI" panose="020B0502040204020203" pitchFamily="34" charset="0"/>
              </a:rPr>
              <a:t> capaces de transportar más de 20.000 </a:t>
            </a:r>
            <a:r>
              <a:rPr lang="es-ES_tradnl" sz="2000" dirty="0" err="1">
                <a:solidFill>
                  <a:schemeClr val="accent5">
                    <a:lumMod val="50000"/>
                  </a:schemeClr>
                </a:solidFill>
                <a:latin typeface="Segoe UI" panose="020B0502040204020203" pitchFamily="34" charset="0"/>
                <a:cs typeface="Segoe UI" panose="020B0502040204020203" pitchFamily="34" charset="0"/>
              </a:rPr>
              <a:t>TEUs</a:t>
            </a:r>
            <a:endParaRPr lang="es-ES_tradnl" sz="2000" dirty="0">
              <a:solidFill>
                <a:schemeClr val="accent5">
                  <a:lumMod val="50000"/>
                </a:schemeClr>
              </a:solidFill>
              <a:latin typeface="Segoe UI" panose="020B0502040204020203" pitchFamily="34" charset="0"/>
              <a:cs typeface="Segoe UI" panose="020B0502040204020203" pitchFamily="34" charset="0"/>
            </a:endParaRPr>
          </a:p>
          <a:p>
            <a:pPr algn="ctr"/>
            <a:endParaRPr lang="es-ES_tradnl" sz="2200" dirty="0">
              <a:solidFill>
                <a:schemeClr val="accent5">
                  <a:lumMod val="50000"/>
                </a:schemeClr>
              </a:solidFill>
              <a:latin typeface="Segoe UI" panose="020B0502040204020203" pitchFamily="34" charset="0"/>
              <a:cs typeface="Segoe UI" panose="020B0502040204020203" pitchFamily="34" charset="0"/>
            </a:endParaRPr>
          </a:p>
          <a:p>
            <a:pPr algn="ctr"/>
            <a:r>
              <a:rPr lang="es-ES_tradnl" sz="2400" b="1" i="1" dirty="0">
                <a:solidFill>
                  <a:srgbClr val="C00000"/>
                </a:solidFill>
                <a:effectLst/>
                <a:latin typeface="Segoe UI" panose="020B0502040204020203" pitchFamily="34" charset="0"/>
                <a:cs typeface="Segoe UI" panose="020B0502040204020203" pitchFamily="34" charset="0"/>
              </a:rPr>
              <a:t>Puerto-Ciudad </a:t>
            </a:r>
            <a:r>
              <a:rPr lang="es-ES_tradnl" sz="2400" b="1" i="1" dirty="0">
                <a:solidFill>
                  <a:srgbClr val="C00000"/>
                </a:solidFill>
                <a:latin typeface="Segoe UI" panose="020B0502040204020203" pitchFamily="34" charset="0"/>
                <a:cs typeface="Segoe UI" panose="020B0502040204020203" pitchFamily="34" charset="0"/>
              </a:rPr>
              <a:t>I</a:t>
            </a:r>
            <a:r>
              <a:rPr lang="es-ES_tradnl" sz="2400" b="1" i="1" dirty="0">
                <a:solidFill>
                  <a:srgbClr val="C00000"/>
                </a:solidFill>
                <a:effectLst/>
                <a:latin typeface="Segoe UI" panose="020B0502040204020203" pitchFamily="34" charset="0"/>
                <a:cs typeface="Segoe UI" panose="020B0502040204020203" pitchFamily="34" charset="0"/>
              </a:rPr>
              <a:t>nteligente</a:t>
            </a:r>
          </a:p>
          <a:p>
            <a:pPr algn="ctr"/>
            <a:r>
              <a:rPr lang="es-ES_tradnl" sz="2000" b="1" dirty="0">
                <a:solidFill>
                  <a:srgbClr val="00B050"/>
                </a:solidFill>
                <a:effectLst/>
                <a:latin typeface="Segoe UI" panose="020B0502040204020203" pitchFamily="34" charset="0"/>
                <a:cs typeface="Segoe UI" panose="020B0502040204020203" pitchFamily="34" charset="0"/>
              </a:rPr>
              <a:t>Construido desde cero</a:t>
            </a:r>
            <a:r>
              <a:rPr lang="es-ES_tradnl" sz="2000" b="1" i="1" dirty="0">
                <a:solidFill>
                  <a:srgbClr val="00B050"/>
                </a:solidFill>
                <a:effectLst/>
                <a:latin typeface="Segoe UI" panose="020B0502040204020203" pitchFamily="34" charset="0"/>
                <a:cs typeface="Segoe UI" panose="020B0502040204020203" pitchFamily="34" charset="0"/>
              </a:rPr>
              <a:t>. </a:t>
            </a:r>
            <a:r>
              <a:rPr lang="es-ES_tradnl" sz="2000" dirty="0">
                <a:solidFill>
                  <a:schemeClr val="accent5">
                    <a:lumMod val="50000"/>
                  </a:schemeClr>
                </a:solidFill>
                <a:latin typeface="Segoe UI" panose="020B0502040204020203" pitchFamily="34" charset="0"/>
                <a:cs typeface="Segoe UI" panose="020B0502040204020203" pitchFamily="34" charset="0"/>
              </a:rPr>
              <a:t>M</a:t>
            </a:r>
            <a:r>
              <a:rPr lang="es-ES_tradnl" sz="2000" b="0" i="0" u="none" strike="noStrike" dirty="0">
                <a:solidFill>
                  <a:schemeClr val="accent5">
                    <a:lumMod val="50000"/>
                  </a:schemeClr>
                </a:solidFill>
                <a:effectLst/>
                <a:latin typeface="Segoe UI" panose="020B0502040204020203" pitchFamily="34" charset="0"/>
                <a:cs typeface="Segoe UI" panose="020B0502040204020203" pitchFamily="34" charset="0"/>
              </a:rPr>
              <a:t>ás conectado, automatizado</a:t>
            </a:r>
            <a:r>
              <a:rPr lang="es-ES_tradnl" sz="2000" b="0" u="none" strike="noStrike" dirty="0">
                <a:solidFill>
                  <a:schemeClr val="accent5">
                    <a:lumMod val="50000"/>
                  </a:schemeClr>
                </a:solidFill>
                <a:latin typeface="Segoe UI" panose="020B0502040204020203" pitchFamily="34" charset="0"/>
                <a:cs typeface="Segoe UI" panose="020B0502040204020203" pitchFamily="34" charset="0"/>
              </a:rPr>
              <a:t> </a:t>
            </a:r>
            <a:r>
              <a:rPr lang="es-ES_tradnl" sz="2000" i="0" dirty="0">
                <a:solidFill>
                  <a:schemeClr val="accent5">
                    <a:lumMod val="50000"/>
                  </a:schemeClr>
                </a:solidFill>
                <a:effectLst/>
                <a:latin typeface="Segoe UI" panose="020B0502040204020203" pitchFamily="34" charset="0"/>
                <a:cs typeface="Segoe UI" panose="020B0502040204020203" pitchFamily="34" charset="0"/>
              </a:rPr>
              <a:t>y sostenible.</a:t>
            </a:r>
          </a:p>
          <a:p>
            <a:pPr algn="ct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Inteligencia Artificial (IA), Big Data,</a:t>
            </a:r>
            <a:r>
              <a:rPr lang="es-ES_tradnl" sz="2000" i="0" dirty="0">
                <a:solidFill>
                  <a:schemeClr val="accent5">
                    <a:lumMod val="50000"/>
                  </a:schemeClr>
                </a:solidFill>
                <a:effectLst/>
                <a:latin typeface="Segoe UI" panose="020B0502040204020203" pitchFamily="34" charset="0"/>
                <a:cs typeface="Segoe UI" panose="020B0502040204020203" pitchFamily="34" charset="0"/>
              </a:rPr>
              <a:t> </a:t>
            </a: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Internet de las Cosas (</a:t>
            </a:r>
            <a:r>
              <a:rPr lang="es-ES_tradnl" sz="2000" b="1" i="0" dirty="0" err="1">
                <a:solidFill>
                  <a:schemeClr val="accent5">
                    <a:lumMod val="50000"/>
                  </a:schemeClr>
                </a:solidFill>
                <a:effectLst/>
                <a:latin typeface="Segoe UI" panose="020B0502040204020203" pitchFamily="34" charset="0"/>
                <a:cs typeface="Segoe UI" panose="020B0502040204020203" pitchFamily="34" charset="0"/>
              </a:rPr>
              <a:t>IoT</a:t>
            </a:r>
            <a:r>
              <a:rPr lang="es-ES_tradnl" sz="2000" b="1" i="0" dirty="0">
                <a:solidFill>
                  <a:schemeClr val="accent5">
                    <a:lumMod val="50000"/>
                  </a:schemeClr>
                </a:solidFill>
                <a:effectLst/>
                <a:latin typeface="Segoe UI" panose="020B0502040204020203" pitchFamily="34" charset="0"/>
                <a:cs typeface="Segoe UI" panose="020B0502040204020203" pitchFamily="34" charset="0"/>
              </a:rPr>
              <a:t>)</a:t>
            </a:r>
            <a:r>
              <a:rPr lang="es-ES_tradnl" sz="2000" b="1" dirty="0">
                <a:solidFill>
                  <a:schemeClr val="accent5">
                    <a:lumMod val="50000"/>
                  </a:schemeClr>
                </a:solidFill>
                <a:latin typeface="Segoe UI" panose="020B0502040204020203" pitchFamily="34" charset="0"/>
                <a:cs typeface="Segoe UI" panose="020B0502040204020203" pitchFamily="34" charset="0"/>
              </a:rPr>
              <a:t> y Automatizaci</a:t>
            </a:r>
            <a:r>
              <a:rPr lang="es-ES_tradnl" sz="2000" b="1" i="1" dirty="0">
                <a:solidFill>
                  <a:schemeClr val="accent5">
                    <a:lumMod val="50000"/>
                  </a:schemeClr>
                </a:solidFill>
                <a:effectLst/>
                <a:latin typeface="Segoe UI" panose="020B0502040204020203" pitchFamily="34" charset="0"/>
                <a:cs typeface="Segoe UI" panose="020B0502040204020203" pitchFamily="34" charset="0"/>
              </a:rPr>
              <a:t>ó</a:t>
            </a:r>
            <a:r>
              <a:rPr lang="es-ES_tradnl" sz="2000" b="1" dirty="0">
                <a:solidFill>
                  <a:schemeClr val="accent5">
                    <a:lumMod val="50000"/>
                  </a:schemeClr>
                </a:solidFill>
                <a:latin typeface="Segoe UI" panose="020B0502040204020203" pitchFamily="34" charset="0"/>
                <a:cs typeface="Segoe UI" panose="020B0502040204020203" pitchFamily="34" charset="0"/>
              </a:rPr>
              <a:t>n</a:t>
            </a:r>
            <a:r>
              <a:rPr lang="es-ES_tradnl" sz="2000" i="0" dirty="0">
                <a:solidFill>
                  <a:schemeClr val="accent5">
                    <a:lumMod val="50000"/>
                  </a:schemeClr>
                </a:solidFill>
                <a:effectLst/>
                <a:latin typeface="Segoe UI" panose="020B0502040204020203" pitchFamily="34" charset="0"/>
                <a:cs typeface="Segoe UI" panose="020B0502040204020203" pitchFamily="34" charset="0"/>
              </a:rPr>
              <a:t> </a:t>
            </a:r>
            <a:endParaRPr lang="es-ES_tradnl" sz="2000" b="1" i="1" dirty="0">
              <a:solidFill>
                <a:srgbClr val="00B050"/>
              </a:solidFill>
              <a:effectLst/>
              <a:latin typeface="Segoe UI" panose="020B0502040204020203" pitchFamily="34" charset="0"/>
              <a:cs typeface="Segoe UI" panose="020B0502040204020203" pitchFamily="34" charset="0"/>
            </a:endParaRPr>
          </a:p>
          <a:p>
            <a:pPr algn="ctr"/>
            <a:endParaRPr lang="es-ES_tradnl" sz="1600" i="0" dirty="0">
              <a:solidFill>
                <a:schemeClr val="accent5">
                  <a:lumMod val="50000"/>
                </a:schemeClr>
              </a:solidFill>
              <a:effectLst/>
              <a:latin typeface="Segoe UI" panose="020B0502040204020203" pitchFamily="34" charset="0"/>
              <a:cs typeface="Segoe UI" panose="020B0502040204020203" pitchFamily="34" charset="0"/>
            </a:endParaRPr>
          </a:p>
          <a:p>
            <a:pPr algn="ctr"/>
            <a:r>
              <a:rPr lang="es-ES_tradnl" sz="2200" i="0" dirty="0">
                <a:solidFill>
                  <a:schemeClr val="accent5">
                    <a:lumMod val="50000"/>
                  </a:schemeClr>
                </a:solidFill>
                <a:effectLst/>
                <a:latin typeface="Segoe UI" panose="020B0502040204020203" pitchFamily="34" charset="0"/>
                <a:cs typeface="Segoe UI" panose="020B0502040204020203" pitchFamily="34" charset="0"/>
              </a:rPr>
              <a:t>Diseñada para integrarse en las </a:t>
            </a:r>
            <a:r>
              <a:rPr lang="es-ES_tradnl" sz="2200" b="1" i="1" dirty="0">
                <a:solidFill>
                  <a:schemeClr val="accent5">
                    <a:lumMod val="50000"/>
                  </a:schemeClr>
                </a:solidFill>
                <a:effectLst/>
                <a:latin typeface="Segoe UI" panose="020B0502040204020203" pitchFamily="34" charset="0"/>
                <a:cs typeface="Segoe UI" panose="020B0502040204020203" pitchFamily="34" charset="0"/>
              </a:rPr>
              <a:t>cadenas logísticas globales</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a:t>
            </a:r>
          </a:p>
          <a:p>
            <a:pPr algn="ctr"/>
            <a:endParaRPr lang="es-ES_tradnl" sz="1600" b="1" i="1" dirty="0">
              <a:solidFill>
                <a:srgbClr val="00B050"/>
              </a:solidFill>
              <a:effectLst/>
              <a:latin typeface="Segoe UI" panose="020B0502040204020203" pitchFamily="34" charset="0"/>
              <a:cs typeface="Segoe UI" panose="020B0502040204020203" pitchFamily="34" charset="0"/>
            </a:endParaRPr>
          </a:p>
          <a:p>
            <a:pPr algn="ctr"/>
            <a:r>
              <a:rPr lang="es-ES_tradnl" sz="2400" b="1" i="1" dirty="0">
                <a:solidFill>
                  <a:srgbClr val="00B050"/>
                </a:solidFill>
                <a:effectLst/>
                <a:latin typeface="Segoe UI" panose="020B0502040204020203" pitchFamily="34" charset="0"/>
                <a:cs typeface="Segoe UI" panose="020B0502040204020203" pitchFamily="34" charset="0"/>
              </a:rPr>
              <a:t>Promueve que la región sea</a:t>
            </a:r>
          </a:p>
          <a:p>
            <a:pPr algn="ctr"/>
            <a:r>
              <a:rPr lang="es-ES_tradnl" sz="2200" b="1" i="0" dirty="0">
                <a:solidFill>
                  <a:srgbClr val="C00000"/>
                </a:solidFill>
                <a:effectLst/>
                <a:latin typeface="Segoe UI" panose="020B0502040204020203" pitchFamily="34" charset="0"/>
                <a:cs typeface="Segoe UI" panose="020B0502040204020203" pitchFamily="34" charset="0"/>
              </a:rPr>
              <a:t>Creador de futuro </a:t>
            </a:r>
            <a:r>
              <a:rPr lang="es-ES_tradnl" sz="2200" b="1" i="1" dirty="0">
                <a:solidFill>
                  <a:srgbClr val="00B050"/>
                </a:solidFill>
                <a:latin typeface="Segoe UI" panose="020B0502040204020203" pitchFamily="34" charset="0"/>
                <a:cs typeface="Segoe UI" panose="020B0502040204020203" pitchFamily="34" charset="0"/>
              </a:rPr>
              <a:t>y no solo </a:t>
            </a:r>
            <a:r>
              <a:rPr lang="es-ES_tradnl" sz="2200" b="1" i="1" dirty="0">
                <a:solidFill>
                  <a:srgbClr val="00B050"/>
                </a:solidFill>
                <a:effectLst/>
                <a:latin typeface="Segoe UI" panose="020B0502040204020203" pitchFamily="34" charset="0"/>
                <a:cs typeface="Segoe UI" panose="020B0502040204020203" pitchFamily="34" charset="0"/>
              </a:rPr>
              <a:t>un consumidor de tecnología </a:t>
            </a:r>
            <a:endParaRPr lang="es-ES_tradnl" sz="2200" b="1" dirty="0">
              <a:solidFill>
                <a:schemeClr val="accent5">
                  <a:lumMod val="50000"/>
                </a:schemeClr>
              </a:solidFill>
              <a:latin typeface="Segoe UI" panose="020B0502040204020203" pitchFamily="34" charset="0"/>
              <a:cs typeface="Segoe UI" panose="020B0502040204020203" pitchFamily="34" charset="0"/>
            </a:endParaRPr>
          </a:p>
          <a:p>
            <a:pPr algn="ctr"/>
            <a:endParaRPr lang="es-ES_tradnl" sz="1600" i="0" dirty="0">
              <a:solidFill>
                <a:schemeClr val="accent5">
                  <a:lumMod val="50000"/>
                </a:schemeClr>
              </a:solidFill>
              <a:effectLst/>
              <a:latin typeface="Segoe UI" panose="020B0502040204020203" pitchFamily="34" charset="0"/>
              <a:cs typeface="Segoe UI" panose="020B0502040204020203" pitchFamily="34" charset="0"/>
            </a:endParaRPr>
          </a:p>
          <a:p>
            <a:pPr algn="ctr"/>
            <a:r>
              <a:rPr lang="es-ES_tradnl" sz="2400" b="1" dirty="0">
                <a:solidFill>
                  <a:schemeClr val="accent5">
                    <a:lumMod val="50000"/>
                  </a:schemeClr>
                </a:solidFill>
                <a:latin typeface="Segoe UI" panose="020B0502040204020203" pitchFamily="34" charset="0"/>
                <a:cs typeface="Segoe UI" panose="020B0502040204020203" pitchFamily="34" charset="0"/>
              </a:rPr>
              <a:t>V</a:t>
            </a:r>
            <a:r>
              <a:rPr lang="es-ES_tradnl" sz="2400" b="1" i="0" dirty="0">
                <a:solidFill>
                  <a:schemeClr val="accent5">
                    <a:lumMod val="50000"/>
                  </a:schemeClr>
                </a:solidFill>
                <a:effectLst/>
                <a:latin typeface="Segoe UI" panose="020B0502040204020203" pitchFamily="34" charset="0"/>
                <a:cs typeface="Segoe UI" panose="020B0502040204020203" pitchFamily="34" charset="0"/>
              </a:rPr>
              <a:t>isión estratégica</a:t>
            </a:r>
          </a:p>
          <a:p>
            <a:pPr algn="ctr"/>
            <a:r>
              <a:rPr lang="es-ES_tradnl" sz="2200" dirty="0">
                <a:solidFill>
                  <a:schemeClr val="accent5">
                    <a:lumMod val="50000"/>
                  </a:schemeClr>
                </a:solidFill>
                <a:latin typeface="Segoe UI" panose="020B0502040204020203" pitchFamily="34" charset="0"/>
                <a:cs typeface="Segoe UI" panose="020B0502040204020203" pitchFamily="34" charset="0"/>
              </a:rPr>
              <a:t>N</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uevo paradigma de la </a:t>
            </a:r>
            <a:r>
              <a:rPr lang="es-ES_tradnl" sz="2200" b="1" i="0" dirty="0">
                <a:solidFill>
                  <a:schemeClr val="accent5">
                    <a:lumMod val="50000"/>
                  </a:schemeClr>
                </a:solidFill>
                <a:effectLst/>
                <a:latin typeface="Segoe UI" panose="020B0502040204020203" pitchFamily="34" charset="0"/>
                <a:cs typeface="Segoe UI" panose="020B0502040204020203" pitchFamily="34" charset="0"/>
              </a:rPr>
              <a:t>infraestructura tecnológica</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 y </a:t>
            </a:r>
            <a:r>
              <a:rPr lang="es-ES_tradnl" sz="2200" b="1" i="1" dirty="0">
                <a:solidFill>
                  <a:srgbClr val="C00000"/>
                </a:solidFill>
                <a:effectLst/>
                <a:latin typeface="Segoe UI" panose="020B0502040204020203" pitchFamily="34" charset="0"/>
                <a:cs typeface="Segoe UI" panose="020B0502040204020203" pitchFamily="34" charset="0"/>
              </a:rPr>
              <a:t>desafío logístico</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 </a:t>
            </a:r>
          </a:p>
          <a:p>
            <a:pPr algn="ctr"/>
            <a:r>
              <a:rPr lang="es-ES_tradnl" sz="2200" b="1" i="0" dirty="0">
                <a:solidFill>
                  <a:schemeClr val="accent5">
                    <a:lumMod val="50000"/>
                  </a:schemeClr>
                </a:solidFill>
                <a:effectLst/>
                <a:latin typeface="Segoe UI" panose="020B0502040204020203" pitchFamily="34" charset="0"/>
                <a:cs typeface="Segoe UI" panose="020B0502040204020203" pitchFamily="34" charset="0"/>
              </a:rPr>
              <a:t>Inversión en talento,</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 alianzas sólidas, políticas públicas alineadas con la IA</a:t>
            </a:r>
          </a:p>
        </p:txBody>
      </p:sp>
      <p:sp>
        <p:nvSpPr>
          <p:cNvPr id="2" name="Google Shape;423;p7">
            <a:extLst>
              <a:ext uri="{FF2B5EF4-FFF2-40B4-BE49-F238E27FC236}">
                <a16:creationId xmlns:a16="http://schemas.microsoft.com/office/drawing/2014/main" id="{D8442B6A-4DC2-1B38-ED32-0CFDD98F81B4}"/>
              </a:ext>
            </a:extLst>
          </p:cNvPr>
          <p:cNvSpPr/>
          <p:nvPr/>
        </p:nvSpPr>
        <p:spPr>
          <a:xfrm>
            <a:off x="-15498" y="32977"/>
            <a:ext cx="12192000" cy="689741"/>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fr-CH" sz="2800" b="1" dirty="0">
                <a:solidFill>
                  <a:schemeClr val="bg1"/>
                </a:solidFill>
                <a:latin typeface="Montserrat" pitchFamily="2" charset="77"/>
              </a:rPr>
              <a:t>Que </a:t>
            </a:r>
            <a:r>
              <a:rPr lang="fr-CH" sz="2800" b="1" dirty="0" err="1">
                <a:solidFill>
                  <a:schemeClr val="bg1"/>
                </a:solidFill>
                <a:latin typeface="Montserrat" pitchFamily="2" charset="77"/>
              </a:rPr>
              <a:t>Representa</a:t>
            </a:r>
            <a:r>
              <a:rPr lang="fr-CH" sz="2800" b="1" dirty="0">
                <a:solidFill>
                  <a:schemeClr val="bg1"/>
                </a:solidFill>
                <a:latin typeface="Montserrat" pitchFamily="2" charset="77"/>
              </a:rPr>
              <a:t> </a:t>
            </a:r>
            <a:r>
              <a:rPr lang="fr-CH" sz="2800" b="1" dirty="0" err="1">
                <a:solidFill>
                  <a:schemeClr val="bg1"/>
                </a:solidFill>
                <a:latin typeface="Montserrat" pitchFamily="2" charset="77"/>
              </a:rPr>
              <a:t>Chancay</a:t>
            </a:r>
            <a:r>
              <a:rPr lang="fr-CH" sz="2800" b="1" dirty="0">
                <a:solidFill>
                  <a:schemeClr val="bg1"/>
                </a:solidFill>
                <a:latin typeface="Montserrat" pitchFamily="2" charset="77"/>
              </a:rPr>
              <a:t>?</a:t>
            </a:r>
          </a:p>
          <a:p>
            <a:pPr algn="ctr"/>
            <a:endParaRPr lang="es-ES_tradnl" sz="2800" b="1" i="0" u="none" strike="noStrike" dirty="0">
              <a:solidFill>
                <a:schemeClr val="bg1"/>
              </a:solidFill>
              <a:effectLst/>
              <a:latin typeface="Open Sans" panose="020B0606030504020204" pitchFamily="34" charset="0"/>
            </a:endParaRPr>
          </a:p>
        </p:txBody>
      </p:sp>
      <p:sp>
        <p:nvSpPr>
          <p:cNvPr id="3" name="Slide Number Placeholder 2">
            <a:extLst>
              <a:ext uri="{FF2B5EF4-FFF2-40B4-BE49-F238E27FC236}">
                <a16:creationId xmlns:a16="http://schemas.microsoft.com/office/drawing/2014/main" id="{3B02AE94-0C8B-5FBA-A9AE-673395B412FE}"/>
              </a:ext>
            </a:extLst>
          </p:cNvPr>
          <p:cNvSpPr>
            <a:spLocks noGrp="1"/>
          </p:cNvSpPr>
          <p:nvPr>
            <p:ph type="sldNum" sz="quarter" idx="12"/>
          </p:nvPr>
        </p:nvSpPr>
        <p:spPr/>
        <p:txBody>
          <a:bodyPr/>
          <a:lstStyle/>
          <a:p>
            <a:fld id="{6897FFF3-9BE7-6F4B-AB28-3A1D192ED757}" type="slidenum">
              <a:rPr lang="en-CH" smtClean="0"/>
              <a:t>5</a:t>
            </a:fld>
            <a:endParaRPr lang="en-CH" dirty="0"/>
          </a:p>
        </p:txBody>
      </p:sp>
      <p:sp>
        <p:nvSpPr>
          <p:cNvPr id="5" name="TextBox 4">
            <a:extLst>
              <a:ext uri="{FF2B5EF4-FFF2-40B4-BE49-F238E27FC236}">
                <a16:creationId xmlns:a16="http://schemas.microsoft.com/office/drawing/2014/main" id="{4118AC45-9B05-861D-4E17-A70D9D78A50D}"/>
              </a:ext>
            </a:extLst>
          </p:cNvPr>
          <p:cNvSpPr txBox="1"/>
          <p:nvPr/>
        </p:nvSpPr>
        <p:spPr>
          <a:xfrm>
            <a:off x="5562600" y="6827520"/>
            <a:ext cx="184731" cy="369332"/>
          </a:xfrm>
          <a:prstGeom prst="rect">
            <a:avLst/>
          </a:prstGeom>
          <a:noFill/>
        </p:spPr>
        <p:txBody>
          <a:bodyPr wrap="none" rtlCol="0">
            <a:spAutoFit/>
          </a:bodyPr>
          <a:lstStyle/>
          <a:p>
            <a:endParaRPr lang="en-CH" dirty="0"/>
          </a:p>
        </p:txBody>
      </p:sp>
      <p:sp>
        <p:nvSpPr>
          <p:cNvPr id="6" name="TextBox 5">
            <a:extLst>
              <a:ext uri="{FF2B5EF4-FFF2-40B4-BE49-F238E27FC236}">
                <a16:creationId xmlns:a16="http://schemas.microsoft.com/office/drawing/2014/main" id="{ECEEC6CC-BCA0-1B41-37AB-888C5A416815}"/>
              </a:ext>
            </a:extLst>
          </p:cNvPr>
          <p:cNvSpPr txBox="1"/>
          <p:nvPr/>
        </p:nvSpPr>
        <p:spPr>
          <a:xfrm>
            <a:off x="223021" y="6311025"/>
            <a:ext cx="10593660" cy="307777"/>
          </a:xfrm>
          <a:prstGeom prst="rect">
            <a:avLst/>
          </a:prstGeom>
          <a:noFill/>
        </p:spPr>
        <p:txBody>
          <a:bodyPr wrap="square" rtlCol="0">
            <a:spAutoFit/>
          </a:bodyPr>
          <a:lstStyle/>
          <a:p>
            <a:r>
              <a:rPr lang="en-CH" sz="1400" dirty="0">
                <a:solidFill>
                  <a:schemeClr val="accent5">
                    <a:lumMod val="50000"/>
                  </a:schemeClr>
                </a:solidFill>
              </a:rPr>
              <a:t>ULCV - </a:t>
            </a:r>
            <a:r>
              <a:rPr lang="en-GB" sz="1400" b="0" i="0" dirty="0">
                <a:solidFill>
                  <a:schemeClr val="accent5">
                    <a:lumMod val="50000"/>
                  </a:schemeClr>
                </a:solidFill>
                <a:effectLst/>
              </a:rPr>
              <a:t>Ultra Large Container Vessel</a:t>
            </a:r>
            <a:endParaRPr lang="en-CH" sz="1400" dirty="0">
              <a:solidFill>
                <a:schemeClr val="accent5">
                  <a:lumMod val="50000"/>
                </a:schemeClr>
              </a:solidFill>
            </a:endParaRPr>
          </a:p>
        </p:txBody>
      </p:sp>
    </p:spTree>
    <p:extLst>
      <p:ext uri="{BB962C8B-B14F-4D97-AF65-F5344CB8AC3E}">
        <p14:creationId xmlns:p14="http://schemas.microsoft.com/office/powerpoint/2010/main" val="1636410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00300" y="2765620"/>
            <a:ext cx="7753446" cy="1446550"/>
          </a:xfrm>
          <a:prstGeom prst="rect">
            <a:avLst/>
          </a:prstGeom>
        </p:spPr>
        <p:txBody>
          <a:bodyPr wrap="square">
            <a:spAutoFit/>
          </a:bodyPr>
          <a:lstStyle/>
          <a:p>
            <a:pPr marL="0" indent="0" algn="ctr">
              <a:buNone/>
            </a:pPr>
            <a:r>
              <a:rPr lang="es-ES_tradnl" sz="4400" b="1" dirty="0">
                <a:solidFill>
                  <a:schemeClr val="accent5">
                    <a:lumMod val="50000"/>
                  </a:schemeClr>
                </a:solidFill>
                <a:effectLst/>
                <a:latin typeface="Segoe UI" panose="020B0502040204020203" pitchFamily="34" charset="0"/>
                <a:cs typeface="Segoe UI" panose="020B0502040204020203" pitchFamily="34" charset="0"/>
              </a:rPr>
              <a:t>Crecimiento </a:t>
            </a:r>
            <a:r>
              <a:rPr lang="es-ES_tradnl" sz="4400" b="1" dirty="0">
                <a:solidFill>
                  <a:schemeClr val="accent5">
                    <a:lumMod val="50000"/>
                  </a:schemeClr>
                </a:solidFill>
                <a:latin typeface="Segoe UI" panose="020B0502040204020203" pitchFamily="34" charset="0"/>
                <a:cs typeface="Segoe UI" panose="020B0502040204020203" pitchFamily="34" charset="0"/>
              </a:rPr>
              <a:t>E</a:t>
            </a:r>
            <a:r>
              <a:rPr lang="es-ES_tradnl" sz="4400" b="1" dirty="0">
                <a:solidFill>
                  <a:schemeClr val="accent5">
                    <a:lumMod val="50000"/>
                  </a:schemeClr>
                </a:solidFill>
                <a:effectLst/>
                <a:latin typeface="Segoe UI" panose="020B0502040204020203" pitchFamily="34" charset="0"/>
                <a:cs typeface="Segoe UI" panose="020B0502040204020203" pitchFamily="34" charset="0"/>
              </a:rPr>
              <a:t>conómico </a:t>
            </a:r>
            <a:r>
              <a:rPr lang="es-ES_tradnl" sz="4400" b="1" dirty="0">
                <a:solidFill>
                  <a:schemeClr val="accent5">
                    <a:lumMod val="50000"/>
                  </a:schemeClr>
                </a:solidFill>
                <a:latin typeface="Segoe UI" panose="020B0502040204020203" pitchFamily="34" charset="0"/>
                <a:cs typeface="Segoe UI" panose="020B0502040204020203" pitchFamily="34" charset="0"/>
              </a:rPr>
              <a:t>B</a:t>
            </a:r>
            <a:r>
              <a:rPr lang="es-ES_tradnl" sz="4400" b="1" dirty="0">
                <a:solidFill>
                  <a:schemeClr val="accent5">
                    <a:lumMod val="50000"/>
                  </a:schemeClr>
                </a:solidFill>
                <a:effectLst/>
                <a:latin typeface="Segoe UI" panose="020B0502040204020203" pitchFamily="34" charset="0"/>
                <a:cs typeface="Segoe UI" panose="020B0502040204020203" pitchFamily="34" charset="0"/>
              </a:rPr>
              <a:t>asado en las Exportaciones</a:t>
            </a:r>
            <a:endParaRPr lang="es-ES_tradnl" sz="4400" b="1" dirty="0">
              <a:solidFill>
                <a:schemeClr val="accent5">
                  <a:lumMod val="50000"/>
                </a:schemeClr>
              </a:solidFill>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2"/>
          </p:nvPr>
        </p:nvSpPr>
        <p:spPr/>
        <p:txBody>
          <a:bodyPr/>
          <a:lstStyle/>
          <a:p>
            <a:fld id="{D739C4FB-7D33-419B-8833-D1372BFD11C8}" type="slidenum">
              <a:rPr lang="en-US" smtClean="0"/>
              <a:t>6</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223113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6BB7A1-B789-E203-3628-C526239D24B5}"/>
              </a:ext>
            </a:extLst>
          </p:cNvPr>
          <p:cNvSpPr>
            <a:spLocks noGrp="1"/>
          </p:cNvSpPr>
          <p:nvPr>
            <p:ph type="sldNum" sz="quarter" idx="12"/>
          </p:nvPr>
        </p:nvSpPr>
        <p:spPr/>
        <p:txBody>
          <a:bodyPr/>
          <a:lstStyle/>
          <a:p>
            <a:fld id="{6897FFF3-9BE7-6F4B-AB28-3A1D192ED757}" type="slidenum">
              <a:rPr lang="en-CH" smtClean="0"/>
              <a:t>7</a:t>
            </a:fld>
            <a:endParaRPr lang="en-CH"/>
          </a:p>
        </p:txBody>
      </p:sp>
      <p:sp>
        <p:nvSpPr>
          <p:cNvPr id="4" name="TextBox 3">
            <a:extLst>
              <a:ext uri="{FF2B5EF4-FFF2-40B4-BE49-F238E27FC236}">
                <a16:creationId xmlns:a16="http://schemas.microsoft.com/office/drawing/2014/main" id="{C3C27E3E-F0D4-CC4F-87DF-5BA53C823D53}"/>
              </a:ext>
            </a:extLst>
          </p:cNvPr>
          <p:cNvSpPr txBox="1"/>
          <p:nvPr/>
        </p:nvSpPr>
        <p:spPr>
          <a:xfrm>
            <a:off x="1019415" y="772617"/>
            <a:ext cx="10087428" cy="5447645"/>
          </a:xfrm>
          <a:prstGeom prst="rect">
            <a:avLst/>
          </a:prstGeom>
          <a:noFill/>
        </p:spPr>
        <p:txBody>
          <a:bodyPr wrap="square">
            <a:spAutoFit/>
          </a:bodyPr>
          <a:lstStyle/>
          <a:p>
            <a:pPr algn="ctr"/>
            <a:r>
              <a:rPr lang="en-CH" sz="2800" b="1" dirty="0">
                <a:solidFill>
                  <a:srgbClr val="C00000"/>
                </a:solidFill>
                <a:latin typeface="Segoe UI" panose="020B0502040204020203" pitchFamily="34" charset="0"/>
                <a:ea typeface="Times New Roman" panose="02020603050405020304" pitchFamily="18" charset="0"/>
                <a:cs typeface="Segoe UI" panose="020B0502040204020203" pitchFamily="34" charset="0"/>
              </a:rPr>
              <a:t>El P</a:t>
            </a:r>
            <a:r>
              <a:rPr lang="en-CH" sz="28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uerto de Chancay </a:t>
            </a:r>
            <a:endParaRPr lang="en-CH" sz="2800" dirty="0">
              <a:solidFill>
                <a:srgbClr val="00B0F0"/>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 sz="2400" b="1" dirty="0">
                <a:solidFill>
                  <a:srgbClr val="00B050"/>
                </a:solidFill>
                <a:effectLst/>
                <a:latin typeface="Segoe UI" panose="020B0502040204020203" pitchFamily="34" charset="0"/>
                <a:ea typeface="Times New Roman" panose="02020603050405020304" pitchFamily="18" charset="0"/>
                <a:cs typeface="Segoe UI" panose="020B0502040204020203" pitchFamily="34" charset="0"/>
              </a:rPr>
              <a:t>Oportunidad de convertirse en la primera Ciudad </a:t>
            </a:r>
            <a:r>
              <a:rPr lang="es-ES" sz="2400" b="1" dirty="0">
                <a:solidFill>
                  <a:srgbClr val="00B050"/>
                </a:solidFill>
                <a:latin typeface="Segoe UI" panose="020B0502040204020203" pitchFamily="34" charset="0"/>
                <a:ea typeface="Times New Roman" panose="02020603050405020304" pitchFamily="18" charset="0"/>
                <a:cs typeface="Segoe UI" panose="020B0502040204020203" pitchFamily="34" charset="0"/>
              </a:rPr>
              <a:t>P</a:t>
            </a:r>
            <a:r>
              <a:rPr lang="es-ES" sz="2400" b="1" dirty="0">
                <a:solidFill>
                  <a:srgbClr val="00B050"/>
                </a:solidFill>
                <a:effectLst/>
                <a:latin typeface="Segoe UI" panose="020B0502040204020203" pitchFamily="34" charset="0"/>
                <a:ea typeface="Times New Roman" panose="02020603050405020304" pitchFamily="18" charset="0"/>
                <a:cs typeface="Segoe UI" panose="020B0502040204020203" pitchFamily="34" charset="0"/>
              </a:rPr>
              <a:t>ortuaria </a:t>
            </a:r>
            <a:r>
              <a:rPr lang="es-ES" sz="2400" b="1" dirty="0">
                <a:solidFill>
                  <a:srgbClr val="00B050"/>
                </a:solidFill>
                <a:latin typeface="Segoe UI" panose="020B0502040204020203" pitchFamily="34" charset="0"/>
                <a:ea typeface="Times New Roman" panose="02020603050405020304" pitchFamily="18" charset="0"/>
                <a:cs typeface="Segoe UI" panose="020B0502040204020203" pitchFamily="34" charset="0"/>
              </a:rPr>
              <a:t>I</a:t>
            </a:r>
            <a:r>
              <a:rPr lang="es-ES" sz="2400" b="1" dirty="0">
                <a:solidFill>
                  <a:srgbClr val="00B050"/>
                </a:solidFill>
                <a:effectLst/>
                <a:latin typeface="Segoe UI" panose="020B0502040204020203" pitchFamily="34" charset="0"/>
                <a:ea typeface="Times New Roman" panose="02020603050405020304" pitchFamily="18" charset="0"/>
                <a:cs typeface="Segoe UI" panose="020B0502040204020203" pitchFamily="34" charset="0"/>
              </a:rPr>
              <a:t>nteligente de Sudamérica</a:t>
            </a:r>
          </a:p>
          <a:p>
            <a:pPr algn="ctr"/>
            <a:endParaRPr lang="es-ES" sz="2400" b="1" dirty="0">
              <a:solidFill>
                <a:srgbClr val="00B050"/>
              </a:solidFill>
              <a:latin typeface="Segoe UI" panose="020B0502040204020203" pitchFamily="34" charset="0"/>
              <a:ea typeface="Times New Roman" panose="02020603050405020304" pitchFamily="18" charset="0"/>
              <a:cs typeface="Segoe UI" panose="020B0502040204020203" pitchFamily="34" charset="0"/>
            </a:endParaRPr>
          </a:p>
          <a:p>
            <a:pPr algn="ctr"/>
            <a:r>
              <a:rPr lang="en-CH" sz="2400" b="1" dirty="0">
                <a:solidFill>
                  <a:srgbClr val="00B0F0"/>
                </a:solidFill>
                <a:latin typeface="Segoe UI" panose="020B0502040204020203" pitchFamily="34" charset="0"/>
                <a:ea typeface="Times New Roman" panose="02020603050405020304" pitchFamily="18" charset="0"/>
                <a:cs typeface="Segoe UI" panose="020B0502040204020203" pitchFamily="34" charset="0"/>
              </a:rPr>
              <a:t>Z</a:t>
            </a:r>
            <a:r>
              <a:rPr lang="en-CH" sz="2400" b="1" dirty="0">
                <a:solidFill>
                  <a:srgbClr val="00B0F0"/>
                </a:solidFill>
                <a:effectLst/>
                <a:latin typeface="Segoe UI" panose="020B0502040204020203" pitchFamily="34" charset="0"/>
                <a:ea typeface="Times New Roman" panose="02020603050405020304" pitchFamily="18" charset="0"/>
                <a:cs typeface="Segoe UI" panose="020B0502040204020203" pitchFamily="34" charset="0"/>
              </a:rPr>
              <a:t>ona industrial/comercial asociada</a:t>
            </a:r>
            <a:r>
              <a:rPr lang="en-CH" sz="2400" b="1" dirty="0">
                <a:solidFill>
                  <a:srgbClr val="00B0F0"/>
                </a:solidFill>
                <a:latin typeface="Segoe UI" panose="020B0502040204020203" pitchFamily="34" charset="0"/>
                <a:ea typeface="Times New Roman" panose="02020603050405020304" pitchFamily="18" charset="0"/>
                <a:cs typeface="Segoe UI" panose="020B0502040204020203" pitchFamily="34" charset="0"/>
              </a:rPr>
              <a:t> o, </a:t>
            </a:r>
            <a:r>
              <a:rPr lang="en-CH" sz="2400" b="1" dirty="0">
                <a:solidFill>
                  <a:srgbClr val="00B0F0"/>
                </a:solidFill>
                <a:effectLst/>
                <a:latin typeface="Segoe UI" panose="020B0502040204020203" pitchFamily="34" charset="0"/>
                <a:ea typeface="Times New Roman" panose="02020603050405020304" pitchFamily="18" charset="0"/>
                <a:cs typeface="Segoe UI" panose="020B0502040204020203" pitchFamily="34" charset="0"/>
              </a:rPr>
              <a:t>‘Chancay Park’</a:t>
            </a:r>
            <a:r>
              <a:rPr lang="en-CH" sz="2400" dirty="0">
                <a:solidFill>
                  <a:srgbClr val="00B0F0"/>
                </a:solidFill>
                <a:effectLst/>
                <a:latin typeface="Segoe UI" panose="020B0502040204020203" pitchFamily="34" charset="0"/>
                <a:ea typeface="Times New Roman" panose="02020603050405020304" pitchFamily="18" charset="0"/>
                <a:cs typeface="Segoe UI" panose="020B0502040204020203" pitchFamily="34" charset="0"/>
              </a:rPr>
              <a:t> </a:t>
            </a:r>
          </a:p>
          <a:p>
            <a:pPr algn="ctr"/>
            <a:endParaRPr lang="en-CH" sz="240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algn="ct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Potencial enorme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no solo como infraestructura portuaria, sino como </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catalizador de transformación económica y de oportunidades</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para especialistas, técnicos, ingenieros y jóvenes </a:t>
            </a:r>
            <a:r>
              <a:rPr lang="en-CH" sz="2400" kern="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recién graduados</a:t>
            </a:r>
          </a:p>
          <a:p>
            <a:pPr algn="ctr"/>
            <a:endParaRPr lang="en-CH" sz="2800" kern="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_tradnl" sz="2800" b="1"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rPr>
              <a:t>Impacto macroeconómico</a:t>
            </a:r>
          </a:p>
          <a:p>
            <a:pPr algn="ctr"/>
            <a:r>
              <a:rPr lang="es-ES_tradnl" sz="2400" dirty="0">
                <a:solidFill>
                  <a:schemeClr val="accent5">
                    <a:lumMod val="50000"/>
                  </a:schemeClr>
                </a:solidFill>
                <a:latin typeface="Segoe UI" panose="020B0502040204020203" pitchFamily="34" charset="0"/>
                <a:cs typeface="Segoe UI" panose="020B0502040204020203" pitchFamily="34" charset="0"/>
              </a:rPr>
              <a:t>Podría aportar aproximadamente </a:t>
            </a:r>
            <a:r>
              <a:rPr lang="es-ES_tradnl" sz="2400" b="1" dirty="0">
                <a:solidFill>
                  <a:schemeClr val="accent5">
                    <a:lumMod val="50000"/>
                  </a:schemeClr>
                </a:solidFill>
                <a:latin typeface="Segoe UI" panose="020B0502040204020203" pitchFamily="34" charset="0"/>
                <a:cs typeface="Segoe UI" panose="020B0502040204020203" pitchFamily="34" charset="0"/>
              </a:rPr>
              <a:t>US$ 4.500 millones anuales</a:t>
            </a:r>
            <a:r>
              <a:rPr lang="es-ES_tradnl" sz="2400" dirty="0">
                <a:solidFill>
                  <a:schemeClr val="accent5">
                    <a:lumMod val="50000"/>
                  </a:schemeClr>
                </a:solidFill>
                <a:latin typeface="Segoe UI" panose="020B0502040204020203" pitchFamily="34" charset="0"/>
                <a:cs typeface="Segoe UI" panose="020B0502040204020203" pitchFamily="34" charset="0"/>
              </a:rPr>
              <a:t> a la economía peruana — cerca del </a:t>
            </a:r>
            <a:r>
              <a:rPr lang="es-ES_tradnl" sz="2400" b="1" dirty="0">
                <a:solidFill>
                  <a:schemeClr val="accent5">
                    <a:lumMod val="50000"/>
                  </a:schemeClr>
                </a:solidFill>
                <a:latin typeface="Segoe UI" panose="020B0502040204020203" pitchFamily="34" charset="0"/>
                <a:cs typeface="Segoe UI" panose="020B0502040204020203" pitchFamily="34" charset="0"/>
              </a:rPr>
              <a:t>1.8 % del PBI</a:t>
            </a:r>
            <a:r>
              <a:rPr lang="es-ES_tradnl" sz="2400" dirty="0">
                <a:solidFill>
                  <a:schemeClr val="accent5">
                    <a:lumMod val="50000"/>
                  </a:schemeClr>
                </a:solidFill>
                <a:latin typeface="Segoe UI" panose="020B0502040204020203" pitchFamily="34" charset="0"/>
                <a:cs typeface="Segoe UI" panose="020B0502040204020203" pitchFamily="34" charset="0"/>
              </a:rPr>
              <a:t> en los próximos años</a:t>
            </a:r>
            <a:r>
              <a:rPr lang="es-ES_tradnl"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4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según, Produce</a:t>
            </a:r>
          </a:p>
        </p:txBody>
      </p:sp>
      <p:sp>
        <p:nvSpPr>
          <p:cNvPr id="5" name="Google Shape;423;p7">
            <a:extLst>
              <a:ext uri="{FF2B5EF4-FFF2-40B4-BE49-F238E27FC236}">
                <a16:creationId xmlns:a16="http://schemas.microsoft.com/office/drawing/2014/main" id="{BAA21B57-6734-EB2A-1DC4-BE834373BDC5}"/>
              </a:ext>
            </a:extLst>
          </p:cNvPr>
          <p:cNvSpPr/>
          <p:nvPr/>
        </p:nvSpPr>
        <p:spPr>
          <a:xfrm>
            <a:off x="-15498" y="-17821"/>
            <a:ext cx="12192000" cy="601797"/>
          </a:xfrm>
          <a:prstGeom prst="rect">
            <a:avLst/>
          </a:prstGeom>
          <a:solidFill>
            <a:srgbClr val="C41927"/>
          </a:solidFill>
          <a:ln>
            <a:noFill/>
          </a:ln>
        </p:spPr>
        <p:txBody>
          <a:bodyPr spcFirstLastPara="1" wrap="square" lIns="91425" tIns="45700" rIns="91425" bIns="45700" anchor="ctr" anchorCtr="0">
            <a:noAutofit/>
          </a:bodyPr>
          <a:lstStyle/>
          <a:p>
            <a:pPr algn="ctr"/>
            <a:r>
              <a:rPr lang="es-ES_tradnl" sz="2800" b="1" dirty="0">
                <a:solidFill>
                  <a:schemeClr val="bg1"/>
                </a:solidFill>
                <a:effectLst/>
                <a:latin typeface="Segoe UI" panose="020B0502040204020203" pitchFamily="34" charset="0"/>
                <a:cs typeface="Segoe UI" panose="020B0502040204020203" pitchFamily="34" charset="0"/>
              </a:rPr>
              <a:t>Crecimiento </a:t>
            </a:r>
            <a:r>
              <a:rPr lang="es-ES_tradnl" sz="2800" b="1" dirty="0">
                <a:solidFill>
                  <a:schemeClr val="bg1"/>
                </a:solidFill>
                <a:latin typeface="Segoe UI" panose="020B0502040204020203" pitchFamily="34" charset="0"/>
                <a:cs typeface="Segoe UI" panose="020B0502040204020203" pitchFamily="34" charset="0"/>
              </a:rPr>
              <a:t>E</a:t>
            </a:r>
            <a:r>
              <a:rPr lang="es-ES_tradnl" sz="2800" b="1" dirty="0">
                <a:solidFill>
                  <a:schemeClr val="bg1"/>
                </a:solidFill>
                <a:effectLst/>
                <a:latin typeface="Segoe UI" panose="020B0502040204020203" pitchFamily="34" charset="0"/>
                <a:cs typeface="Segoe UI" panose="020B0502040204020203" pitchFamily="34" charset="0"/>
              </a:rPr>
              <a:t>conómico </a:t>
            </a:r>
            <a:r>
              <a:rPr lang="es-ES_tradnl" sz="2800" b="1" dirty="0">
                <a:solidFill>
                  <a:schemeClr val="bg1"/>
                </a:solidFill>
                <a:latin typeface="Segoe UI" panose="020B0502040204020203" pitchFamily="34" charset="0"/>
                <a:cs typeface="Segoe UI" panose="020B0502040204020203" pitchFamily="34" charset="0"/>
              </a:rPr>
              <a:t>B</a:t>
            </a:r>
            <a:r>
              <a:rPr lang="es-ES_tradnl" sz="2800" b="1" dirty="0">
                <a:solidFill>
                  <a:schemeClr val="bg1"/>
                </a:solidFill>
                <a:effectLst/>
                <a:latin typeface="Segoe UI" panose="020B0502040204020203" pitchFamily="34" charset="0"/>
                <a:cs typeface="Segoe UI" panose="020B0502040204020203" pitchFamily="34" charset="0"/>
              </a:rPr>
              <a:t>asado en las Exportaciones</a:t>
            </a:r>
            <a:endParaRPr lang="es-ES_tradnl" sz="2800" b="1" i="0" u="none" strike="noStrike" dirty="0">
              <a:solidFill>
                <a:schemeClr val="bg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3823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F0969D-20D7-E8B3-EDB8-D001873EC51B}"/>
              </a:ext>
            </a:extLst>
          </p:cNvPr>
          <p:cNvSpPr>
            <a:spLocks noGrp="1"/>
          </p:cNvSpPr>
          <p:nvPr>
            <p:ph type="sldNum" sz="quarter" idx="12"/>
          </p:nvPr>
        </p:nvSpPr>
        <p:spPr/>
        <p:txBody>
          <a:bodyPr/>
          <a:lstStyle/>
          <a:p>
            <a:fld id="{6897FFF3-9BE7-6F4B-AB28-3A1D192ED757}" type="slidenum">
              <a:rPr lang="en-CH" smtClean="0"/>
              <a:t>8</a:t>
            </a:fld>
            <a:endParaRPr lang="en-CH"/>
          </a:p>
        </p:txBody>
      </p:sp>
      <p:sp>
        <p:nvSpPr>
          <p:cNvPr id="4" name="TextBox 3">
            <a:extLst>
              <a:ext uri="{FF2B5EF4-FFF2-40B4-BE49-F238E27FC236}">
                <a16:creationId xmlns:a16="http://schemas.microsoft.com/office/drawing/2014/main" id="{4B4031BF-BB01-1CD9-2CD1-C5373B08F45A}"/>
              </a:ext>
            </a:extLst>
          </p:cNvPr>
          <p:cNvSpPr txBox="1"/>
          <p:nvPr/>
        </p:nvSpPr>
        <p:spPr>
          <a:xfrm>
            <a:off x="180112" y="1077913"/>
            <a:ext cx="11665524" cy="4524315"/>
          </a:xfrm>
          <a:prstGeom prst="rect">
            <a:avLst/>
          </a:prstGeom>
          <a:noFill/>
        </p:spPr>
        <p:txBody>
          <a:bodyPr wrap="square">
            <a:spAutoFit/>
          </a:bodyPr>
          <a:lstStyle/>
          <a:p>
            <a:pPr marL="342900" lvl="0" indent="-342900">
              <a:buSzPts val="1000"/>
              <a:buFont typeface="Symbol" pitchFamily="2" charset="2"/>
              <a:buChar char=""/>
              <a:tabLst>
                <a:tab pos="457200" algn="l"/>
              </a:tabLst>
            </a:pP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En </a:t>
            </a:r>
            <a:r>
              <a:rPr lang="en-CH" sz="24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su </a:t>
            </a:r>
            <a:r>
              <a:rPr lang="en-CH" sz="24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fase de construcción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ya ha generado miles de empleos, unos </a:t>
            </a:r>
            <a:r>
              <a:rPr lang="en-CH" sz="2400" b="1" dirty="0">
                <a:solidFill>
                  <a:srgbClr val="00B050"/>
                </a:solidFill>
                <a:effectLst/>
                <a:latin typeface="Segoe UI" panose="020B0502040204020203" pitchFamily="34" charset="0"/>
                <a:ea typeface="Times New Roman" panose="02020603050405020304" pitchFamily="18" charset="0"/>
                <a:cs typeface="Segoe UI" panose="020B0502040204020203" pitchFamily="34" charset="0"/>
              </a:rPr>
              <a:t>50.000 personas se han beneficiado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directa o indirectamente. </a:t>
            </a:r>
          </a:p>
          <a:p>
            <a:pPr marL="342900" lvl="0" indent="-342900">
              <a:buSzPts val="1000"/>
              <a:buFont typeface="Symbol" pitchFamily="2" charset="2"/>
              <a:buChar char=""/>
              <a:tabLst>
                <a:tab pos="457200" algn="l"/>
              </a:tabLst>
            </a:pPr>
            <a:endParaRPr lang="en-CH" sz="240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marL="342900" lvl="0" indent="-342900">
              <a:buSzPts val="1000"/>
              <a:buFont typeface="Symbol" pitchFamily="2" charset="2"/>
              <a:buChar char=""/>
              <a:tabLst>
                <a:tab pos="457200" algn="l"/>
              </a:tabLst>
            </a:pP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Durante </a:t>
            </a:r>
            <a:r>
              <a:rPr lang="en-CH" sz="2400" b="1" dirty="0">
                <a:solidFill>
                  <a:schemeClr val="accent2"/>
                </a:solidFill>
                <a:effectLst/>
                <a:latin typeface="Segoe UI" panose="020B0502040204020203" pitchFamily="34" charset="0"/>
                <a:ea typeface="Times New Roman" panose="02020603050405020304" pitchFamily="18" charset="0"/>
                <a:cs typeface="Segoe UI" panose="020B0502040204020203" pitchFamily="34" charset="0"/>
              </a:rPr>
              <a:t>la fase de operación</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se prevén </a:t>
            </a:r>
            <a:r>
              <a:rPr lang="en-CH" sz="24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8.550 empleos directos </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y un parque industrial asociado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con unos 20.000 empleos adicionales. </a:t>
            </a:r>
          </a:p>
          <a:p>
            <a:pPr marL="342900" lvl="0" indent="-342900">
              <a:buSzPts val="1000"/>
              <a:buFont typeface="Symbol" pitchFamily="2" charset="2"/>
              <a:buChar char=""/>
              <a:tabLst>
                <a:tab pos="457200" algn="l"/>
              </a:tabLst>
            </a:pPr>
            <a:endPar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p>
            <a:pPr marL="342900" lvl="0" indent="-342900">
              <a:buSzPts val="1000"/>
              <a:buFont typeface="Symbol" pitchFamily="2" charset="2"/>
              <a:buChar char=""/>
              <a:tabLst>
                <a:tab pos="457200" algn="l"/>
                <a:tab pos="457200" algn="l"/>
                <a:tab pos="457200" algn="l"/>
                <a:tab pos="457200" algn="l"/>
              </a:tabLst>
            </a:pPr>
            <a:r>
              <a:rPr lang="en-CH" sz="2400" b="1" kern="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Transformación logística y comercial</a:t>
            </a:r>
            <a:r>
              <a:rPr lang="en-CH" sz="2400" kern="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Chancay no es solo un puerto, si no manufactura, logística, comercio internacional, servicios, transporte, etc</a:t>
            </a:r>
            <a:r>
              <a:rPr lang="en-CH" sz="2400" dirty="0">
                <a:solidFill>
                  <a:schemeClr val="accent5">
                    <a:lumMod val="50000"/>
                  </a:schemeClr>
                </a:solidFill>
                <a:effectLst/>
                <a:latin typeface="Segoe UI" panose="020B0502040204020203" pitchFamily="34" charset="0"/>
                <a:cs typeface="Segoe UI" panose="020B0502040204020203" pitchFamily="34" charset="0"/>
              </a:rPr>
              <a:t> </a:t>
            </a:r>
          </a:p>
          <a:p>
            <a:pPr marL="342900" lvl="0" indent="-342900">
              <a:buSzPts val="1000"/>
              <a:buFont typeface="Symbol" pitchFamily="2" charset="2"/>
              <a:buChar char=""/>
              <a:tabLst>
                <a:tab pos="457200" algn="l"/>
                <a:tab pos="457200" algn="l"/>
                <a:tab pos="457200" algn="l"/>
                <a:tab pos="457200" algn="l"/>
              </a:tabLst>
            </a:pPr>
            <a:endParaRPr lang="en-CH" sz="240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hlinkClick r:id="rId3">
                <a:extLst>
                  <a:ext uri="{A12FA001-AC4F-418D-AE19-62706E023703}">
                    <ahyp:hlinkClr xmlns:ahyp="http://schemas.microsoft.com/office/drawing/2018/hyperlinkcolor" val="tx"/>
                  </a:ext>
                </a:extLst>
              </a:hlinkClick>
            </a:endParaRPr>
          </a:p>
          <a:p>
            <a:pPr marL="342900" lvl="0" indent="-342900">
              <a:buSzPts val="1000"/>
              <a:buFont typeface="Symbol" pitchFamily="2" charset="2"/>
              <a:buChar char=""/>
              <a:tabLst>
                <a:tab pos="457200" algn="l"/>
              </a:tabLst>
            </a:pPr>
            <a:r>
              <a:rPr lang="en-CH" sz="2400" b="1" kern="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Atractivo para inversión y diversificación industrial</a:t>
            </a:r>
            <a:r>
              <a:rPr lang="en-CH" sz="2400" kern="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El puerto ya despierta interés — por ejemplo en plantas de ensamblaje automotriz o industrias que busquen aprovechar menores costos logísticos de importación/exportación</a:t>
            </a:r>
            <a:r>
              <a:rPr lang="en-CH" sz="2400" dirty="0">
                <a:solidFill>
                  <a:schemeClr val="accent5">
                    <a:lumMod val="50000"/>
                  </a:schemeClr>
                </a:solidFill>
                <a:effectLst/>
                <a:latin typeface="Segoe UI" panose="020B0502040204020203" pitchFamily="34" charset="0"/>
                <a:cs typeface="Segoe UI" panose="020B0502040204020203" pitchFamily="34" charset="0"/>
              </a:rPr>
              <a:t> </a:t>
            </a:r>
            <a:endPar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hlinkClick r:id="rId3">
                <a:extLst>
                  <a:ext uri="{A12FA001-AC4F-418D-AE19-62706E023703}">
                    <ahyp:hlinkClr xmlns:ahyp="http://schemas.microsoft.com/office/drawing/2018/hyperlinkcolor" val="tx"/>
                  </a:ext>
                </a:extLst>
              </a:hlinkClick>
            </a:endParaRPr>
          </a:p>
        </p:txBody>
      </p:sp>
      <p:sp>
        <p:nvSpPr>
          <p:cNvPr id="5" name="Google Shape;423;p7">
            <a:extLst>
              <a:ext uri="{FF2B5EF4-FFF2-40B4-BE49-F238E27FC236}">
                <a16:creationId xmlns:a16="http://schemas.microsoft.com/office/drawing/2014/main" id="{C773DED4-8572-16A4-4F76-4C382552F9F3}"/>
              </a:ext>
            </a:extLst>
          </p:cNvPr>
          <p:cNvSpPr/>
          <p:nvPr/>
        </p:nvSpPr>
        <p:spPr>
          <a:xfrm>
            <a:off x="-15498" y="-17822"/>
            <a:ext cx="12192000" cy="572281"/>
          </a:xfrm>
          <a:prstGeom prst="rect">
            <a:avLst/>
          </a:prstGeom>
          <a:solidFill>
            <a:srgbClr val="C41927"/>
          </a:solidFill>
          <a:ln>
            <a:noFill/>
          </a:ln>
        </p:spPr>
        <p:txBody>
          <a:bodyPr spcFirstLastPara="1" wrap="square" lIns="91425" tIns="45700" rIns="91425" bIns="45700" anchor="ctr" anchorCtr="0">
            <a:noAutofit/>
          </a:bodyPr>
          <a:lstStyle/>
          <a:p>
            <a:pPr algn="ctr"/>
            <a:r>
              <a:rPr lang="en-CH" sz="2800" b="1" dirty="0">
                <a:solidFill>
                  <a:schemeClr val="bg1"/>
                </a:solidFill>
                <a:latin typeface="Segoe UI" panose="020B0502040204020203" pitchFamily="34" charset="0"/>
                <a:cs typeface="Segoe UI" panose="020B0502040204020203" pitchFamily="34" charset="0"/>
              </a:rPr>
              <a:t> G</a:t>
            </a:r>
            <a:r>
              <a:rPr lang="en-CH" sz="28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ran </a:t>
            </a:r>
            <a:r>
              <a:rPr lang="en-CH"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V</a:t>
            </a:r>
            <a:r>
              <a:rPr lang="en-CH" sz="28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alor para Nuevos </a:t>
            </a:r>
            <a:r>
              <a:rPr lang="en-CH" sz="2800" b="1" dirty="0">
                <a:solidFill>
                  <a:schemeClr val="bg1"/>
                </a:solidFill>
                <a:latin typeface="Segoe UI" panose="020B0502040204020203" pitchFamily="34" charset="0"/>
                <a:ea typeface="Times New Roman" panose="02020603050405020304" pitchFamily="18" charset="0"/>
                <a:cs typeface="Segoe UI" panose="020B0502040204020203" pitchFamily="34" charset="0"/>
              </a:rPr>
              <a:t>P</a:t>
            </a:r>
            <a:r>
              <a:rPr lang="en-CH" sz="28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rofesionales</a:t>
            </a:r>
          </a:p>
        </p:txBody>
      </p:sp>
    </p:spTree>
    <p:extLst>
      <p:ext uri="{BB962C8B-B14F-4D97-AF65-F5344CB8AC3E}">
        <p14:creationId xmlns:p14="http://schemas.microsoft.com/office/powerpoint/2010/main" val="531189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4BC16A-775E-964F-79A9-CFBDECEE8AF3}"/>
              </a:ext>
            </a:extLst>
          </p:cNvPr>
          <p:cNvSpPr txBox="1"/>
          <p:nvPr/>
        </p:nvSpPr>
        <p:spPr>
          <a:xfrm>
            <a:off x="640080" y="2872899"/>
            <a:ext cx="4243589" cy="3320668"/>
          </a:xfrm>
          <a:prstGeom prst="rect">
            <a:avLst/>
          </a:prstGeom>
        </p:spPr>
        <p:txBody>
          <a:bodyPr vert="horz" lIns="91440" tIns="45720" rIns="91440" bIns="45720" rtlCol="0">
            <a:normAutofit/>
          </a:bodyPr>
          <a:lstStyle/>
          <a:p>
            <a:pPr algn="ctr">
              <a:lnSpc>
                <a:spcPct val="90000"/>
              </a:lnSpc>
              <a:spcAft>
                <a:spcPts val="600"/>
              </a:spcAft>
            </a:pPr>
            <a:endParaRPr lang="en-US" sz="3200" b="1"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5D632E07-15D8-DF35-460A-0CD7622E3125}"/>
              </a:ext>
            </a:extLst>
          </p:cNvPr>
          <p:cNvPicPr>
            <a:picLocks noChangeAspect="1"/>
          </p:cNvPicPr>
          <p:nvPr/>
        </p:nvPicPr>
        <p:blipFill>
          <a:blip r:embed="rId2"/>
          <a:srcRect r="8726" b="2"/>
          <a:stretch>
            <a:fillRect/>
          </a:stretch>
        </p:blipFill>
        <p:spPr>
          <a:xfrm>
            <a:off x="5295373"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 name="Slide Number Placeholder 1">
            <a:extLst>
              <a:ext uri="{FF2B5EF4-FFF2-40B4-BE49-F238E27FC236}">
                <a16:creationId xmlns:a16="http://schemas.microsoft.com/office/drawing/2014/main" id="{E1AC69C9-29D2-F286-CA32-F8986A1619D8}"/>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a:spcAft>
                <a:spcPts val="600"/>
              </a:spcAft>
              <a:defRPr/>
            </a:pPr>
            <a:fld id="{6897FFF3-9BE7-6F4B-AB28-3A1D192ED757}" type="slidenum">
              <a:rPr lang="en-US">
                <a:solidFill>
                  <a:srgbClr val="FFFFFF"/>
                </a:solidFill>
                <a:latin typeface="Calibri" panose="020F0502020204030204"/>
              </a:rPr>
              <a:pPr>
                <a:spcAft>
                  <a:spcPts val="600"/>
                </a:spcAft>
                <a:defRPr/>
              </a:pPr>
              <a:t>9</a:t>
            </a:fld>
            <a:endParaRPr lang="en-US">
              <a:solidFill>
                <a:srgbClr val="FFFFFF"/>
              </a:solidFill>
              <a:latin typeface="Calibri" panose="020F0502020204030204"/>
            </a:endParaRPr>
          </a:p>
        </p:txBody>
      </p:sp>
      <p:pic>
        <p:nvPicPr>
          <p:cNvPr id="5" name="Picture 4" descr="A water body with buildings and boats&#10;&#10;Description automatically generated">
            <a:extLst>
              <a:ext uri="{FF2B5EF4-FFF2-40B4-BE49-F238E27FC236}">
                <a16:creationId xmlns:a16="http://schemas.microsoft.com/office/drawing/2014/main" id="{9F494193-ADC7-ADE5-DD61-E151AD44BA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73" y="2892131"/>
            <a:ext cx="1142365" cy="1871109"/>
          </a:xfrm>
          <a:prstGeom prst="rect">
            <a:avLst/>
          </a:prstGeom>
        </p:spPr>
      </p:pic>
      <p:sp>
        <p:nvSpPr>
          <p:cNvPr id="10" name="TextBox 9">
            <a:extLst>
              <a:ext uri="{FF2B5EF4-FFF2-40B4-BE49-F238E27FC236}">
                <a16:creationId xmlns:a16="http://schemas.microsoft.com/office/drawing/2014/main" id="{023E90B4-E39B-483B-78C8-AA533811FD56}"/>
              </a:ext>
            </a:extLst>
          </p:cNvPr>
          <p:cNvSpPr txBox="1"/>
          <p:nvPr/>
        </p:nvSpPr>
        <p:spPr>
          <a:xfrm>
            <a:off x="1784230" y="2196954"/>
            <a:ext cx="1252715" cy="369332"/>
          </a:xfrm>
          <a:prstGeom prst="rect">
            <a:avLst/>
          </a:prstGeom>
          <a:noFill/>
        </p:spPr>
        <p:txBody>
          <a:bodyPr wrap="none" rtlCol="0">
            <a:spAutoFit/>
          </a:bodyPr>
          <a:lstStyle/>
          <a:p>
            <a:r>
              <a:rPr lang="es-ES" sz="1800" b="1" dirty="0">
                <a:solidFill>
                  <a:srgbClr val="1F4E79"/>
                </a:solidFill>
                <a:effectLst/>
                <a:latin typeface="Segoe UI" panose="020B0502040204020203" pitchFamily="34" charset="0"/>
                <a:ea typeface="Times New Roman" panose="02020603050405020304" pitchFamily="18" charset="0"/>
              </a:rPr>
              <a:t>Róterdam</a:t>
            </a:r>
            <a:endParaRPr lang="en-CH" sz="1800" dirty="0">
              <a:effectLst/>
              <a:latin typeface="Times New Roman" panose="02020603050405020304" pitchFamily="18" charset="0"/>
              <a:ea typeface="Times New Roman" panose="02020603050405020304" pitchFamily="18" charset="0"/>
            </a:endParaRPr>
          </a:p>
        </p:txBody>
      </p:sp>
      <p:pic>
        <p:nvPicPr>
          <p:cNvPr id="12" name="Picture 11" descr="A city with many containers&#10;&#10;Description automatically generated with medium confidence">
            <a:extLst>
              <a:ext uri="{FF2B5EF4-FFF2-40B4-BE49-F238E27FC236}">
                <a16:creationId xmlns:a16="http://schemas.microsoft.com/office/drawing/2014/main" id="{A105F219-8D89-9D60-E144-21A6D132AB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7905" y="2890866"/>
            <a:ext cx="1222705" cy="1871108"/>
          </a:xfrm>
          <a:prstGeom prst="rect">
            <a:avLst/>
          </a:prstGeom>
        </p:spPr>
      </p:pic>
      <p:pic>
        <p:nvPicPr>
          <p:cNvPr id="13" name="Picture 12" descr="A group of cargo ships in a harbor&#10;&#10;Description automatically generated">
            <a:extLst>
              <a:ext uri="{FF2B5EF4-FFF2-40B4-BE49-F238E27FC236}">
                <a16:creationId xmlns:a16="http://schemas.microsoft.com/office/drawing/2014/main" id="{79307654-C1FB-016E-47F5-7837A6BD6CAC}"/>
              </a:ext>
            </a:extLst>
          </p:cNvPr>
          <p:cNvPicPr>
            <a:picLocks noChangeAspect="1"/>
          </p:cNvPicPr>
          <p:nvPr/>
        </p:nvPicPr>
        <p:blipFill>
          <a:blip r:embed="rId5"/>
          <a:stretch>
            <a:fillRect/>
          </a:stretch>
        </p:blipFill>
        <p:spPr>
          <a:xfrm>
            <a:off x="3062135" y="2907122"/>
            <a:ext cx="1056640" cy="1869842"/>
          </a:xfrm>
          <a:prstGeom prst="rect">
            <a:avLst/>
          </a:prstGeom>
        </p:spPr>
      </p:pic>
      <p:sp>
        <p:nvSpPr>
          <p:cNvPr id="17" name="TextBox 16">
            <a:extLst>
              <a:ext uri="{FF2B5EF4-FFF2-40B4-BE49-F238E27FC236}">
                <a16:creationId xmlns:a16="http://schemas.microsoft.com/office/drawing/2014/main" id="{D09CEB80-E1F2-748B-0BFE-3EF342697AB0}"/>
              </a:ext>
            </a:extLst>
          </p:cNvPr>
          <p:cNvSpPr txBox="1"/>
          <p:nvPr/>
        </p:nvSpPr>
        <p:spPr>
          <a:xfrm>
            <a:off x="1184081" y="4846799"/>
            <a:ext cx="2382704" cy="369332"/>
          </a:xfrm>
          <a:prstGeom prst="rect">
            <a:avLst/>
          </a:prstGeom>
          <a:noFill/>
        </p:spPr>
        <p:txBody>
          <a:bodyPr wrap="square">
            <a:spAutoFit/>
          </a:bodyPr>
          <a:lstStyle/>
          <a:p>
            <a:pPr algn="ctr"/>
            <a:r>
              <a:rPr lang="es-ES" sz="1800" b="1" dirty="0">
                <a:solidFill>
                  <a:srgbClr val="1F4E79"/>
                </a:solidFill>
                <a:effectLst/>
                <a:latin typeface="Segoe UI" panose="020B0502040204020203" pitchFamily="34" charset="0"/>
                <a:ea typeface="Times New Roman" panose="02020603050405020304" pitchFamily="18" charset="0"/>
              </a:rPr>
              <a:t>Singapur</a:t>
            </a:r>
            <a:endParaRPr lang="en-CH" sz="2000" dirty="0">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9CF37D88-21B9-DA48-BFA6-1EA88ADBDCA2}"/>
              </a:ext>
            </a:extLst>
          </p:cNvPr>
          <p:cNvSpPr txBox="1"/>
          <p:nvPr/>
        </p:nvSpPr>
        <p:spPr>
          <a:xfrm>
            <a:off x="-32350" y="5557278"/>
            <a:ext cx="5021176" cy="535531"/>
          </a:xfrm>
          <a:prstGeom prst="rect">
            <a:avLst/>
          </a:prstGeom>
          <a:noFill/>
        </p:spPr>
        <p:txBody>
          <a:bodyPr wrap="square">
            <a:spAutoFit/>
          </a:bodyPr>
          <a:lstStyle/>
          <a:p>
            <a:pPr algn="ctr">
              <a:lnSpc>
                <a:spcPct val="90000"/>
              </a:lnSpc>
              <a:spcAft>
                <a:spcPts val="600"/>
              </a:spcAft>
            </a:pPr>
            <a:r>
              <a:rPr lang="en-US" sz="3200" b="1" dirty="0">
                <a:solidFill>
                  <a:schemeClr val="accent5">
                    <a:lumMod val="50000"/>
                  </a:schemeClr>
                </a:solidFill>
                <a:latin typeface="Segoe UI" panose="020B0502040204020203" pitchFamily="34" charset="0"/>
                <a:cs typeface="Segoe UI" panose="020B0502040204020203" pitchFamily="34" charset="0"/>
              </a:rPr>
              <a:t>Estado Actual </a:t>
            </a:r>
            <a:r>
              <a:rPr lang="en-US" sz="3200" b="1" dirty="0" err="1">
                <a:solidFill>
                  <a:schemeClr val="accent5">
                    <a:lumMod val="50000"/>
                  </a:schemeClr>
                </a:solidFill>
                <a:latin typeface="Segoe UI" panose="020B0502040204020203" pitchFamily="34" charset="0"/>
                <a:cs typeface="Segoe UI" panose="020B0502040204020203" pitchFamily="34" charset="0"/>
              </a:rPr>
              <a:t>Chancay</a:t>
            </a:r>
            <a:r>
              <a:rPr lang="en-US" sz="3200" b="1" dirty="0">
                <a:solidFill>
                  <a:schemeClr val="accent5">
                    <a:lumMod val="50000"/>
                  </a:schemeClr>
                </a:solidFill>
                <a:latin typeface="Segoe UI" panose="020B0502040204020203" pitchFamily="34" charset="0"/>
                <a:cs typeface="Segoe UI" panose="020B0502040204020203" pitchFamily="34" charset="0"/>
              </a:rPr>
              <a:t> </a:t>
            </a:r>
          </a:p>
        </p:txBody>
      </p:sp>
      <p:pic>
        <p:nvPicPr>
          <p:cNvPr id="14" name="Picture 13" descr="A large industrial area with white tanks and water&#10;&#10;Description automatically generated with medium confidence">
            <a:extLst>
              <a:ext uri="{FF2B5EF4-FFF2-40B4-BE49-F238E27FC236}">
                <a16:creationId xmlns:a16="http://schemas.microsoft.com/office/drawing/2014/main" id="{57EB130C-70FD-6530-6ABB-F82B63B861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5449" y="325684"/>
            <a:ext cx="1225550" cy="1734888"/>
          </a:xfrm>
          <a:prstGeom prst="rect">
            <a:avLst/>
          </a:prstGeom>
        </p:spPr>
      </p:pic>
      <p:pic>
        <p:nvPicPr>
          <p:cNvPr id="15" name="Picture 14" descr="A large ship in a harbor&#10;&#10;Description automatically generated">
            <a:extLst>
              <a:ext uri="{FF2B5EF4-FFF2-40B4-BE49-F238E27FC236}">
                <a16:creationId xmlns:a16="http://schemas.microsoft.com/office/drawing/2014/main" id="{856B5CF4-F627-4102-391B-C3624DDA9D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2215" y="325684"/>
            <a:ext cx="1149985" cy="1713844"/>
          </a:xfrm>
          <a:prstGeom prst="rect">
            <a:avLst/>
          </a:prstGeom>
        </p:spPr>
      </p:pic>
      <p:pic>
        <p:nvPicPr>
          <p:cNvPr id="16" name="Picture 15" descr="A container ship in a port&#10;&#10;Description automatically generated">
            <a:extLst>
              <a:ext uri="{FF2B5EF4-FFF2-40B4-BE49-F238E27FC236}">
                <a16:creationId xmlns:a16="http://schemas.microsoft.com/office/drawing/2014/main" id="{7677A6AF-FE5D-6255-574A-98BE48A306C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20999" y="325684"/>
            <a:ext cx="1196902" cy="1734888"/>
          </a:xfrm>
          <a:prstGeom prst="rect">
            <a:avLst/>
          </a:prstGeom>
        </p:spPr>
      </p:pic>
    </p:spTree>
    <p:extLst>
      <p:ext uri="{BB962C8B-B14F-4D97-AF65-F5344CB8AC3E}">
        <p14:creationId xmlns:p14="http://schemas.microsoft.com/office/powerpoint/2010/main" val="731526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49CAAD-6238-F702-E3B5-FAEF2E0049DA}"/>
              </a:ext>
            </a:extLst>
          </p:cNvPr>
          <p:cNvSpPr>
            <a:spLocks noGrp="1"/>
          </p:cNvSpPr>
          <p:nvPr>
            <p:ph type="sldNum" sz="quarter" idx="12"/>
          </p:nvPr>
        </p:nvSpPr>
        <p:spPr/>
        <p:txBody>
          <a:bodyPr/>
          <a:lstStyle/>
          <a:p>
            <a:fld id="{6897FFF3-9BE7-6F4B-AB28-3A1D192ED757}" type="slidenum">
              <a:rPr lang="en-CH" smtClean="0"/>
              <a:t>10</a:t>
            </a:fld>
            <a:endParaRPr lang="en-CH" dirty="0"/>
          </a:p>
        </p:txBody>
      </p:sp>
      <p:sp>
        <p:nvSpPr>
          <p:cNvPr id="3" name="TextBox 2">
            <a:extLst>
              <a:ext uri="{FF2B5EF4-FFF2-40B4-BE49-F238E27FC236}">
                <a16:creationId xmlns:a16="http://schemas.microsoft.com/office/drawing/2014/main" id="{084FE8D3-E0BB-F169-0F1D-20B2A40FAC6C}"/>
              </a:ext>
            </a:extLst>
          </p:cNvPr>
          <p:cNvSpPr txBox="1"/>
          <p:nvPr/>
        </p:nvSpPr>
        <p:spPr>
          <a:xfrm>
            <a:off x="302220" y="818557"/>
            <a:ext cx="10275152" cy="1692771"/>
          </a:xfrm>
          <a:prstGeom prst="rect">
            <a:avLst/>
          </a:prstGeom>
          <a:noFill/>
        </p:spPr>
        <p:txBody>
          <a:bodyPr wrap="square" rtlCol="0">
            <a:spAutoFit/>
          </a:bodyPr>
          <a:lstStyle/>
          <a:p>
            <a:pPr algn="ctr"/>
            <a:r>
              <a:rPr lang="en-CH" sz="2600" b="1" dirty="0">
                <a:solidFill>
                  <a:schemeClr val="accent5">
                    <a:lumMod val="50000"/>
                  </a:schemeClr>
                </a:solidFill>
                <a:latin typeface="Segoe UI" panose="020B0502040204020203" pitchFamily="34" charset="0"/>
                <a:cs typeface="Segoe UI" panose="020B0502040204020203" pitchFamily="34" charset="0"/>
              </a:rPr>
              <a:t>R</a:t>
            </a:r>
            <a:r>
              <a:rPr lang="es-ES" sz="2600" b="1" dirty="0" err="1">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ó</a:t>
            </a:r>
            <a:r>
              <a:rPr lang="en-CH" sz="2600" b="1" dirty="0">
                <a:solidFill>
                  <a:schemeClr val="accent5">
                    <a:lumMod val="50000"/>
                  </a:schemeClr>
                </a:solidFill>
                <a:latin typeface="Segoe UI" panose="020B0502040204020203" pitchFamily="34" charset="0"/>
                <a:cs typeface="Segoe UI" panose="020B0502040204020203" pitchFamily="34" charset="0"/>
              </a:rPr>
              <a:t>terdam</a:t>
            </a:r>
          </a:p>
          <a:p>
            <a:pPr algn="ctr"/>
            <a:r>
              <a:rPr lang="es-ES" sz="195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Puerto </a:t>
            </a:r>
            <a:r>
              <a:rPr lang="es-ES_tradnl" sz="195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más  grande de Europa</a:t>
            </a:r>
            <a:r>
              <a:rPr lang="es-ES" sz="195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Interconectado por trenes, ríos, autopistas y oleoductos con todo el continente. </a:t>
            </a:r>
            <a:r>
              <a:rPr lang="es-ES" sz="195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Integra zonas industriales, centros de datos y una ciudad inteligente </a:t>
            </a:r>
            <a:r>
              <a:rPr lang="es-ES" sz="195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de alto valor añadido. </a:t>
            </a:r>
            <a:r>
              <a:rPr lang="es-ES" sz="1950" dirty="0" err="1">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Maasvlakte</a:t>
            </a:r>
            <a:r>
              <a:rPr lang="es-ES" sz="195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gran ampliación artificial ganada al mar</a:t>
            </a:r>
            <a:r>
              <a:rPr lang="es-ES" sz="1950" b="1"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rPr>
              <a:t>, </a:t>
            </a:r>
            <a:r>
              <a:rPr lang="es-ES" sz="1950" b="1" dirty="0">
                <a:solidFill>
                  <a:srgbClr val="C00000"/>
                </a:solidFill>
                <a:latin typeface="Segoe UI" panose="020B0502040204020203" pitchFamily="34" charset="0"/>
                <a:ea typeface="Times New Roman" panose="02020603050405020304" pitchFamily="18" charset="0"/>
                <a:cs typeface="Segoe UI" panose="020B0502040204020203" pitchFamily="34" charset="0"/>
              </a:rPr>
              <a:t>c</a:t>
            </a:r>
            <a:r>
              <a:rPr lang="es-ES" sz="195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onsolidó el rol</a:t>
            </a:r>
            <a:r>
              <a:rPr lang="es-ES" sz="195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r>
              <a:rPr lang="es-ES" sz="195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del Puerto</a:t>
            </a:r>
            <a:r>
              <a:rPr lang="es-ES" sz="195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como </a:t>
            </a:r>
            <a:r>
              <a:rPr lang="es-ES" sz="1950" b="1" u="sng"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Hub logístico Europeo</a:t>
            </a:r>
            <a:endParaRPr lang="es-ES" sz="19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p:txBody>
      </p:sp>
      <p:sp>
        <p:nvSpPr>
          <p:cNvPr id="4" name="TextBox 3">
            <a:extLst>
              <a:ext uri="{FF2B5EF4-FFF2-40B4-BE49-F238E27FC236}">
                <a16:creationId xmlns:a16="http://schemas.microsoft.com/office/drawing/2014/main" id="{8E2298A7-6A33-9BFA-E221-470B285D41F6}"/>
              </a:ext>
            </a:extLst>
          </p:cNvPr>
          <p:cNvSpPr txBox="1"/>
          <p:nvPr/>
        </p:nvSpPr>
        <p:spPr>
          <a:xfrm>
            <a:off x="495793" y="2900357"/>
            <a:ext cx="10023413" cy="1723549"/>
          </a:xfrm>
          <a:prstGeom prst="rect">
            <a:avLst/>
          </a:prstGeom>
          <a:noFill/>
        </p:spPr>
        <p:txBody>
          <a:bodyPr wrap="square" rtlCol="0">
            <a:spAutoFit/>
          </a:bodyPr>
          <a:lstStyle/>
          <a:p>
            <a:pPr algn="ctr"/>
            <a:r>
              <a:rPr lang="en-CH" sz="2600" b="1" dirty="0">
                <a:solidFill>
                  <a:schemeClr val="accent5">
                    <a:lumMod val="50000"/>
                  </a:schemeClr>
                </a:solidFill>
                <a:latin typeface="Segoe UI" panose="020B0502040204020203" pitchFamily="34" charset="0"/>
                <a:cs typeface="Segoe UI" panose="020B0502040204020203" pitchFamily="34" charset="0"/>
              </a:rPr>
              <a:t>Singapur</a:t>
            </a:r>
          </a:p>
          <a:p>
            <a:pPr algn="ctr"/>
            <a:r>
              <a:rPr lang="es-ES" sz="2000" b="1" dirty="0">
                <a:solidFill>
                  <a:srgbClr val="C00000"/>
                </a:solidFill>
                <a:latin typeface="Segoe UI" panose="020B0502040204020203" pitchFamily="34" charset="0"/>
                <a:ea typeface="Times New Roman" panose="02020603050405020304" pitchFamily="18" charset="0"/>
              </a:rPr>
              <a:t>R</a:t>
            </a:r>
            <a:r>
              <a:rPr lang="es-ES" sz="2000" b="1" dirty="0">
                <a:solidFill>
                  <a:srgbClr val="C00000"/>
                </a:solidFill>
                <a:effectLst/>
                <a:latin typeface="Segoe UI" panose="020B0502040204020203" pitchFamily="34" charset="0"/>
                <a:ea typeface="Times New Roman" panose="02020603050405020304" pitchFamily="18" charset="0"/>
              </a:rPr>
              <a:t>epresenta el estándar mundial de automatización y eficiencia portuaria</a:t>
            </a:r>
            <a:r>
              <a:rPr lang="es-ES" sz="2000" dirty="0">
                <a:solidFill>
                  <a:schemeClr val="accent5">
                    <a:lumMod val="50000"/>
                  </a:schemeClr>
                </a:solidFill>
                <a:effectLst/>
                <a:latin typeface="Segoe UI" panose="020B0502040204020203" pitchFamily="34" charset="0"/>
                <a:ea typeface="Times New Roman" panose="02020603050405020304" pitchFamily="18" charset="0"/>
              </a:rPr>
              <a:t>. </a:t>
            </a:r>
          </a:p>
          <a:p>
            <a:pPr algn="ctr"/>
            <a:r>
              <a:rPr lang="es-ES" sz="2000" dirty="0">
                <a:solidFill>
                  <a:schemeClr val="accent5">
                    <a:lumMod val="50000"/>
                  </a:schemeClr>
                </a:solidFill>
                <a:latin typeface="Segoe UI" panose="020B0502040204020203" pitchFamily="34" charset="0"/>
                <a:ea typeface="Times New Roman" panose="02020603050405020304" pitchFamily="18" charset="0"/>
              </a:rPr>
              <a:t>s</a:t>
            </a:r>
            <a:r>
              <a:rPr lang="es-ES" sz="2000" dirty="0">
                <a:solidFill>
                  <a:schemeClr val="accent5">
                    <a:lumMod val="50000"/>
                  </a:schemeClr>
                </a:solidFill>
                <a:effectLst/>
                <a:latin typeface="Segoe UI" panose="020B0502040204020203" pitchFamily="34" charset="0"/>
                <a:ea typeface="Times New Roman" panose="02020603050405020304" pitchFamily="18" charset="0"/>
              </a:rPr>
              <a:t>u nuevo puerto de </a:t>
            </a:r>
            <a:r>
              <a:rPr lang="es-ES" sz="2000" dirty="0" err="1">
                <a:solidFill>
                  <a:schemeClr val="accent5">
                    <a:lumMod val="50000"/>
                  </a:schemeClr>
                </a:solidFill>
                <a:effectLst/>
                <a:latin typeface="Segoe UI" panose="020B0502040204020203" pitchFamily="34" charset="0"/>
                <a:ea typeface="Times New Roman" panose="02020603050405020304" pitchFamily="18" charset="0"/>
              </a:rPr>
              <a:t>Tuas</a:t>
            </a:r>
            <a:r>
              <a:rPr lang="es-ES" sz="2000" dirty="0">
                <a:solidFill>
                  <a:schemeClr val="accent5">
                    <a:lumMod val="50000"/>
                  </a:schemeClr>
                </a:solidFill>
                <a:effectLst/>
                <a:latin typeface="Segoe UI" panose="020B0502040204020203" pitchFamily="34" charset="0"/>
                <a:ea typeface="Times New Roman" panose="02020603050405020304" pitchFamily="18" charset="0"/>
              </a:rPr>
              <a:t> - totalmente automatizado - </a:t>
            </a:r>
            <a:r>
              <a:rPr lang="es-ES" sz="2000" b="1" dirty="0">
                <a:solidFill>
                  <a:schemeClr val="accent5">
                    <a:lumMod val="50000"/>
                  </a:schemeClr>
                </a:solidFill>
                <a:effectLst/>
                <a:latin typeface="Segoe UI" panose="020B0502040204020203" pitchFamily="34" charset="0"/>
                <a:ea typeface="Times New Roman" panose="02020603050405020304" pitchFamily="18" charset="0"/>
              </a:rPr>
              <a:t>se integra con parques industriales</a:t>
            </a:r>
            <a:r>
              <a:rPr lang="es-ES" sz="2000" dirty="0">
                <a:solidFill>
                  <a:schemeClr val="accent5">
                    <a:lumMod val="50000"/>
                  </a:schemeClr>
                </a:solidFill>
                <a:effectLst/>
                <a:latin typeface="Segoe UI" panose="020B0502040204020203" pitchFamily="34" charset="0"/>
                <a:ea typeface="Times New Roman" panose="02020603050405020304" pitchFamily="18" charset="0"/>
              </a:rPr>
              <a:t>, zonas francas, IA y una infraestructura digital de primer nivel. </a:t>
            </a:r>
          </a:p>
          <a:p>
            <a:pPr algn="ctr"/>
            <a:r>
              <a:rPr lang="es-ES" sz="2000" b="1" u="sng" dirty="0">
                <a:solidFill>
                  <a:srgbClr val="C00000"/>
                </a:solidFill>
                <a:latin typeface="Segoe UI" panose="020B0502040204020203" pitchFamily="34" charset="0"/>
                <a:ea typeface="Times New Roman" panose="02020603050405020304" pitchFamily="18" charset="0"/>
                <a:cs typeface="Segoe UI" panose="020B0502040204020203" pitchFamily="34" charset="0"/>
              </a:rPr>
              <a:t>Hub </a:t>
            </a:r>
            <a:r>
              <a:rPr lang="es-ES" sz="2000" b="1" u="sng"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logístico </a:t>
            </a:r>
            <a:r>
              <a:rPr lang="es-ES" sz="2000" b="1" u="sng" dirty="0" err="1">
                <a:solidFill>
                  <a:srgbClr val="C00000"/>
                </a:solidFill>
                <a:effectLst/>
                <a:latin typeface="Segoe UI" panose="020B0502040204020203" pitchFamily="34" charset="0"/>
                <a:ea typeface="Times New Roman" panose="02020603050405020304" pitchFamily="18" charset="0"/>
              </a:rPr>
              <a:t>Asi</a:t>
            </a:r>
            <a:r>
              <a:rPr lang="es-ES_tradnl" sz="2000" b="1" u="sng" dirty="0">
                <a:solidFill>
                  <a:srgbClr val="C00000"/>
                </a:solidFill>
                <a:latin typeface="Segoe UI" panose="020B0502040204020203" pitchFamily="34" charset="0"/>
                <a:cs typeface="Segoe UI" panose="020B0502040204020203" pitchFamily="34" charset="0"/>
              </a:rPr>
              <a:t>á</a:t>
            </a:r>
            <a:r>
              <a:rPr lang="es-ES" sz="2000" b="1" u="sng" dirty="0">
                <a:solidFill>
                  <a:srgbClr val="C00000"/>
                </a:solidFill>
                <a:effectLst/>
                <a:latin typeface="Segoe UI" panose="020B0502040204020203" pitchFamily="34" charset="0"/>
                <a:ea typeface="Times New Roman" panose="02020603050405020304" pitchFamily="18" charset="0"/>
              </a:rPr>
              <a:t>tico</a:t>
            </a:r>
            <a:endParaRPr lang="en-CH" sz="2000" b="1" u="sng" dirty="0">
              <a:solidFill>
                <a:srgbClr val="C00000"/>
              </a:solidFill>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0A729CD8-4DCF-A733-7150-BCE0D9C8A7F9}"/>
              </a:ext>
            </a:extLst>
          </p:cNvPr>
          <p:cNvSpPr txBox="1"/>
          <p:nvPr/>
        </p:nvSpPr>
        <p:spPr>
          <a:xfrm>
            <a:off x="285287" y="4893726"/>
            <a:ext cx="10594383" cy="1446550"/>
          </a:xfrm>
          <a:prstGeom prst="rect">
            <a:avLst/>
          </a:prstGeom>
          <a:noFill/>
        </p:spPr>
        <p:txBody>
          <a:bodyPr wrap="square" rtlCol="0">
            <a:spAutoFit/>
          </a:bodyPr>
          <a:lstStyle/>
          <a:p>
            <a:pPr algn="ctr"/>
            <a:r>
              <a:rPr lang="es-ES" sz="2600" b="1" dirty="0">
                <a:solidFill>
                  <a:srgbClr val="1F4E79"/>
                </a:solidFill>
                <a:effectLst/>
                <a:latin typeface="Segoe UI" panose="020B0502040204020203" pitchFamily="34" charset="0"/>
                <a:ea typeface="Times New Roman" panose="02020603050405020304" pitchFamily="18" charset="0"/>
              </a:rPr>
              <a:t>Róterdam y </a:t>
            </a:r>
            <a:r>
              <a:rPr lang="es-ES" sz="2600" b="1" dirty="0">
                <a:solidFill>
                  <a:schemeClr val="accent5">
                    <a:lumMod val="50000"/>
                  </a:schemeClr>
                </a:solidFill>
                <a:effectLst/>
                <a:latin typeface="Segoe UI" panose="020B0502040204020203" pitchFamily="34" charset="0"/>
                <a:ea typeface="Times New Roman" panose="02020603050405020304" pitchFamily="18" charset="0"/>
              </a:rPr>
              <a:t>Singapur</a:t>
            </a:r>
            <a:r>
              <a:rPr lang="es-ES" sz="2600" dirty="0">
                <a:solidFill>
                  <a:schemeClr val="accent5">
                    <a:lumMod val="50000"/>
                  </a:schemeClr>
                </a:solidFill>
                <a:effectLst/>
                <a:latin typeface="Segoe UI" panose="020B0502040204020203" pitchFamily="34" charset="0"/>
                <a:ea typeface="Times New Roman" panose="02020603050405020304" pitchFamily="18" charset="0"/>
              </a:rPr>
              <a:t> </a:t>
            </a:r>
          </a:p>
          <a:p>
            <a:pPr algn="ctr"/>
            <a:r>
              <a:rPr lang="es-ES" sz="2000" b="1" dirty="0">
                <a:solidFill>
                  <a:srgbClr val="C00000"/>
                </a:solidFill>
                <a:latin typeface="Segoe UI" panose="020B0502040204020203" pitchFamily="34" charset="0"/>
                <a:ea typeface="Times New Roman" panose="02020603050405020304" pitchFamily="18" charset="0"/>
                <a:cs typeface="Segoe UI" panose="020B0502040204020203" pitchFamily="34" charset="0"/>
              </a:rPr>
              <a:t>Sus</a:t>
            </a:r>
            <a:r>
              <a:rPr lang="es-ES" sz="20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 éxitos </a:t>
            </a:r>
            <a:r>
              <a:rPr lang="en-CH" sz="20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responden a décadas de inversión sostenida</a:t>
            </a:r>
            <a:r>
              <a:rPr lang="es-ES" sz="20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planificación territorial, interoperabilidad logística y </a:t>
            </a:r>
            <a:r>
              <a:rPr lang="es-ES" sz="2000" b="1" u="sng"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una visión de Estado clara</a:t>
            </a:r>
            <a:r>
              <a:rPr lang="es-ES" sz="20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r>
              <a:rPr lang="en-CH" sz="20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que transformó a sus </a:t>
            </a:r>
            <a:r>
              <a:rPr lang="en-CH" sz="20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puertos en motores del desarrollo nacional.</a:t>
            </a:r>
          </a:p>
        </p:txBody>
      </p:sp>
      <p:pic>
        <p:nvPicPr>
          <p:cNvPr id="8" name="Picture 7" descr="A large ship in a harbor&#10;&#10;Description automatically generated">
            <a:extLst>
              <a:ext uri="{FF2B5EF4-FFF2-40B4-BE49-F238E27FC236}">
                <a16:creationId xmlns:a16="http://schemas.microsoft.com/office/drawing/2014/main" id="{70C3F14D-154E-9D4F-E2D6-17B059D0F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7570" y="1656743"/>
            <a:ext cx="1149985" cy="1713844"/>
          </a:xfrm>
          <a:prstGeom prst="rect">
            <a:avLst/>
          </a:prstGeom>
        </p:spPr>
      </p:pic>
      <p:pic>
        <p:nvPicPr>
          <p:cNvPr id="9" name="Picture 8" descr="A group of cargo ships in a harbor&#10;&#10;Description automatically generated">
            <a:extLst>
              <a:ext uri="{FF2B5EF4-FFF2-40B4-BE49-F238E27FC236}">
                <a16:creationId xmlns:a16="http://schemas.microsoft.com/office/drawing/2014/main" id="{1C190C5A-49ED-9CCC-8072-4617D7BEFED8}"/>
              </a:ext>
            </a:extLst>
          </p:cNvPr>
          <p:cNvPicPr>
            <a:picLocks noChangeAspect="1"/>
          </p:cNvPicPr>
          <p:nvPr/>
        </p:nvPicPr>
        <p:blipFill>
          <a:blip r:embed="rId3"/>
          <a:stretch>
            <a:fillRect/>
          </a:stretch>
        </p:blipFill>
        <p:spPr>
          <a:xfrm>
            <a:off x="10898594" y="3670659"/>
            <a:ext cx="1149985" cy="1869842"/>
          </a:xfrm>
          <a:prstGeom prst="rect">
            <a:avLst/>
          </a:prstGeom>
        </p:spPr>
      </p:pic>
      <p:sp>
        <p:nvSpPr>
          <p:cNvPr id="10" name="Google Shape;423;p7">
            <a:extLst>
              <a:ext uri="{FF2B5EF4-FFF2-40B4-BE49-F238E27FC236}">
                <a16:creationId xmlns:a16="http://schemas.microsoft.com/office/drawing/2014/main" id="{B8E20416-0135-5007-4CC2-67C5B368C429}"/>
              </a:ext>
            </a:extLst>
          </p:cNvPr>
          <p:cNvSpPr/>
          <p:nvPr/>
        </p:nvSpPr>
        <p:spPr>
          <a:xfrm>
            <a:off x="0" y="-43440"/>
            <a:ext cx="12192000" cy="689741"/>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es-ES" sz="32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Chancay entre </a:t>
            </a:r>
            <a:r>
              <a:rPr lang="en-CH" sz="3200" b="1" dirty="0">
                <a:solidFill>
                  <a:schemeClr val="bg1"/>
                </a:solidFill>
                <a:latin typeface="Segoe UI" panose="020B0502040204020203" pitchFamily="34" charset="0"/>
                <a:cs typeface="Segoe UI" panose="020B0502040204020203" pitchFamily="34" charset="0"/>
              </a:rPr>
              <a:t>R</a:t>
            </a:r>
            <a:r>
              <a:rPr lang="es-ES" sz="3200" b="1" dirty="0" err="1">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ó</a:t>
            </a:r>
            <a:r>
              <a:rPr lang="en-CH" sz="3200" b="1" dirty="0">
                <a:solidFill>
                  <a:schemeClr val="bg1"/>
                </a:solidFill>
                <a:latin typeface="Segoe UI" panose="020B0502040204020203" pitchFamily="34" charset="0"/>
                <a:cs typeface="Segoe UI" panose="020B0502040204020203" pitchFamily="34" charset="0"/>
              </a:rPr>
              <a:t>terdam y Singapur</a:t>
            </a:r>
            <a:endParaRPr lang="es-ES" sz="32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a:p>
            <a:pPr algn="ctr"/>
            <a:endParaRPr lang="es-ES_tradnl" sz="2800" b="1" i="0" u="none" strike="noStrike" dirty="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3583634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583D82-AB8B-323F-3D98-F15D920FDF11}"/>
              </a:ext>
            </a:extLst>
          </p:cNvPr>
          <p:cNvSpPr>
            <a:spLocks noGrp="1"/>
          </p:cNvSpPr>
          <p:nvPr>
            <p:ph type="sldNum" sz="quarter" idx="12"/>
          </p:nvPr>
        </p:nvSpPr>
        <p:spPr/>
        <p:txBody>
          <a:bodyPr/>
          <a:lstStyle/>
          <a:p>
            <a:fld id="{6897FFF3-9BE7-6F4B-AB28-3A1D192ED757}" type="slidenum">
              <a:rPr lang="en-CH" smtClean="0"/>
              <a:t>11</a:t>
            </a:fld>
            <a:endParaRPr lang="en-CH"/>
          </a:p>
        </p:txBody>
      </p:sp>
      <p:sp>
        <p:nvSpPr>
          <p:cNvPr id="6" name="Google Shape;423;p7">
            <a:extLst>
              <a:ext uri="{FF2B5EF4-FFF2-40B4-BE49-F238E27FC236}">
                <a16:creationId xmlns:a16="http://schemas.microsoft.com/office/drawing/2014/main" id="{F0A128B0-0708-ED3A-5D40-B48AC73DDDF9}"/>
              </a:ext>
            </a:extLst>
          </p:cNvPr>
          <p:cNvSpPr/>
          <p:nvPr/>
        </p:nvSpPr>
        <p:spPr>
          <a:xfrm>
            <a:off x="0" y="28671"/>
            <a:ext cx="12192000" cy="655455"/>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a:solidFill>
                <a:schemeClr val="bg1"/>
              </a:solidFill>
              <a:effectLst/>
              <a:latin typeface="Montserrat" pitchFamily="2" charset="77"/>
            </a:endParaRPr>
          </a:p>
          <a:p>
            <a:pPr algn="ctr"/>
            <a:r>
              <a:rPr lang="es-ES" sz="2800" b="1">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Capacidad Técnica Actual y Proyectada</a:t>
            </a:r>
            <a:endParaRPr lang="es-ES" sz="2800" b="1" i="1">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a:p>
            <a:pPr algn="ctr"/>
            <a:endParaRPr lang="es-ES_tradnl" sz="2800" b="1" i="0" u="none" strike="noStrike">
              <a:solidFill>
                <a:schemeClr val="bg1"/>
              </a:solidFill>
              <a:effectLst/>
              <a:latin typeface="Open Sans" panose="020B0606030504020204" pitchFamily="34" charset="0"/>
            </a:endParaRPr>
          </a:p>
        </p:txBody>
      </p:sp>
      <p:graphicFrame>
        <p:nvGraphicFramePr>
          <p:cNvPr id="7" name="Table 6">
            <a:extLst>
              <a:ext uri="{FF2B5EF4-FFF2-40B4-BE49-F238E27FC236}">
                <a16:creationId xmlns:a16="http://schemas.microsoft.com/office/drawing/2014/main" id="{5443B8F5-B21A-2C34-59CF-3A5BC277B5D0}"/>
              </a:ext>
            </a:extLst>
          </p:cNvPr>
          <p:cNvGraphicFramePr>
            <a:graphicFrameLocks noGrp="1"/>
          </p:cNvGraphicFramePr>
          <p:nvPr>
            <p:extLst>
              <p:ext uri="{D42A27DB-BD31-4B8C-83A1-F6EECF244321}">
                <p14:modId xmlns:p14="http://schemas.microsoft.com/office/powerpoint/2010/main" val="1228330813"/>
              </p:ext>
            </p:extLst>
          </p:nvPr>
        </p:nvGraphicFramePr>
        <p:xfrm>
          <a:off x="219456" y="812651"/>
          <a:ext cx="11731912" cy="2159566"/>
        </p:xfrm>
        <a:graphic>
          <a:graphicData uri="http://schemas.openxmlformats.org/drawingml/2006/table">
            <a:tbl>
              <a:tblPr firstRow="1" firstCol="1" bandRow="1">
                <a:tableStyleId>{5C22544A-7EE6-4342-B048-85BDC9FD1C3A}</a:tableStyleId>
              </a:tblPr>
              <a:tblGrid>
                <a:gridCol w="2069496">
                  <a:extLst>
                    <a:ext uri="{9D8B030D-6E8A-4147-A177-3AD203B41FA5}">
                      <a16:colId xmlns:a16="http://schemas.microsoft.com/office/drawing/2014/main" val="4217844696"/>
                    </a:ext>
                  </a:extLst>
                </a:gridCol>
                <a:gridCol w="3092517">
                  <a:extLst>
                    <a:ext uri="{9D8B030D-6E8A-4147-A177-3AD203B41FA5}">
                      <a16:colId xmlns:a16="http://schemas.microsoft.com/office/drawing/2014/main" val="2160843503"/>
                    </a:ext>
                  </a:extLst>
                </a:gridCol>
                <a:gridCol w="3477718">
                  <a:extLst>
                    <a:ext uri="{9D8B030D-6E8A-4147-A177-3AD203B41FA5}">
                      <a16:colId xmlns:a16="http://schemas.microsoft.com/office/drawing/2014/main" val="971255390"/>
                    </a:ext>
                  </a:extLst>
                </a:gridCol>
                <a:gridCol w="3092181">
                  <a:extLst>
                    <a:ext uri="{9D8B030D-6E8A-4147-A177-3AD203B41FA5}">
                      <a16:colId xmlns:a16="http://schemas.microsoft.com/office/drawing/2014/main" val="4189960061"/>
                    </a:ext>
                  </a:extLst>
                </a:gridCol>
              </a:tblGrid>
              <a:tr h="353452">
                <a:tc>
                  <a:txBody>
                    <a:bodyPr/>
                    <a:lstStyle/>
                    <a:p>
                      <a:pPr algn="ctr"/>
                      <a:r>
                        <a:rPr lang="es-ES" sz="1800" kern="100" dirty="0">
                          <a:effectLst/>
                        </a:rPr>
                        <a:t>Característica</a:t>
                      </a:r>
                      <a:endParaRPr lang="en-CH" sz="18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s-ES" sz="1800" kern="100" dirty="0">
                          <a:effectLst/>
                        </a:rPr>
                        <a:t>Chancay, PE</a:t>
                      </a:r>
                      <a:endParaRPr lang="en-CH" sz="18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s-ES" sz="1800" kern="100" dirty="0">
                          <a:effectLst/>
                        </a:rPr>
                        <a:t>Roterdam, NL</a:t>
                      </a:r>
                      <a:endParaRPr lang="en-CH" sz="18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s-ES" sz="1800" kern="100" dirty="0">
                          <a:effectLst/>
                        </a:rPr>
                        <a:t>Singapur</a:t>
                      </a:r>
                      <a:endParaRPr lang="en-CH" sz="18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0662419"/>
                  </a:ext>
                </a:extLst>
              </a:tr>
              <a:tr h="456505">
                <a:tc>
                  <a:txBody>
                    <a:bodyPr/>
                    <a:lstStyle/>
                    <a:p>
                      <a:r>
                        <a:rPr lang="es-ES" sz="1600" kern="100" dirty="0">
                          <a:effectLst/>
                        </a:rPr>
                        <a:t>Estado general</a:t>
                      </a:r>
                      <a:endParaRPr lang="en-CH" sz="16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Fase II operativa 2025</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Totalmente operativo, expansión continua</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Totalmente operativo, en transición a </a:t>
                      </a:r>
                      <a:r>
                        <a:rPr lang="es-ES" sz="1600" kern="100" err="1">
                          <a:solidFill>
                            <a:schemeClr val="accent5">
                              <a:lumMod val="50000"/>
                            </a:schemeClr>
                          </a:solidFill>
                          <a:effectLst/>
                        </a:rPr>
                        <a:t>Tuas</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71846133"/>
                  </a:ext>
                </a:extLst>
              </a:tr>
              <a:tr h="494974">
                <a:tc>
                  <a:txBody>
                    <a:bodyPr/>
                    <a:lstStyle/>
                    <a:p>
                      <a:r>
                        <a:rPr lang="es-ES" sz="1600" kern="100" dirty="0">
                          <a:effectLst/>
                        </a:rPr>
                        <a:t>Capacidad actual de </a:t>
                      </a:r>
                      <a:r>
                        <a:rPr lang="es-ES" sz="1600" kern="100" dirty="0" err="1">
                          <a:effectLst/>
                        </a:rPr>
                        <a:t>TEUs</a:t>
                      </a:r>
                      <a:r>
                        <a:rPr lang="es-ES" sz="1600" kern="100" dirty="0">
                          <a:effectLst/>
                        </a:rPr>
                        <a:t> </a:t>
                      </a:r>
                      <a:endParaRPr lang="en-CH" sz="16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2 millones </a:t>
                      </a:r>
                      <a:r>
                        <a:rPr lang="es-ES" sz="1600" kern="100" dirty="0" err="1">
                          <a:solidFill>
                            <a:schemeClr val="accent5">
                              <a:lumMod val="50000"/>
                            </a:schemeClr>
                          </a:solidFill>
                          <a:effectLst/>
                        </a:rPr>
                        <a:t>TEUs</a:t>
                      </a:r>
                      <a:r>
                        <a:rPr lang="es-ES" sz="1600" kern="100" dirty="0">
                          <a:solidFill>
                            <a:schemeClr val="accent5">
                              <a:lumMod val="50000"/>
                            </a:schemeClr>
                          </a:solidFill>
                          <a:effectLst/>
                        </a:rPr>
                        <a:t> Fase II</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+15 millones </a:t>
                      </a:r>
                      <a:r>
                        <a:rPr lang="es-ES" sz="1600" kern="100" err="1">
                          <a:solidFill>
                            <a:schemeClr val="accent5">
                              <a:lumMod val="50000"/>
                            </a:schemeClr>
                          </a:solidFill>
                          <a:effectLst/>
                        </a:rPr>
                        <a:t>TEUs</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+37 millones TEUs (2023)</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883822262"/>
                  </a:ext>
                </a:extLst>
              </a:tr>
              <a:tr h="434977">
                <a:tc>
                  <a:txBody>
                    <a:bodyPr/>
                    <a:lstStyle/>
                    <a:p>
                      <a:r>
                        <a:rPr lang="es-ES" sz="1600" kern="100" dirty="0">
                          <a:effectLst/>
                        </a:rPr>
                        <a:t>Profundidad-calado</a:t>
                      </a:r>
                      <a:endParaRPr lang="en-CH" sz="16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~20 metros. Muelles multipropósito y contenedores</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Hasta 24 metros (</a:t>
                      </a:r>
                      <a:r>
                        <a:rPr lang="es-ES" sz="1600" kern="100" err="1">
                          <a:solidFill>
                            <a:schemeClr val="accent5">
                              <a:lumMod val="50000"/>
                            </a:schemeClr>
                          </a:solidFill>
                          <a:effectLst/>
                        </a:rPr>
                        <a:t>Maasvlakte</a:t>
                      </a:r>
                      <a:r>
                        <a:rPr lang="es-ES" sz="1600" kern="100">
                          <a:solidFill>
                            <a:schemeClr val="accent5">
                              <a:lumMod val="50000"/>
                            </a:schemeClr>
                          </a:solidFill>
                          <a:effectLst/>
                        </a:rPr>
                        <a:t> 2)</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Hasta 20 metros (Puerto de Tuas)</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1661664"/>
                  </a:ext>
                </a:extLst>
              </a:tr>
              <a:tr h="335780">
                <a:tc>
                  <a:txBody>
                    <a:bodyPr/>
                    <a:lstStyle/>
                    <a:p>
                      <a:r>
                        <a:rPr lang="es-ES" sz="1600" kern="100" dirty="0">
                          <a:effectLst/>
                        </a:rPr>
                        <a:t>Área total</a:t>
                      </a:r>
                      <a:endParaRPr lang="en-CH" sz="16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+1,000 ha (plan maestro)</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a:solidFill>
                            <a:schemeClr val="accent5">
                              <a:lumMod val="50000"/>
                            </a:schemeClr>
                          </a:solidFill>
                          <a:effectLst/>
                        </a:rPr>
                        <a:t>+12,500 ha</a:t>
                      </a:r>
                      <a:endParaRPr lang="en-CH" sz="16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r>
                        <a:rPr lang="es-ES" sz="1600" kern="100" dirty="0">
                          <a:solidFill>
                            <a:schemeClr val="accent5">
                              <a:lumMod val="50000"/>
                            </a:schemeClr>
                          </a:solidFill>
                          <a:effectLst/>
                        </a:rPr>
                        <a:t>~3,200 ha</a:t>
                      </a:r>
                      <a:endParaRPr lang="en-CH" sz="16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7743635"/>
                  </a:ext>
                </a:extLst>
              </a:tr>
            </a:tbl>
          </a:graphicData>
        </a:graphic>
      </p:graphicFrame>
      <p:graphicFrame>
        <p:nvGraphicFramePr>
          <p:cNvPr id="10" name="Table 9">
            <a:extLst>
              <a:ext uri="{FF2B5EF4-FFF2-40B4-BE49-F238E27FC236}">
                <a16:creationId xmlns:a16="http://schemas.microsoft.com/office/drawing/2014/main" id="{CC414081-F2BC-2D39-5BDF-78F33FA2A170}"/>
              </a:ext>
            </a:extLst>
          </p:cNvPr>
          <p:cNvGraphicFramePr>
            <a:graphicFrameLocks noGrp="1"/>
          </p:cNvGraphicFramePr>
          <p:nvPr/>
        </p:nvGraphicFramePr>
        <p:xfrm>
          <a:off x="219455" y="3460308"/>
          <a:ext cx="11731914" cy="3206254"/>
        </p:xfrm>
        <a:graphic>
          <a:graphicData uri="http://schemas.openxmlformats.org/drawingml/2006/table">
            <a:tbl>
              <a:tblPr firstRow="1" firstCol="1" bandRow="1">
                <a:tableStyleId>{5C22544A-7EE6-4342-B048-85BDC9FD1C3A}</a:tableStyleId>
              </a:tblPr>
              <a:tblGrid>
                <a:gridCol w="2037339">
                  <a:extLst>
                    <a:ext uri="{9D8B030D-6E8A-4147-A177-3AD203B41FA5}">
                      <a16:colId xmlns:a16="http://schemas.microsoft.com/office/drawing/2014/main" val="1532507298"/>
                    </a:ext>
                  </a:extLst>
                </a:gridCol>
                <a:gridCol w="3168418">
                  <a:extLst>
                    <a:ext uri="{9D8B030D-6E8A-4147-A177-3AD203B41FA5}">
                      <a16:colId xmlns:a16="http://schemas.microsoft.com/office/drawing/2014/main" val="2844767700"/>
                    </a:ext>
                  </a:extLst>
                </a:gridCol>
                <a:gridCol w="2977789">
                  <a:extLst>
                    <a:ext uri="{9D8B030D-6E8A-4147-A177-3AD203B41FA5}">
                      <a16:colId xmlns:a16="http://schemas.microsoft.com/office/drawing/2014/main" val="2253376550"/>
                    </a:ext>
                  </a:extLst>
                </a:gridCol>
                <a:gridCol w="3548368">
                  <a:extLst>
                    <a:ext uri="{9D8B030D-6E8A-4147-A177-3AD203B41FA5}">
                      <a16:colId xmlns:a16="http://schemas.microsoft.com/office/drawing/2014/main" val="4244448280"/>
                    </a:ext>
                  </a:extLst>
                </a:gridCol>
              </a:tblGrid>
              <a:tr h="280174">
                <a:tc>
                  <a:txBody>
                    <a:bodyPr/>
                    <a:lstStyle/>
                    <a:p>
                      <a:pPr algn="ctr"/>
                      <a:r>
                        <a:rPr lang="es-ES" sz="1800" kern="100" dirty="0">
                          <a:effectLst/>
                        </a:rPr>
                        <a:t>Elemento</a:t>
                      </a:r>
                      <a:endParaRPr lang="en-CH"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ES" sz="1800" kern="100" dirty="0">
                          <a:effectLst/>
                        </a:rPr>
                        <a:t>Chancay</a:t>
                      </a:r>
                      <a:endParaRPr lang="en-CH"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ES" sz="1800" kern="100" dirty="0">
                          <a:effectLst/>
                        </a:rPr>
                        <a:t>Roterdam</a:t>
                      </a:r>
                      <a:endParaRPr lang="en-CH"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ES" sz="1800" kern="100" dirty="0">
                          <a:effectLst/>
                        </a:rPr>
                        <a:t>Singapur</a:t>
                      </a:r>
                      <a:endParaRPr lang="en-CH" sz="1800" dirty="0"/>
                    </a:p>
                  </a:txBody>
                  <a:tcPr marL="68580" marR="68580" marT="0" marB="0"/>
                </a:tc>
                <a:extLst>
                  <a:ext uri="{0D108BD9-81ED-4DB2-BD59-A6C34878D82A}">
                    <a16:rowId xmlns:a16="http://schemas.microsoft.com/office/drawing/2014/main" val="1960826725"/>
                  </a:ext>
                </a:extLst>
              </a:tr>
              <a:tr h="826512">
                <a:tc>
                  <a:txBody>
                    <a:bodyPr/>
                    <a:lstStyle/>
                    <a:p>
                      <a:r>
                        <a:rPr lang="es-ES" sz="1600" kern="100" dirty="0">
                          <a:effectLst/>
                        </a:rPr>
                        <a:t>Grúas automatizadas</a:t>
                      </a:r>
                      <a:endParaRPr lang="en-CH"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a:solidFill>
                            <a:schemeClr val="accent5">
                              <a:lumMod val="50000"/>
                            </a:schemeClr>
                          </a:solidFill>
                          <a:effectLst/>
                        </a:rPr>
                        <a:t>Grúas </a:t>
                      </a:r>
                      <a:r>
                        <a:rPr lang="es-ES" sz="1600" kern="100" dirty="0" err="1">
                          <a:solidFill>
                            <a:schemeClr val="accent5">
                              <a:lumMod val="50000"/>
                            </a:schemeClr>
                          </a:solidFill>
                          <a:effectLst/>
                        </a:rPr>
                        <a:t>Ship</a:t>
                      </a:r>
                      <a:r>
                        <a:rPr lang="es-ES" sz="1600" kern="100" dirty="0">
                          <a:solidFill>
                            <a:schemeClr val="accent5">
                              <a:lumMod val="50000"/>
                            </a:schemeClr>
                          </a:solidFill>
                          <a:effectLst/>
                        </a:rPr>
                        <a:t>-</a:t>
                      </a:r>
                      <a:r>
                        <a:rPr lang="es-ES" sz="1600" kern="100" dirty="0" err="1">
                          <a:solidFill>
                            <a:schemeClr val="accent5">
                              <a:lumMod val="50000"/>
                            </a:schemeClr>
                          </a:solidFill>
                          <a:effectLst/>
                        </a:rPr>
                        <a:t>to</a:t>
                      </a:r>
                      <a:r>
                        <a:rPr lang="es-ES" sz="1600" kern="100" dirty="0">
                          <a:solidFill>
                            <a:schemeClr val="accent5">
                              <a:lumMod val="50000"/>
                            </a:schemeClr>
                          </a:solidFill>
                          <a:effectLst/>
                        </a:rPr>
                        <a:t>-Shore (STS) y Rail-</a:t>
                      </a:r>
                      <a:r>
                        <a:rPr lang="es-ES" sz="1600" kern="100" dirty="0" err="1">
                          <a:solidFill>
                            <a:schemeClr val="accent5">
                              <a:lumMod val="50000"/>
                            </a:schemeClr>
                          </a:solidFill>
                          <a:effectLst/>
                        </a:rPr>
                        <a:t>Mounted</a:t>
                      </a:r>
                      <a:r>
                        <a:rPr lang="es-ES" sz="1600" kern="100" dirty="0">
                          <a:solidFill>
                            <a:schemeClr val="accent5">
                              <a:lumMod val="50000"/>
                            </a:schemeClr>
                          </a:solidFill>
                          <a:effectLst/>
                        </a:rPr>
                        <a:t> </a:t>
                      </a:r>
                      <a:r>
                        <a:rPr lang="es-ES" sz="1600" kern="100" dirty="0" err="1">
                          <a:solidFill>
                            <a:schemeClr val="accent5">
                              <a:lumMod val="50000"/>
                            </a:schemeClr>
                          </a:solidFill>
                          <a:effectLst/>
                        </a:rPr>
                        <a:t>Gantry</a:t>
                      </a:r>
                      <a:r>
                        <a:rPr lang="es-ES" sz="1600" kern="100" dirty="0">
                          <a:solidFill>
                            <a:schemeClr val="accent5">
                              <a:lumMod val="50000"/>
                            </a:schemeClr>
                          </a:solidFill>
                          <a:effectLst/>
                        </a:rPr>
                        <a:t> (RMG). </a:t>
                      </a:r>
                      <a:endParaRPr lang="en-CH" sz="1600" kern="100" dirty="0">
                        <a:solidFill>
                          <a:schemeClr val="accent5">
                            <a:lumMod val="50000"/>
                          </a:schemeClr>
                        </a:solidFill>
                        <a:effectLst/>
                      </a:endParaRPr>
                    </a:p>
                    <a:p>
                      <a:r>
                        <a:rPr lang="es-ES" sz="1600" kern="100" dirty="0">
                          <a:solidFill>
                            <a:schemeClr val="accent5">
                              <a:lumMod val="50000"/>
                            </a:schemeClr>
                          </a:solidFill>
                          <a:effectLst/>
                        </a:rPr>
                        <a:t>100% automatizadas. </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 </a:t>
                      </a:r>
                    </a:p>
                    <a:p>
                      <a:r>
                        <a:rPr lang="es-ES" sz="1600" kern="100" dirty="0">
                          <a:solidFill>
                            <a:schemeClr val="accent5">
                              <a:lumMod val="50000"/>
                            </a:schemeClr>
                          </a:solidFill>
                          <a:effectLst/>
                        </a:rPr>
                        <a:t>APMT Maasvlakte2 -Terminal de contenedores, </a:t>
                      </a:r>
                      <a:r>
                        <a:rPr lang="es-ES" sz="1600" kern="100" dirty="0" err="1">
                          <a:solidFill>
                            <a:schemeClr val="accent5">
                              <a:lumMod val="50000"/>
                            </a:schemeClr>
                          </a:solidFill>
                          <a:effectLst/>
                        </a:rPr>
                        <a:t>Terminals</a:t>
                      </a:r>
                      <a:r>
                        <a:rPr lang="es-ES" sz="1600" kern="100" dirty="0">
                          <a:solidFill>
                            <a:schemeClr val="accent5">
                              <a:lumMod val="50000"/>
                            </a:schemeClr>
                          </a:solidFill>
                          <a:effectLst/>
                        </a:rPr>
                        <a:t> APM.</a:t>
                      </a:r>
                      <a:r>
                        <a:rPr lang="en-CH" sz="1600" kern="100" dirty="0">
                          <a:solidFill>
                            <a:schemeClr val="accent5">
                              <a:lumMod val="50000"/>
                            </a:schemeClr>
                          </a:solidFill>
                          <a:effectLst/>
                        </a:rPr>
                        <a:t> </a:t>
                      </a:r>
                      <a:r>
                        <a:rPr lang="es-ES" sz="1600" kern="100" dirty="0">
                          <a:solidFill>
                            <a:schemeClr val="accent5">
                              <a:lumMod val="50000"/>
                            </a:schemeClr>
                          </a:solidFill>
                          <a:effectLst/>
                        </a:rPr>
                        <a:t>100% automatizada</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a:solidFill>
                            <a:schemeClr val="accent5">
                              <a:lumMod val="50000"/>
                            </a:schemeClr>
                          </a:solidFill>
                          <a:effectLst/>
                        </a:rPr>
                        <a:t>Puerto </a:t>
                      </a:r>
                      <a:r>
                        <a:rPr lang="es-ES" sz="1600" kern="100" dirty="0" err="1">
                          <a:solidFill>
                            <a:schemeClr val="accent5">
                              <a:lumMod val="50000"/>
                            </a:schemeClr>
                          </a:solidFill>
                          <a:effectLst/>
                        </a:rPr>
                        <a:t>Tuas</a:t>
                      </a:r>
                      <a:r>
                        <a:rPr lang="es-ES" sz="1600" kern="100" dirty="0">
                          <a:solidFill>
                            <a:schemeClr val="accent5">
                              <a:lumMod val="50000"/>
                            </a:schemeClr>
                          </a:solidFill>
                          <a:effectLst/>
                        </a:rPr>
                        <a:t> se100% automatizado.</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60309165"/>
                  </a:ext>
                </a:extLst>
              </a:tr>
              <a:tr h="280174">
                <a:tc>
                  <a:txBody>
                    <a:bodyPr/>
                    <a:lstStyle/>
                    <a:p>
                      <a:r>
                        <a:rPr lang="es-ES" sz="1600" kern="100" dirty="0">
                          <a:effectLst/>
                        </a:rPr>
                        <a:t>Vehículos AGV 2 (sin conductor)</a:t>
                      </a:r>
                      <a:endParaRPr lang="en-CH"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Previsto.</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a:solidFill>
                            <a:schemeClr val="accent5">
                              <a:lumMod val="50000"/>
                            </a:schemeClr>
                          </a:solidFill>
                          <a:effectLst/>
                        </a:rPr>
                        <a:t>Pruebas en varias terminales</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a:solidFill>
                            <a:schemeClr val="accent5">
                              <a:lumMod val="50000"/>
                            </a:schemeClr>
                          </a:solidFill>
                          <a:effectLst/>
                        </a:rPr>
                        <a:t>Pruebas desde 2018.</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19046730"/>
                  </a:ext>
                </a:extLst>
              </a:tr>
              <a:tr h="546338">
                <a:tc>
                  <a:txBody>
                    <a:bodyPr/>
                    <a:lstStyle/>
                    <a:p>
                      <a:r>
                        <a:rPr lang="es-ES" sz="1600" kern="100">
                          <a:effectLst/>
                        </a:rPr>
                        <a:t>Gestión portuaria digital</a:t>
                      </a:r>
                      <a:endParaRPr lang="en-CH"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Previsto.</a:t>
                      </a:r>
                    </a:p>
                    <a:p>
                      <a:r>
                        <a:rPr lang="es-ES" sz="1600" kern="100" dirty="0">
                          <a:solidFill>
                            <a:schemeClr val="accent5">
                              <a:lumMod val="50000"/>
                            </a:schemeClr>
                          </a:solidFill>
                          <a:effectLst/>
                        </a:rPr>
                        <a:t>Con plataformas integradas.</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err="1">
                          <a:solidFill>
                            <a:schemeClr val="accent5">
                              <a:lumMod val="50000"/>
                            </a:schemeClr>
                          </a:solidFill>
                          <a:effectLst/>
                        </a:rPr>
                        <a:t>Portbase</a:t>
                      </a:r>
                      <a:r>
                        <a:rPr lang="es-ES" sz="1600" kern="100" dirty="0">
                          <a:solidFill>
                            <a:schemeClr val="accent5">
                              <a:lumMod val="50000"/>
                            </a:schemeClr>
                          </a:solidFill>
                          <a:effectLst/>
                        </a:rPr>
                        <a:t>: plataforma nacional de datos.</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Sí.</a:t>
                      </a:r>
                    </a:p>
                    <a:p>
                      <a:r>
                        <a:rPr lang="es-ES" sz="1600" kern="100" dirty="0" err="1">
                          <a:solidFill>
                            <a:schemeClr val="accent5">
                              <a:lumMod val="50000"/>
                            </a:schemeClr>
                          </a:solidFill>
                          <a:effectLst/>
                        </a:rPr>
                        <a:t>SGTradeX</a:t>
                      </a:r>
                      <a:r>
                        <a:rPr lang="es-ES" sz="1600" kern="100" dirty="0">
                          <a:solidFill>
                            <a:schemeClr val="accent5">
                              <a:lumMod val="50000"/>
                            </a:schemeClr>
                          </a:solidFill>
                          <a:effectLst/>
                        </a:rPr>
                        <a:t>: agiliza trámites y decisiones. </a:t>
                      </a:r>
                      <a:r>
                        <a:rPr lang="es-ES" sz="1600" kern="100" dirty="0" err="1">
                          <a:solidFill>
                            <a:schemeClr val="accent5">
                              <a:lumMod val="50000"/>
                            </a:schemeClr>
                          </a:solidFill>
                          <a:effectLst/>
                        </a:rPr>
                        <a:t>NextGen</a:t>
                      </a:r>
                      <a:r>
                        <a:rPr lang="es-ES" sz="1600" kern="100" dirty="0">
                          <a:solidFill>
                            <a:schemeClr val="accent5">
                              <a:lumMod val="50000"/>
                            </a:schemeClr>
                          </a:solidFill>
                          <a:effectLst/>
                        </a:rPr>
                        <a:t> Port - automatización, energías limpias y eficiencia operativa. </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4475866"/>
                  </a:ext>
                </a:extLst>
              </a:tr>
              <a:tr h="266164">
                <a:tc>
                  <a:txBody>
                    <a:bodyPr/>
                    <a:lstStyle/>
                    <a:p>
                      <a:r>
                        <a:rPr lang="es-ES" sz="1600" kern="100">
                          <a:effectLst/>
                        </a:rPr>
                        <a:t>Inteligencia Artificial</a:t>
                      </a:r>
                      <a:endParaRPr lang="en-CH"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En diseño.</a:t>
                      </a:r>
                    </a:p>
                    <a:p>
                      <a:r>
                        <a:rPr lang="es-ES" sz="1600" kern="100" dirty="0">
                          <a:solidFill>
                            <a:schemeClr val="accent5">
                              <a:lumMod val="50000"/>
                            </a:schemeClr>
                          </a:solidFill>
                          <a:effectLst/>
                        </a:rPr>
                        <a:t>Gestión logística futura.</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Si.</a:t>
                      </a:r>
                    </a:p>
                    <a:p>
                      <a:r>
                        <a:rPr lang="es-ES" sz="1600" kern="100" dirty="0">
                          <a:solidFill>
                            <a:schemeClr val="accent5">
                              <a:lumMod val="50000"/>
                            </a:schemeClr>
                          </a:solidFill>
                          <a:effectLst/>
                        </a:rPr>
                        <a:t>Predicción y logística.</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s-ES" sz="1600" kern="100" dirty="0">
                          <a:solidFill>
                            <a:schemeClr val="accent5">
                              <a:lumMod val="50000"/>
                            </a:schemeClr>
                          </a:solidFill>
                          <a:effectLst/>
                        </a:rPr>
                        <a:t>Si.</a:t>
                      </a:r>
                    </a:p>
                    <a:p>
                      <a:r>
                        <a:rPr lang="es-ES" sz="1600" kern="100" dirty="0">
                          <a:solidFill>
                            <a:schemeClr val="accent5">
                              <a:lumMod val="50000"/>
                            </a:schemeClr>
                          </a:solidFill>
                          <a:effectLst/>
                        </a:rPr>
                        <a:t>Predicción y optimización. </a:t>
                      </a:r>
                      <a:endParaRPr lang="en-CH" sz="1600" kern="10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1938806"/>
                  </a:ext>
                </a:extLst>
              </a:tr>
            </a:tbl>
          </a:graphicData>
        </a:graphic>
      </p:graphicFrame>
      <p:sp>
        <p:nvSpPr>
          <p:cNvPr id="12" name="TextBox 11">
            <a:extLst>
              <a:ext uri="{FF2B5EF4-FFF2-40B4-BE49-F238E27FC236}">
                <a16:creationId xmlns:a16="http://schemas.microsoft.com/office/drawing/2014/main" id="{E057C557-707D-9542-E58E-198C9F19C1B7}"/>
              </a:ext>
            </a:extLst>
          </p:cNvPr>
          <p:cNvSpPr txBox="1"/>
          <p:nvPr/>
        </p:nvSpPr>
        <p:spPr>
          <a:xfrm>
            <a:off x="3049524" y="3052883"/>
            <a:ext cx="6099048" cy="430887"/>
          </a:xfrm>
          <a:prstGeom prst="rect">
            <a:avLst/>
          </a:prstGeom>
          <a:noFill/>
        </p:spPr>
        <p:txBody>
          <a:bodyPr wrap="square">
            <a:spAutoFit/>
          </a:bodyPr>
          <a:lstStyle/>
          <a:p>
            <a:pPr algn="ctr"/>
            <a:r>
              <a:rPr lang="es-ES" sz="2200" b="1" dirty="0">
                <a:solidFill>
                  <a:schemeClr val="accent5">
                    <a:lumMod val="50000"/>
                  </a:schemeClr>
                </a:solidFill>
                <a:effectLst/>
                <a:latin typeface="Segoe UI" panose="020B0502040204020203" pitchFamily="34" charset="0"/>
                <a:ea typeface="Times New Roman" panose="02020603050405020304" pitchFamily="18" charset="0"/>
              </a:rPr>
              <a:t>Nivel Actual de Automatización</a:t>
            </a:r>
            <a:endParaRPr lang="en-CH" sz="2200" dirty="0">
              <a:solidFill>
                <a:schemeClr val="accent5">
                  <a:lumMod val="50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21067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5F496D-28B5-0EBB-465E-25F991B01F50}"/>
              </a:ext>
            </a:extLst>
          </p:cNvPr>
          <p:cNvSpPr>
            <a:spLocks noGrp="1"/>
          </p:cNvSpPr>
          <p:nvPr>
            <p:ph type="sldNum" sz="quarter" idx="12"/>
          </p:nvPr>
        </p:nvSpPr>
        <p:spPr>
          <a:xfrm>
            <a:off x="8610600" y="6356350"/>
            <a:ext cx="2743200" cy="365125"/>
          </a:xfrm>
        </p:spPr>
        <p:txBody>
          <a:bodyPr>
            <a:normAutofit/>
          </a:bodyPr>
          <a:lstStyle/>
          <a:p>
            <a:pPr>
              <a:spcAft>
                <a:spcPts val="600"/>
              </a:spcAft>
            </a:pPr>
            <a:fld id="{6897FFF3-9BE7-6F4B-AB28-3A1D192ED757}" type="slidenum">
              <a:rPr lang="en-CH" smtClean="0"/>
              <a:pPr>
                <a:spcAft>
                  <a:spcPts val="600"/>
                </a:spcAft>
              </a:pPr>
              <a:t>12</a:t>
            </a:fld>
            <a:endParaRPr lang="en-CH"/>
          </a:p>
        </p:txBody>
      </p:sp>
      <p:graphicFrame>
        <p:nvGraphicFramePr>
          <p:cNvPr id="3" name="Table 2">
            <a:extLst>
              <a:ext uri="{FF2B5EF4-FFF2-40B4-BE49-F238E27FC236}">
                <a16:creationId xmlns:a16="http://schemas.microsoft.com/office/drawing/2014/main" id="{C40408D2-8E4B-22CD-C797-E8222DF29BC5}"/>
              </a:ext>
            </a:extLst>
          </p:cNvPr>
          <p:cNvGraphicFramePr>
            <a:graphicFrameLocks noGrp="1"/>
          </p:cNvGraphicFramePr>
          <p:nvPr>
            <p:extLst>
              <p:ext uri="{D42A27DB-BD31-4B8C-83A1-F6EECF244321}">
                <p14:modId xmlns:p14="http://schemas.microsoft.com/office/powerpoint/2010/main" val="3144557006"/>
              </p:ext>
            </p:extLst>
          </p:nvPr>
        </p:nvGraphicFramePr>
        <p:xfrm>
          <a:off x="289284" y="1037728"/>
          <a:ext cx="11613431" cy="4590249"/>
        </p:xfrm>
        <a:graphic>
          <a:graphicData uri="http://schemas.openxmlformats.org/drawingml/2006/table">
            <a:tbl>
              <a:tblPr firstRow="1" firstCol="1" bandRow="1">
                <a:tableStyleId>{5C22544A-7EE6-4342-B048-85BDC9FD1C3A}</a:tableStyleId>
              </a:tblPr>
              <a:tblGrid>
                <a:gridCol w="2649313">
                  <a:extLst>
                    <a:ext uri="{9D8B030D-6E8A-4147-A177-3AD203B41FA5}">
                      <a16:colId xmlns:a16="http://schemas.microsoft.com/office/drawing/2014/main" val="1565668401"/>
                    </a:ext>
                  </a:extLst>
                </a:gridCol>
                <a:gridCol w="3267856">
                  <a:extLst>
                    <a:ext uri="{9D8B030D-6E8A-4147-A177-3AD203B41FA5}">
                      <a16:colId xmlns:a16="http://schemas.microsoft.com/office/drawing/2014/main" val="480311925"/>
                    </a:ext>
                  </a:extLst>
                </a:gridCol>
                <a:gridCol w="2946094">
                  <a:extLst>
                    <a:ext uri="{9D8B030D-6E8A-4147-A177-3AD203B41FA5}">
                      <a16:colId xmlns:a16="http://schemas.microsoft.com/office/drawing/2014/main" val="2489060623"/>
                    </a:ext>
                  </a:extLst>
                </a:gridCol>
                <a:gridCol w="2750168">
                  <a:extLst>
                    <a:ext uri="{9D8B030D-6E8A-4147-A177-3AD203B41FA5}">
                      <a16:colId xmlns:a16="http://schemas.microsoft.com/office/drawing/2014/main" val="2797096454"/>
                    </a:ext>
                  </a:extLst>
                </a:gridCol>
              </a:tblGrid>
              <a:tr h="641123">
                <a:tc>
                  <a:txBody>
                    <a:bodyPr/>
                    <a:lstStyle/>
                    <a:p>
                      <a:pPr algn="ctr"/>
                      <a:r>
                        <a:rPr lang="es-ES" sz="2000" kern="100" dirty="0">
                          <a:effectLst/>
                        </a:rPr>
                        <a:t>Servicios</a:t>
                      </a:r>
                    </a:p>
                    <a:p>
                      <a:pPr algn="ctr"/>
                      <a:r>
                        <a:rPr lang="es-ES" sz="2000" kern="100" dirty="0">
                          <a:effectLst/>
                        </a:rPr>
                        <a:t>Infraestructura</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pPr algn="ctr"/>
                      <a:r>
                        <a:rPr lang="es-ES" sz="2000" kern="100" dirty="0">
                          <a:effectLst/>
                        </a:rPr>
                        <a:t>Chancay</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pPr algn="ctr"/>
                      <a:r>
                        <a:rPr lang="es-ES" sz="2000" kern="100" dirty="0">
                          <a:effectLst/>
                        </a:rPr>
                        <a:t>Roterdam</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pPr algn="ctr"/>
                      <a:r>
                        <a:rPr lang="es-ES" sz="2000" kern="100" dirty="0">
                          <a:effectLst/>
                        </a:rPr>
                        <a:t>Singapur</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832884751"/>
                  </a:ext>
                </a:extLst>
              </a:tr>
              <a:tr h="682171">
                <a:tc>
                  <a:txBody>
                    <a:bodyPr/>
                    <a:lstStyle/>
                    <a:p>
                      <a:r>
                        <a:rPr lang="es-ES" sz="2000" kern="100" dirty="0">
                          <a:effectLst/>
                        </a:rPr>
                        <a:t>Contenedores</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Terminales automatizados.</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Terminales, como APM, ECT, etc. </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Altamente optimizado.</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410493292"/>
                  </a:ext>
                </a:extLst>
              </a:tr>
              <a:tr h="421329">
                <a:tc>
                  <a:txBody>
                    <a:bodyPr/>
                    <a:lstStyle/>
                    <a:p>
                      <a:r>
                        <a:rPr lang="es-ES" sz="2000" kern="100" dirty="0">
                          <a:effectLst/>
                        </a:rPr>
                        <a:t>Granel / Carga general</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Multipropósito</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a:solidFill>
                            <a:schemeClr val="accent5">
                              <a:lumMod val="50000"/>
                            </a:schemeClr>
                          </a:solidFill>
                          <a:effectLst/>
                        </a:rPr>
                        <a:t>Sí</a:t>
                      </a:r>
                      <a:endParaRPr lang="en-CH" sz="18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2400019969"/>
                  </a:ext>
                </a:extLst>
              </a:tr>
              <a:tr h="884957">
                <a:tc>
                  <a:txBody>
                    <a:bodyPr/>
                    <a:lstStyle/>
                    <a:p>
                      <a:r>
                        <a:rPr lang="es-ES" sz="2000" kern="100" dirty="0">
                          <a:effectLst/>
                        </a:rPr>
                        <a:t>Zonas logísticas e industriales</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En desarrollo - Zona Logística e Industrial Portuaria.</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a:t>
                      </a:r>
                      <a:r>
                        <a:rPr lang="es-ES" sz="1800" kern="100" dirty="0" err="1">
                          <a:solidFill>
                            <a:schemeClr val="accent5">
                              <a:lumMod val="50000"/>
                            </a:schemeClr>
                          </a:solidFill>
                          <a:effectLst/>
                        </a:rPr>
                        <a:t>Maasvlakte</a:t>
                      </a:r>
                      <a:r>
                        <a:rPr lang="es-ES" sz="1800" kern="100" dirty="0">
                          <a:solidFill>
                            <a:schemeClr val="accent5">
                              <a:lumMod val="50000"/>
                            </a:schemeClr>
                          </a:solidFill>
                          <a:effectLst/>
                        </a:rPr>
                        <a:t> y </a:t>
                      </a:r>
                      <a:r>
                        <a:rPr lang="es-ES" sz="1800" kern="100" dirty="0" err="1">
                          <a:solidFill>
                            <a:schemeClr val="accent5">
                              <a:lumMod val="50000"/>
                            </a:schemeClr>
                          </a:solidFill>
                          <a:effectLst/>
                        </a:rPr>
                        <a:t>Europort</a:t>
                      </a:r>
                      <a:r>
                        <a:rPr lang="es-ES" sz="1800" kern="100" dirty="0">
                          <a:solidFill>
                            <a:schemeClr val="accent5">
                              <a:lumMod val="50000"/>
                            </a:schemeClr>
                          </a:solidFill>
                          <a:effectLst/>
                        </a:rPr>
                        <a:t>.</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Sí - </a:t>
                      </a:r>
                      <a:r>
                        <a:rPr lang="es-ES" sz="1800" kern="100" dirty="0" err="1">
                          <a:solidFill>
                            <a:schemeClr val="accent5">
                              <a:lumMod val="50000"/>
                            </a:schemeClr>
                          </a:solidFill>
                          <a:effectLst/>
                        </a:rPr>
                        <a:t>Jurong</a:t>
                      </a:r>
                      <a:r>
                        <a:rPr lang="es-ES" sz="1800" kern="100" dirty="0">
                          <a:solidFill>
                            <a:schemeClr val="accent5">
                              <a:lumMod val="50000"/>
                            </a:schemeClr>
                          </a:solidFill>
                          <a:effectLst/>
                        </a:rPr>
                        <a:t> Island, zonas francas.</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2457244824"/>
                  </a:ext>
                </a:extLst>
              </a:tr>
              <a:tr h="696685">
                <a:tc>
                  <a:txBody>
                    <a:bodyPr/>
                    <a:lstStyle/>
                    <a:p>
                      <a:r>
                        <a:rPr lang="es-ES" sz="2000" kern="100" dirty="0">
                          <a:effectLst/>
                        </a:rPr>
                        <a:t>Aduanas y servicios digitales</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Previsto digital e integrado</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Completamente digitalizados</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a:solidFill>
                            <a:schemeClr val="accent5">
                              <a:lumMod val="50000"/>
                            </a:schemeClr>
                          </a:solidFill>
                          <a:effectLst/>
                        </a:rPr>
                        <a:t>Avanzado, con blockchain y AI</a:t>
                      </a:r>
                      <a:endParaRPr lang="en-CH" sz="1800" b="1" kern="10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3226971903"/>
                  </a:ext>
                </a:extLst>
              </a:tr>
              <a:tr h="1263984">
                <a:tc>
                  <a:txBody>
                    <a:bodyPr/>
                    <a:lstStyle/>
                    <a:p>
                      <a:r>
                        <a:rPr lang="es-ES" sz="2000" kern="100" dirty="0">
                          <a:effectLst/>
                        </a:rPr>
                        <a:t>Intermodalidad</a:t>
                      </a:r>
                      <a:endParaRPr lang="en-CH" sz="2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Conexión carretera-ferroviaria, Tren bioceánico (proyecto a futuro) </a:t>
                      </a:r>
                      <a:endParaRPr lang="en-CH" sz="1800" b="1" kern="10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Ferrocarril, barcazas, autopistas, oleoductos</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tc>
                  <a:txBody>
                    <a:bodyPr/>
                    <a:lstStyle/>
                    <a:p>
                      <a:r>
                        <a:rPr lang="es-ES" sz="1800" kern="100" dirty="0">
                          <a:solidFill>
                            <a:schemeClr val="accent5">
                              <a:lumMod val="50000"/>
                            </a:schemeClr>
                          </a:solidFill>
                          <a:effectLst/>
                        </a:rPr>
                        <a:t>Ferrocarril, conexión aérea, flota marítima</a:t>
                      </a:r>
                      <a:endParaRPr lang="en-CH" sz="1800" b="1"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145907" marR="145907" marT="0" marB="0" anchor="ctr"/>
                </a:tc>
                <a:extLst>
                  <a:ext uri="{0D108BD9-81ED-4DB2-BD59-A6C34878D82A}">
                    <a16:rowId xmlns:a16="http://schemas.microsoft.com/office/drawing/2014/main" val="788320020"/>
                  </a:ext>
                </a:extLst>
              </a:tr>
            </a:tbl>
          </a:graphicData>
        </a:graphic>
      </p:graphicFrame>
      <p:sp>
        <p:nvSpPr>
          <p:cNvPr id="7" name="Google Shape;423;p7">
            <a:extLst>
              <a:ext uri="{FF2B5EF4-FFF2-40B4-BE49-F238E27FC236}">
                <a16:creationId xmlns:a16="http://schemas.microsoft.com/office/drawing/2014/main" id="{71FA4EBC-67D9-9D94-A082-FD0AF2872ABA}"/>
              </a:ext>
            </a:extLst>
          </p:cNvPr>
          <p:cNvSpPr/>
          <p:nvPr/>
        </p:nvSpPr>
        <p:spPr>
          <a:xfrm>
            <a:off x="0" y="28671"/>
            <a:ext cx="12192000" cy="689741"/>
          </a:xfrm>
          <a:prstGeom prst="rect">
            <a:avLst/>
          </a:prstGeom>
          <a:solidFill>
            <a:srgbClr val="C41927"/>
          </a:solidFill>
          <a:ln>
            <a:noFill/>
          </a:ln>
        </p:spPr>
        <p:txBody>
          <a:bodyPr spcFirstLastPara="1" wrap="square" lIns="91425" tIns="45700" rIns="91425" bIns="45700" anchor="ctr" anchorCtr="0">
            <a:noAutofit/>
          </a:bodyPr>
          <a:lstStyle/>
          <a:p>
            <a:pPr algn="ctr"/>
            <a:r>
              <a:rPr lang="es-ES" sz="2800" b="1" dirty="0">
                <a:solidFill>
                  <a:schemeClr val="bg1"/>
                </a:solidFill>
                <a:effectLst/>
                <a:latin typeface="Segoe UI" panose="020B0502040204020203" pitchFamily="34" charset="0"/>
                <a:ea typeface="Times New Roman" panose="02020603050405020304" pitchFamily="18" charset="0"/>
              </a:rPr>
              <a:t>Servicios Actualmente Ofrecidos</a:t>
            </a:r>
            <a:endParaRPr lang="en-CH" sz="28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4642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2765620"/>
            <a:ext cx="6309552" cy="1446550"/>
          </a:xfrm>
          <a:prstGeom prst="rect">
            <a:avLst/>
          </a:prstGeom>
        </p:spPr>
        <p:txBody>
          <a:bodyPr wrap="square">
            <a:spAutoFit/>
          </a:bodyPr>
          <a:lstStyle/>
          <a:p>
            <a:pPr marL="0" indent="0" algn="ctr">
              <a:buNone/>
            </a:pPr>
            <a:r>
              <a:rPr lang="es-ES_tradnl" sz="4400" b="1" dirty="0">
                <a:solidFill>
                  <a:schemeClr val="accent5">
                    <a:lumMod val="50000"/>
                  </a:schemeClr>
                </a:solidFill>
                <a:latin typeface="Segoe UI" panose="020B0502040204020203" pitchFamily="34" charset="0"/>
                <a:cs typeface="Segoe UI" panose="020B0502040204020203" pitchFamily="34" charset="0"/>
              </a:rPr>
              <a:t>Perfiles Profesionales Requeridos en Chancay</a:t>
            </a:r>
          </a:p>
        </p:txBody>
      </p:sp>
      <p:sp>
        <p:nvSpPr>
          <p:cNvPr id="4" name="Slide Number Placeholder 3"/>
          <p:cNvSpPr>
            <a:spLocks noGrp="1"/>
          </p:cNvSpPr>
          <p:nvPr>
            <p:ph type="sldNum" sz="quarter" idx="12"/>
          </p:nvPr>
        </p:nvSpPr>
        <p:spPr/>
        <p:txBody>
          <a:bodyPr/>
          <a:lstStyle/>
          <a:p>
            <a:fld id="{D739C4FB-7D33-419B-8833-D1372BFD11C8}" type="slidenum">
              <a:rPr lang="en-US" smtClean="0"/>
              <a:t>13</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900421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1A1D23-251B-0F74-F174-06C4D0F27A0F}"/>
              </a:ext>
            </a:extLst>
          </p:cNvPr>
          <p:cNvSpPr>
            <a:spLocks noGrp="1"/>
          </p:cNvSpPr>
          <p:nvPr>
            <p:ph type="sldNum" sz="quarter" idx="12"/>
          </p:nvPr>
        </p:nvSpPr>
        <p:spPr/>
        <p:txBody>
          <a:bodyPr/>
          <a:lstStyle/>
          <a:p>
            <a:fld id="{6897FFF3-9BE7-6F4B-AB28-3A1D192ED757}" type="slidenum">
              <a:rPr lang="en-CH" smtClean="0"/>
              <a:t>14</a:t>
            </a:fld>
            <a:endParaRPr lang="en-CH"/>
          </a:p>
        </p:txBody>
      </p:sp>
      <p:sp>
        <p:nvSpPr>
          <p:cNvPr id="4" name="TextBox 3">
            <a:extLst>
              <a:ext uri="{FF2B5EF4-FFF2-40B4-BE49-F238E27FC236}">
                <a16:creationId xmlns:a16="http://schemas.microsoft.com/office/drawing/2014/main" id="{1E55DFF1-CE41-9583-3DB6-AA32647470EF}"/>
              </a:ext>
            </a:extLst>
          </p:cNvPr>
          <p:cNvSpPr txBox="1"/>
          <p:nvPr/>
        </p:nvSpPr>
        <p:spPr>
          <a:xfrm>
            <a:off x="325579" y="664170"/>
            <a:ext cx="6186055" cy="5416868"/>
          </a:xfrm>
          <a:prstGeom prst="rect">
            <a:avLst/>
          </a:prstGeom>
          <a:noFill/>
        </p:spPr>
        <p:txBody>
          <a:bodyPr wrap="square">
            <a:spAutoFit/>
          </a:bodyPr>
          <a:lstStyle/>
          <a:p>
            <a:r>
              <a:rPr lang="es-ES_tradnl" b="1" dirty="0">
                <a:solidFill>
                  <a:schemeClr val="accent5">
                    <a:lumMod val="50000"/>
                  </a:schemeClr>
                </a:solidFill>
                <a:latin typeface="Segoe UI" panose="020B0502040204020203" pitchFamily="34" charset="0"/>
                <a:cs typeface="Segoe UI" panose="020B0502040204020203" pitchFamily="34" charset="0"/>
              </a:rPr>
              <a:t>Especialistas Profesionales y Técnicos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Ingenierías: Industrial, Civil, Logística, Electrónica, Sistemas, TI, IA, automatización, software y sistemas de control</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Transporte, metalmecánica, mantenimiento, manufactura, obras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Gestión de datos y analítica operativa</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Salud ocupacional y medio ambiente</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Gestión de proyectos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Ciberseguridad</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Comercio exterior y cadenas de suministro</a:t>
            </a:r>
          </a:p>
          <a:p>
            <a:pPr marL="285750" indent="-285750">
              <a:buFont typeface="Arial" panose="020B0604020202020204" pitchFamily="34" charset="0"/>
              <a:buChar char="•"/>
            </a:pPr>
            <a:endParaRPr lang="es-ES_tradnl" sz="1000" dirty="0">
              <a:solidFill>
                <a:schemeClr val="accent5">
                  <a:lumMod val="50000"/>
                </a:schemeClr>
              </a:solidFill>
              <a:latin typeface="Segoe UI" panose="020B0502040204020203" pitchFamily="34" charset="0"/>
              <a:cs typeface="Segoe UI" panose="020B0502040204020203" pitchFamily="34" charset="0"/>
            </a:endParaRPr>
          </a:p>
          <a:p>
            <a:endParaRPr lang="es-ES_tradnl" sz="1000" b="1" dirty="0">
              <a:solidFill>
                <a:schemeClr val="accent5">
                  <a:lumMod val="50000"/>
                </a:schemeClr>
              </a:solidFill>
              <a:latin typeface="Segoe UI" panose="020B0502040204020203" pitchFamily="34" charset="0"/>
              <a:cs typeface="Segoe UI" panose="020B0502040204020203" pitchFamily="34" charset="0"/>
            </a:endParaRPr>
          </a:p>
          <a:p>
            <a:r>
              <a:rPr lang="es-ES_tradnl" b="1" dirty="0">
                <a:solidFill>
                  <a:schemeClr val="accent5">
                    <a:lumMod val="50000"/>
                  </a:schemeClr>
                </a:solidFill>
                <a:latin typeface="Segoe UI" panose="020B0502040204020203" pitchFamily="34" charset="0"/>
                <a:cs typeface="Segoe UI" panose="020B0502040204020203" pitchFamily="34" charset="0"/>
              </a:rPr>
              <a:t>Finanzas y Talento Humano</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Business </a:t>
            </a:r>
            <a:r>
              <a:rPr lang="es-ES_tradnl" sz="1600" dirty="0" err="1">
                <a:solidFill>
                  <a:schemeClr val="accent5">
                    <a:lumMod val="50000"/>
                  </a:schemeClr>
                </a:solidFill>
                <a:latin typeface="Segoe UI" panose="020B0502040204020203" pitchFamily="34" charset="0"/>
                <a:cs typeface="Segoe UI" panose="020B0502040204020203" pitchFamily="34" charset="0"/>
              </a:rPr>
              <a:t>Intelligence</a:t>
            </a:r>
            <a:r>
              <a:rPr lang="es-ES_tradnl" sz="1600" dirty="0">
                <a:solidFill>
                  <a:schemeClr val="accent5">
                    <a:lumMod val="50000"/>
                  </a:schemeClr>
                </a:solidFill>
                <a:latin typeface="Segoe UI" panose="020B0502040204020203" pitchFamily="34" charset="0"/>
                <a:cs typeface="Segoe UI" panose="020B0502040204020203" pitchFamily="34" charset="0"/>
              </a:rPr>
              <a:t> y análisis financiero</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Business </a:t>
            </a:r>
            <a:r>
              <a:rPr lang="es-ES_tradnl" sz="1600" dirty="0" err="1">
                <a:solidFill>
                  <a:schemeClr val="accent5">
                    <a:lumMod val="50000"/>
                  </a:schemeClr>
                </a:solidFill>
                <a:latin typeface="Segoe UI" panose="020B0502040204020203" pitchFamily="34" charset="0"/>
                <a:cs typeface="Segoe UI" panose="020B0502040204020203" pitchFamily="34" charset="0"/>
              </a:rPr>
              <a:t>Controller</a:t>
            </a:r>
            <a:r>
              <a:rPr lang="es-ES_tradnl" sz="1600" dirty="0">
                <a:solidFill>
                  <a:schemeClr val="accent5">
                    <a:lumMod val="50000"/>
                  </a:schemeClr>
                </a:solidFill>
                <a:latin typeface="Segoe UI" panose="020B0502040204020203" pitchFamily="34" charset="0"/>
                <a:cs typeface="Segoe UI" panose="020B0502040204020203" pitchFamily="34" charset="0"/>
              </a:rPr>
              <a:t> / CRM</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Cultura digital y bienestar organizacional</a:t>
            </a:r>
          </a:p>
          <a:p>
            <a:pPr marL="285750" indent="-285750">
              <a:buFont typeface="Arial" panose="020B0604020202020204" pitchFamily="34" charset="0"/>
              <a:buChar char="•"/>
            </a:pPr>
            <a:endParaRPr lang="es-ES_tradnl" sz="1000" dirty="0">
              <a:solidFill>
                <a:schemeClr val="accent5">
                  <a:lumMod val="50000"/>
                </a:schemeClr>
              </a:solidFill>
              <a:latin typeface="Segoe UI" panose="020B0502040204020203" pitchFamily="34" charset="0"/>
              <a:cs typeface="Segoe UI" panose="020B0502040204020203" pitchFamily="34" charset="0"/>
            </a:endParaRPr>
          </a:p>
          <a:p>
            <a:r>
              <a:rPr lang="es-ES_tradnl" b="1" dirty="0">
                <a:solidFill>
                  <a:schemeClr val="accent5">
                    <a:lumMod val="50000"/>
                  </a:schemeClr>
                </a:solidFill>
                <a:latin typeface="Segoe UI" panose="020B0502040204020203" pitchFamily="34" charset="0"/>
                <a:cs typeface="Segoe UI" panose="020B0502040204020203" pitchFamily="34" charset="0"/>
              </a:rPr>
              <a:t>Servicios Complementarios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Almacenaje, distribución</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Comercio minorista y mayorista</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Mantenimiento y soporte operativo</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Técnicos en maquinaria, operadores de grúas, seguridad portuaria</a:t>
            </a:r>
          </a:p>
        </p:txBody>
      </p:sp>
      <p:sp>
        <p:nvSpPr>
          <p:cNvPr id="5" name="Google Shape;423;p7">
            <a:extLst>
              <a:ext uri="{FF2B5EF4-FFF2-40B4-BE49-F238E27FC236}">
                <a16:creationId xmlns:a16="http://schemas.microsoft.com/office/drawing/2014/main" id="{BF9FB7DB-CAAE-1466-F5E6-A6AA1F9F1B64}"/>
              </a:ext>
            </a:extLst>
          </p:cNvPr>
          <p:cNvSpPr/>
          <p:nvPr/>
        </p:nvSpPr>
        <p:spPr>
          <a:xfrm>
            <a:off x="-15498" y="-17821"/>
            <a:ext cx="12192000" cy="56392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es-ES_tradnl" sz="2800" b="1" dirty="0">
                <a:solidFill>
                  <a:schemeClr val="bg1"/>
                </a:solidFill>
                <a:latin typeface="Segoe UI" panose="020B0502040204020203" pitchFamily="34" charset="0"/>
                <a:cs typeface="Segoe UI" panose="020B0502040204020203" pitchFamily="34" charset="0"/>
              </a:rPr>
              <a:t>Perfiles Profesionales Requeridos en Chancay</a:t>
            </a:r>
          </a:p>
          <a:p>
            <a:pPr algn="ctr"/>
            <a:endParaRPr lang="es-ES_tradnl" sz="2800" b="1" i="0" u="none" strike="noStrike" dirty="0">
              <a:solidFill>
                <a:schemeClr val="bg1"/>
              </a:solidFill>
              <a:effectLst/>
              <a:latin typeface="Open Sans" panose="020B0606030504020204" pitchFamily="34" charset="0"/>
            </a:endParaRPr>
          </a:p>
        </p:txBody>
      </p:sp>
      <p:sp>
        <p:nvSpPr>
          <p:cNvPr id="6" name="TextBox 5">
            <a:extLst>
              <a:ext uri="{FF2B5EF4-FFF2-40B4-BE49-F238E27FC236}">
                <a16:creationId xmlns:a16="http://schemas.microsoft.com/office/drawing/2014/main" id="{220E5685-0101-5D13-5795-4E6B35E4EE08}"/>
              </a:ext>
            </a:extLst>
          </p:cNvPr>
          <p:cNvSpPr txBox="1"/>
          <p:nvPr/>
        </p:nvSpPr>
        <p:spPr>
          <a:xfrm>
            <a:off x="6629575" y="1395555"/>
            <a:ext cx="5472547" cy="3585597"/>
          </a:xfrm>
          <a:prstGeom prst="rect">
            <a:avLst/>
          </a:prstGeom>
          <a:noFill/>
        </p:spPr>
        <p:txBody>
          <a:bodyPr wrap="square" rtlCol="0">
            <a:spAutoFit/>
          </a:bodyPr>
          <a:lstStyle/>
          <a:p>
            <a:r>
              <a:rPr lang="es-ES_tradnl" b="1" dirty="0">
                <a:solidFill>
                  <a:schemeClr val="accent5">
                    <a:lumMod val="50000"/>
                  </a:schemeClr>
                </a:solidFill>
                <a:latin typeface="Segoe UI" panose="020B0502040204020203" pitchFamily="34" charset="0"/>
                <a:cs typeface="Segoe UI" panose="020B0502040204020203" pitchFamily="34" charset="0"/>
              </a:rPr>
              <a:t>Tecnologías Emergentes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Big Data, IA aplicada y ciberseguridad</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Analistas de ML, IA cuántica y ciudades inteligentes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Control de vehículos autónomos, robótica, drones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Realidad aumentada y experiencias digitales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Transformación digital, CRM y e-</a:t>
            </a:r>
            <a:r>
              <a:rPr lang="es-ES_tradnl" sz="1600" dirty="0" err="1">
                <a:solidFill>
                  <a:schemeClr val="accent5">
                    <a:lumMod val="50000"/>
                  </a:schemeClr>
                </a:solidFill>
                <a:latin typeface="Segoe UI" panose="020B0502040204020203" pitchFamily="34" charset="0"/>
                <a:cs typeface="Segoe UI" panose="020B0502040204020203" pitchFamily="34" charset="0"/>
              </a:rPr>
              <a:t>commerce</a:t>
            </a:r>
            <a:endParaRPr lang="es-ES_tradnl" sz="1600" dirty="0">
              <a:solidFill>
                <a:schemeClr val="accent5">
                  <a:lumMod val="50000"/>
                </a:schemeClr>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Plataformas de teletrabajo y productividad</a:t>
            </a:r>
          </a:p>
          <a:p>
            <a:pPr marL="285750" indent="-285750">
              <a:buFont typeface="Arial" panose="020B0604020202020204" pitchFamily="34" charset="0"/>
              <a:buChar char="•"/>
            </a:pPr>
            <a:endParaRPr lang="es-ES_tradnl" sz="1500" dirty="0">
              <a:solidFill>
                <a:schemeClr val="accent5">
                  <a:lumMod val="50000"/>
                </a:schemeClr>
              </a:solidFill>
              <a:latin typeface="Segoe UI" panose="020B0502040204020203" pitchFamily="34" charset="0"/>
              <a:cs typeface="Segoe UI" panose="020B0502040204020203" pitchFamily="34" charset="0"/>
            </a:endParaRPr>
          </a:p>
          <a:p>
            <a:r>
              <a:rPr lang="es-ES_tradnl" b="1" dirty="0">
                <a:solidFill>
                  <a:schemeClr val="accent5">
                    <a:lumMod val="50000"/>
                  </a:schemeClr>
                </a:solidFill>
                <a:latin typeface="Segoe UI" panose="020B0502040204020203" pitchFamily="34" charset="0"/>
                <a:cs typeface="Segoe UI" panose="020B0502040204020203" pitchFamily="34" charset="0"/>
              </a:rPr>
              <a:t>Ideas de Negocios</a:t>
            </a:r>
          </a:p>
          <a:p>
            <a:pPr marL="285750" indent="-285750">
              <a:buFont typeface="Arial" panose="020B0604020202020204" pitchFamily="34" charset="0"/>
              <a:buChar char="•"/>
            </a:pPr>
            <a:r>
              <a:rPr lang="es-ES_tradnl" sz="1600" dirty="0" err="1">
                <a:solidFill>
                  <a:schemeClr val="accent5">
                    <a:lumMod val="50000"/>
                  </a:schemeClr>
                </a:solidFill>
                <a:latin typeface="Segoe UI" panose="020B0502040204020203" pitchFamily="34" charset="0"/>
                <a:cs typeface="Segoe UI" panose="020B0502040204020203" pitchFamily="34" charset="0"/>
              </a:rPr>
              <a:t>Start</a:t>
            </a:r>
            <a:r>
              <a:rPr lang="es-ES_tradnl" sz="1600" dirty="0">
                <a:solidFill>
                  <a:schemeClr val="accent5">
                    <a:lumMod val="50000"/>
                  </a:schemeClr>
                </a:solidFill>
                <a:latin typeface="Segoe UI" panose="020B0502040204020203" pitchFamily="34" charset="0"/>
                <a:cs typeface="Segoe UI" panose="020B0502040204020203" pitchFamily="34" charset="0"/>
              </a:rPr>
              <a:t>-ups tecnológicas para logística e </a:t>
            </a:r>
            <a:r>
              <a:rPr lang="es-ES_tradnl" sz="1600" dirty="0" err="1">
                <a:solidFill>
                  <a:schemeClr val="accent5">
                    <a:lumMod val="50000"/>
                  </a:schemeClr>
                </a:solidFill>
                <a:latin typeface="Segoe UI" panose="020B0502040204020203" pitchFamily="34" charset="0"/>
                <a:cs typeface="Segoe UI" panose="020B0502040204020203" pitchFamily="34" charset="0"/>
              </a:rPr>
              <a:t>import-export</a:t>
            </a:r>
            <a:endParaRPr lang="es-ES_tradnl" sz="1600" dirty="0">
              <a:solidFill>
                <a:schemeClr val="accent5">
                  <a:lumMod val="50000"/>
                </a:schemeClr>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Soluciones para comercio internacional y aduanas</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Servicios para relaciones comerciales con Asia</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Infraestructura portuaria e industrial</a:t>
            </a:r>
          </a:p>
          <a:p>
            <a:pPr marL="285750" indent="-285750">
              <a:buFont typeface="Arial" panose="020B0604020202020204" pitchFamily="34" charset="0"/>
              <a:buChar char="•"/>
            </a:pPr>
            <a:r>
              <a:rPr lang="es-ES_tradnl" sz="1600" dirty="0">
                <a:solidFill>
                  <a:schemeClr val="accent5">
                    <a:lumMod val="50000"/>
                  </a:schemeClr>
                </a:solidFill>
                <a:latin typeface="Segoe UI" panose="020B0502040204020203" pitchFamily="34" charset="0"/>
                <a:cs typeface="Segoe UI" panose="020B0502040204020203" pitchFamily="34" charset="0"/>
              </a:rPr>
              <a:t>Construcción y metalmecánica especializada</a:t>
            </a:r>
          </a:p>
        </p:txBody>
      </p:sp>
      <p:sp>
        <p:nvSpPr>
          <p:cNvPr id="7" name="TextBox 6">
            <a:extLst>
              <a:ext uri="{FF2B5EF4-FFF2-40B4-BE49-F238E27FC236}">
                <a16:creationId xmlns:a16="http://schemas.microsoft.com/office/drawing/2014/main" id="{4CEEB5E7-E698-A96B-5930-2503A77882EA}"/>
              </a:ext>
            </a:extLst>
          </p:cNvPr>
          <p:cNvSpPr txBox="1"/>
          <p:nvPr/>
        </p:nvSpPr>
        <p:spPr>
          <a:xfrm>
            <a:off x="302216" y="6166019"/>
            <a:ext cx="11799906" cy="430887"/>
          </a:xfrm>
          <a:prstGeom prst="rect">
            <a:avLst/>
          </a:prstGeom>
          <a:noFill/>
        </p:spPr>
        <p:txBody>
          <a:bodyPr wrap="square" rtlCol="0">
            <a:spAutoFit/>
          </a:bodyPr>
          <a:lstStyle/>
          <a:p>
            <a:pPr algn="ctr"/>
            <a:r>
              <a:rPr lang="es-ES_tradnl" sz="2100" b="1" i="1" dirty="0">
                <a:solidFill>
                  <a:schemeClr val="accent2"/>
                </a:solidFill>
                <a:latin typeface="Segoe UI" panose="020B0502040204020203" pitchFamily="34" charset="0"/>
                <a:cs typeface="Segoe UI" panose="020B0502040204020203" pitchFamily="34" charset="0"/>
              </a:rPr>
              <a:t>Puerto inteligente no se opera solo con grúas, sino con datos, algoritmos y talento humano</a:t>
            </a:r>
            <a:r>
              <a:rPr lang="es-ES_tradnl" sz="2200" i="1" dirty="0">
                <a:solidFill>
                  <a:schemeClr val="accent2"/>
                </a:solidFill>
                <a:latin typeface="Segoe UI" panose="020B0502040204020203" pitchFamily="34" charset="0"/>
                <a:cs typeface="Segoe UI" panose="020B0502040204020203" pitchFamily="34" charset="0"/>
              </a:rPr>
              <a:t>.</a:t>
            </a:r>
            <a:endParaRPr lang="es-ES_tradnl" sz="2200" b="1" dirty="0">
              <a:solidFill>
                <a:schemeClr val="accent2"/>
              </a:solidFill>
            </a:endParaRPr>
          </a:p>
        </p:txBody>
      </p:sp>
    </p:spTree>
    <p:extLst>
      <p:ext uri="{BB962C8B-B14F-4D97-AF65-F5344CB8AC3E}">
        <p14:creationId xmlns:p14="http://schemas.microsoft.com/office/powerpoint/2010/main" val="1767742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1183564"/>
            <a:ext cx="6309552" cy="2000548"/>
          </a:xfrm>
          <a:prstGeom prst="rect">
            <a:avLst/>
          </a:prstGeom>
        </p:spPr>
        <p:txBody>
          <a:bodyPr wrap="square">
            <a:spAutoFit/>
          </a:bodyPr>
          <a:lstStyle/>
          <a:p>
            <a:pPr algn="ctr"/>
            <a:r>
              <a:rPr lang="es-ES" sz="4400" b="1" i="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Inteligencia Artificial </a:t>
            </a:r>
          </a:p>
          <a:p>
            <a:pPr algn="ctr"/>
            <a:r>
              <a:rPr lang="es-ES" sz="4000" b="1" i="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Transforma Puertos y Ciudades Marítimas</a:t>
            </a:r>
          </a:p>
        </p:txBody>
      </p:sp>
      <p:sp>
        <p:nvSpPr>
          <p:cNvPr id="4" name="Slide Number Placeholder 3"/>
          <p:cNvSpPr>
            <a:spLocks noGrp="1"/>
          </p:cNvSpPr>
          <p:nvPr>
            <p:ph type="sldNum" sz="quarter" idx="12"/>
          </p:nvPr>
        </p:nvSpPr>
        <p:spPr/>
        <p:txBody>
          <a:bodyPr/>
          <a:lstStyle/>
          <a:p>
            <a:fld id="{D739C4FB-7D33-419B-8833-D1372BFD11C8}" type="slidenum">
              <a:rPr lang="en-US" smtClean="0"/>
              <a:t>15</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pic>
        <p:nvPicPr>
          <p:cNvPr id="3" name="Picture 2">
            <a:extLst>
              <a:ext uri="{FF2B5EF4-FFF2-40B4-BE49-F238E27FC236}">
                <a16:creationId xmlns:a16="http://schemas.microsoft.com/office/drawing/2014/main" id="{FFE90E6D-F23F-4AC2-FB85-076462457CEB}"/>
              </a:ext>
            </a:extLst>
          </p:cNvPr>
          <p:cNvPicPr>
            <a:picLocks noChangeAspect="1"/>
          </p:cNvPicPr>
          <p:nvPr/>
        </p:nvPicPr>
        <p:blipFill>
          <a:blip r:embed="rId2"/>
          <a:stretch>
            <a:fillRect/>
          </a:stretch>
        </p:blipFill>
        <p:spPr>
          <a:xfrm>
            <a:off x="2941225" y="3706249"/>
            <a:ext cx="6759988" cy="1865877"/>
          </a:xfrm>
          <a:prstGeom prst="rect">
            <a:avLst/>
          </a:prstGeom>
        </p:spPr>
      </p:pic>
    </p:spTree>
    <p:extLst>
      <p:ext uri="{BB962C8B-B14F-4D97-AF65-F5344CB8AC3E}">
        <p14:creationId xmlns:p14="http://schemas.microsoft.com/office/powerpoint/2010/main" val="2514885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AC796E-B464-F6A8-89AD-1668181CC076}"/>
              </a:ext>
            </a:extLst>
          </p:cNvPr>
          <p:cNvSpPr>
            <a:spLocks noGrp="1"/>
          </p:cNvSpPr>
          <p:nvPr>
            <p:ph type="sldNum" sz="quarter" idx="12"/>
          </p:nvPr>
        </p:nvSpPr>
        <p:spPr/>
        <p:txBody>
          <a:bodyPr/>
          <a:lstStyle/>
          <a:p>
            <a:fld id="{6897FFF3-9BE7-6F4B-AB28-3A1D192ED757}" type="slidenum">
              <a:rPr lang="en-CH" smtClean="0"/>
              <a:t>16</a:t>
            </a:fld>
            <a:endParaRPr lang="en-CH"/>
          </a:p>
        </p:txBody>
      </p:sp>
      <p:sp>
        <p:nvSpPr>
          <p:cNvPr id="4" name="TextBox 3">
            <a:extLst>
              <a:ext uri="{FF2B5EF4-FFF2-40B4-BE49-F238E27FC236}">
                <a16:creationId xmlns:a16="http://schemas.microsoft.com/office/drawing/2014/main" id="{11DC556F-192A-2412-32D5-DE4EABD0DB2B}"/>
              </a:ext>
            </a:extLst>
          </p:cNvPr>
          <p:cNvSpPr txBox="1"/>
          <p:nvPr/>
        </p:nvSpPr>
        <p:spPr>
          <a:xfrm>
            <a:off x="326390" y="614133"/>
            <a:ext cx="11357610" cy="5816977"/>
          </a:xfrm>
          <a:prstGeom prst="rect">
            <a:avLst/>
          </a:prstGeom>
          <a:noFill/>
        </p:spPr>
        <p:txBody>
          <a:bodyPr wrap="square">
            <a:spAutoFit/>
          </a:bodyPr>
          <a:lstStyle/>
          <a:p>
            <a:pPr algn="ctr" fontAlgn="base"/>
            <a:r>
              <a:rPr lang="es-ES_tradnl" sz="2400" b="1" i="0" u="none" strike="noStrike" dirty="0">
                <a:solidFill>
                  <a:srgbClr val="C00000"/>
                </a:solidFill>
                <a:latin typeface="Segoe UI" panose="020B0502040204020203" pitchFamily="34" charset="0"/>
                <a:cs typeface="Segoe UI" panose="020B0502040204020203" pitchFamily="34" charset="0"/>
              </a:rPr>
              <a:t>R</a:t>
            </a:r>
            <a:r>
              <a:rPr lang="es-ES_tradnl" sz="2400" b="1" i="0" u="none" strike="noStrike" dirty="0">
                <a:solidFill>
                  <a:srgbClr val="C00000"/>
                </a:solidFill>
                <a:effectLst/>
                <a:latin typeface="Segoe UI" panose="020B0502040204020203" pitchFamily="34" charset="0"/>
                <a:cs typeface="Segoe UI" panose="020B0502040204020203" pitchFamily="34" charset="0"/>
              </a:rPr>
              <a:t>evoluciona la gestión logística</a:t>
            </a:r>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algn="ctr" fontAlgn="base"/>
            <a:r>
              <a:rPr lang="es-ES_tradnl" sz="2400" b="1" i="0" u="none" strike="noStrike" dirty="0">
                <a:solidFill>
                  <a:srgbClr val="00B0F0"/>
                </a:solidFill>
                <a:effectLst/>
                <a:latin typeface="Segoe UI" panose="020B0502040204020203" pitchFamily="34" charset="0"/>
                <a:cs typeface="Segoe UI" panose="020B0502040204020203" pitchFamily="34" charset="0"/>
              </a:rPr>
              <a:t>Automatiza procesos</a:t>
            </a:r>
            <a:r>
              <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rPr>
              <a:t>, optimiza tiempos de carga y descarga, </a:t>
            </a:r>
            <a:r>
              <a:rPr lang="es-ES_tradnl" sz="2400" b="1" i="0" u="none" strike="noStrike" dirty="0">
                <a:solidFill>
                  <a:srgbClr val="00B050"/>
                </a:solidFill>
                <a:effectLst/>
                <a:latin typeface="Segoe UI" panose="020B0502040204020203" pitchFamily="34" charset="0"/>
                <a:cs typeface="Segoe UI" panose="020B0502040204020203" pitchFamily="34" charset="0"/>
              </a:rPr>
              <a:t>reduce errores humanos</a:t>
            </a:r>
            <a:r>
              <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rPr>
              <a:t> y </a:t>
            </a:r>
            <a:r>
              <a:rPr lang="es-ES_tradnl" sz="2400" b="0" i="0" u="none" strike="noStrike" dirty="0" err="1">
                <a:solidFill>
                  <a:schemeClr val="accent5">
                    <a:lumMod val="50000"/>
                  </a:schemeClr>
                </a:solidFill>
                <a:effectLst/>
                <a:latin typeface="Segoe UI" panose="020B0502040204020203" pitchFamily="34" charset="0"/>
                <a:cs typeface="Segoe UI" panose="020B0502040204020203" pitchFamily="34" charset="0"/>
              </a:rPr>
              <a:t>preve</a:t>
            </a:r>
            <a:r>
              <a:rPr lang="es-ES_tradnl" sz="2400" i="0" u="none" strike="noStrike" dirty="0" err="1">
                <a:solidFill>
                  <a:schemeClr val="accent5">
                    <a:lumMod val="50000"/>
                  </a:schemeClr>
                </a:solidFill>
                <a:effectLst/>
                <a:latin typeface="Segoe UI" panose="020B0502040204020203" pitchFamily="34" charset="0"/>
                <a:cs typeface="Segoe UI" panose="020B0502040204020203" pitchFamily="34" charset="0"/>
              </a:rPr>
              <a:t>é</a:t>
            </a:r>
            <a:r>
              <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rPr>
              <a:t> incidentes operativos</a:t>
            </a:r>
          </a:p>
          <a:p>
            <a:pPr algn="ctr" fontAlgn="base"/>
            <a:endPar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endParaRPr>
          </a:p>
          <a:p>
            <a:pPr algn="ctr" fontAlgn="base"/>
            <a:r>
              <a:rPr lang="es-ES_tradnl" sz="2400" b="1" i="0" u="none" strike="noStrike" dirty="0">
                <a:solidFill>
                  <a:srgbClr val="00B050"/>
                </a:solidFill>
                <a:effectLst/>
                <a:latin typeface="Segoe UI" panose="020B0502040204020203" pitchFamily="34" charset="0"/>
                <a:cs typeface="Segoe UI" panose="020B0502040204020203" pitchFamily="34" charset="0"/>
              </a:rPr>
              <a:t>Procesa grandes volúmenes de datos</a:t>
            </a:r>
            <a:r>
              <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rPr>
              <a:t> en tiempo real</a:t>
            </a:r>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algn="ctr" fontAlgn="base"/>
            <a:r>
              <a:rPr lang="es-ES_tradnl" sz="2400" dirty="0">
                <a:solidFill>
                  <a:schemeClr val="accent5">
                    <a:lumMod val="50000"/>
                  </a:schemeClr>
                </a:solidFill>
                <a:latin typeface="Segoe UI" panose="020B0502040204020203" pitchFamily="34" charset="0"/>
                <a:cs typeface="Segoe UI" panose="020B0502040204020203" pitchFamily="34" charset="0"/>
              </a:rPr>
              <a:t>O</a:t>
            </a:r>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ptimiza procesos críticos como las </a:t>
            </a:r>
            <a:r>
              <a:rPr lang="es-ES_tradnl" sz="2200" b="1" i="0" u="none" strike="noStrike" dirty="0">
                <a:solidFill>
                  <a:srgbClr val="C00000"/>
                </a:solidFill>
                <a:effectLst/>
                <a:latin typeface="Segoe UI" panose="020B0502040204020203" pitchFamily="34" charset="0"/>
                <a:cs typeface="Segoe UI" panose="020B0502040204020203" pitchFamily="34" charset="0"/>
              </a:rPr>
              <a:t>rutas de navegación, el mantenimiento predictivo, la eficiencia energética y la toma de decisiones</a:t>
            </a:r>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 </a:t>
            </a:r>
          </a:p>
          <a:p>
            <a:pPr algn="ctr" fontAlgn="base"/>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algn="ctr" fontAlgn="base"/>
            <a:r>
              <a:rPr lang="es-ES_tradnl" sz="2400" b="1" dirty="0">
                <a:solidFill>
                  <a:srgbClr val="00B0F0"/>
                </a:solidFill>
                <a:latin typeface="Segoe UI" panose="020B0502040204020203" pitchFamily="34" charset="0"/>
                <a:cs typeface="Segoe UI" panose="020B0502040204020203" pitchFamily="34" charset="0"/>
              </a:rPr>
              <a:t>A</a:t>
            </a:r>
            <a:r>
              <a:rPr lang="es-ES_tradnl" sz="2400" b="1" i="0" u="none" strike="noStrike" dirty="0">
                <a:solidFill>
                  <a:srgbClr val="00B0F0"/>
                </a:solidFill>
                <a:effectLst/>
                <a:latin typeface="Segoe UI" panose="020B0502040204020203" pitchFamily="34" charset="0"/>
                <a:cs typeface="Segoe UI" panose="020B0502040204020203" pitchFamily="34" charset="0"/>
              </a:rPr>
              <a:t>lgoritmos IA</a:t>
            </a:r>
            <a:r>
              <a:rPr lang="es-ES_tradnl" sz="2400" dirty="0">
                <a:solidFill>
                  <a:srgbClr val="00B0F0"/>
                </a:solidFill>
                <a:latin typeface="Segoe UI" panose="020B0502040204020203" pitchFamily="34" charset="0"/>
                <a:cs typeface="Segoe UI" panose="020B0502040204020203" pitchFamily="34" charset="0"/>
              </a:rPr>
              <a:t> </a:t>
            </a:r>
            <a:r>
              <a:rPr lang="es-ES_tradnl" sz="2400" b="1" i="0" u="none" strike="noStrike" dirty="0">
                <a:solidFill>
                  <a:schemeClr val="accent5">
                    <a:lumMod val="50000"/>
                  </a:schemeClr>
                </a:solidFill>
                <a:effectLst/>
                <a:latin typeface="Segoe UI" panose="020B0502040204020203" pitchFamily="34" charset="0"/>
                <a:cs typeface="Segoe UI" panose="020B0502040204020203" pitchFamily="34" charset="0"/>
              </a:rPr>
              <a:t>predicen condiciones climáticas</a:t>
            </a:r>
            <a:r>
              <a:rPr lang="es-ES_tradnl" sz="2400" b="0" i="0" u="none" strike="noStrike" dirty="0">
                <a:solidFill>
                  <a:schemeClr val="accent5">
                    <a:lumMod val="50000"/>
                  </a:schemeClr>
                </a:solidFill>
                <a:effectLst/>
                <a:latin typeface="Segoe UI" panose="020B0502040204020203" pitchFamily="34" charset="0"/>
                <a:cs typeface="Segoe UI" panose="020B0502040204020203" pitchFamily="34" charset="0"/>
              </a:rPr>
              <a:t> y del mar</a:t>
            </a:r>
          </a:p>
          <a:p>
            <a:pPr algn="ctr" fontAlgn="base"/>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Operadores portuarios </a:t>
            </a:r>
            <a:r>
              <a:rPr lang="es-ES_tradnl" sz="2200" b="1" i="0" u="none" strike="noStrike" dirty="0">
                <a:solidFill>
                  <a:schemeClr val="accent5">
                    <a:lumMod val="50000"/>
                  </a:schemeClr>
                </a:solidFill>
                <a:effectLst/>
                <a:latin typeface="Segoe UI" panose="020B0502040204020203" pitchFamily="34" charset="0"/>
                <a:cs typeface="Segoe UI" panose="020B0502040204020203" pitchFamily="34" charset="0"/>
              </a:rPr>
              <a:t>ajustan rutas para reducir costos de combustible y minimizan tiempos de espera</a:t>
            </a:r>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 lo que </a:t>
            </a:r>
            <a:r>
              <a:rPr lang="es-ES_tradnl" sz="2200" b="1" i="0" u="none" strike="noStrike" dirty="0">
                <a:solidFill>
                  <a:schemeClr val="accent5">
                    <a:lumMod val="50000"/>
                  </a:schemeClr>
                </a:solidFill>
                <a:effectLst/>
                <a:latin typeface="Segoe UI" panose="020B0502040204020203" pitchFamily="34" charset="0"/>
                <a:cs typeface="Segoe UI" panose="020B0502040204020203" pitchFamily="34" charset="0"/>
              </a:rPr>
              <a:t>reduce las emisiones de carbono</a:t>
            </a:r>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 y </a:t>
            </a:r>
            <a:r>
              <a:rPr lang="es-ES_tradnl" sz="2200" b="1" i="0" u="none" strike="noStrike" dirty="0">
                <a:solidFill>
                  <a:srgbClr val="00B050"/>
                </a:solidFill>
                <a:effectLst/>
                <a:latin typeface="Segoe UI" panose="020B0502040204020203" pitchFamily="34" charset="0"/>
                <a:cs typeface="Segoe UI" panose="020B0502040204020203" pitchFamily="34" charset="0"/>
              </a:rPr>
              <a:t>contribuyen a los objetivos globales de sostenibilidad</a:t>
            </a:r>
            <a:r>
              <a:rPr lang="es-ES_tradnl" sz="2200" b="0" i="0" u="none" strike="noStrike" dirty="0">
                <a:solidFill>
                  <a:schemeClr val="accent5">
                    <a:lumMod val="50000"/>
                  </a:schemeClr>
                </a:solidFill>
                <a:effectLst/>
                <a:latin typeface="Segoe UI" panose="020B0502040204020203" pitchFamily="34" charset="0"/>
                <a:cs typeface="Segoe UI" panose="020B0502040204020203" pitchFamily="34" charset="0"/>
              </a:rPr>
              <a:t>. </a:t>
            </a:r>
          </a:p>
          <a:p>
            <a:pPr algn="ctr" fontAlgn="base"/>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algn="ctr" fontAlgn="base"/>
            <a:r>
              <a:rPr lang="es-ES_tradnl" sz="2400" b="1" dirty="0">
                <a:solidFill>
                  <a:schemeClr val="accent5">
                    <a:lumMod val="50000"/>
                  </a:schemeClr>
                </a:solidFill>
                <a:latin typeface="Segoe UI" panose="020B0502040204020203" pitchFamily="34" charset="0"/>
                <a:cs typeface="Segoe UI" panose="020B0502040204020203" pitchFamily="34" charset="0"/>
              </a:rPr>
              <a:t>A</a:t>
            </a:r>
            <a:r>
              <a:rPr lang="es-ES_tradnl" sz="2400" b="1" i="0" dirty="0">
                <a:solidFill>
                  <a:schemeClr val="accent5">
                    <a:lumMod val="50000"/>
                  </a:schemeClr>
                </a:solidFill>
                <a:effectLst/>
                <a:latin typeface="Segoe UI" panose="020B0502040204020203" pitchFamily="34" charset="0"/>
                <a:cs typeface="Segoe UI" panose="020B0502040204020203" pitchFamily="34" charset="0"/>
              </a:rPr>
              <a:t>utomatizaci</a:t>
            </a:r>
            <a:r>
              <a:rPr lang="es-ES_tradnl" sz="2400" b="1" i="0" u="none" strike="noStrike" dirty="0">
                <a:solidFill>
                  <a:schemeClr val="accent5">
                    <a:lumMod val="50000"/>
                  </a:schemeClr>
                </a:solidFill>
                <a:effectLst/>
                <a:latin typeface="Segoe UI" panose="020B0502040204020203" pitchFamily="34" charset="0"/>
                <a:cs typeface="Segoe UI" panose="020B0502040204020203" pitchFamily="34" charset="0"/>
              </a:rPr>
              <a:t>ó</a:t>
            </a:r>
            <a:r>
              <a:rPr lang="es-ES_tradnl" sz="2400" b="1" i="0" dirty="0">
                <a:solidFill>
                  <a:schemeClr val="accent5">
                    <a:lumMod val="50000"/>
                  </a:schemeClr>
                </a:solidFill>
                <a:effectLst/>
                <a:latin typeface="Segoe UI" panose="020B0502040204020203" pitchFamily="34" charset="0"/>
                <a:cs typeface="Segoe UI" panose="020B0502040204020203" pitchFamily="34" charset="0"/>
              </a:rPr>
              <a:t>n emplea tecnología de vanguardia</a:t>
            </a:r>
            <a:endParaRPr lang="es-ES_tradnl" sz="2400" dirty="0">
              <a:solidFill>
                <a:schemeClr val="accent5">
                  <a:lumMod val="50000"/>
                </a:schemeClr>
              </a:solidFill>
              <a:latin typeface="Segoe UI" panose="020B0502040204020203" pitchFamily="34" charset="0"/>
              <a:cs typeface="Segoe UI" panose="020B0502040204020203" pitchFamily="34" charset="0"/>
            </a:endParaRPr>
          </a:p>
          <a:p>
            <a:pPr algn="ctr" fontAlgn="base"/>
            <a:r>
              <a:rPr lang="es-ES_tradnl" sz="2200" dirty="0">
                <a:solidFill>
                  <a:schemeClr val="accent5">
                    <a:lumMod val="50000"/>
                  </a:schemeClr>
                </a:solidFill>
                <a:latin typeface="Segoe UI" panose="020B0502040204020203" pitchFamily="34" charset="0"/>
                <a:cs typeface="Segoe UI" panose="020B0502040204020203" pitchFamily="34" charset="0"/>
              </a:rPr>
              <a:t>E</a:t>
            </a:r>
            <a:r>
              <a:rPr lang="es-ES_tradnl" sz="2200" b="0" i="0" dirty="0">
                <a:solidFill>
                  <a:schemeClr val="accent5">
                    <a:lumMod val="50000"/>
                  </a:schemeClr>
                </a:solidFill>
                <a:effectLst/>
                <a:latin typeface="Segoe UI" panose="020B0502040204020203" pitchFamily="34" charset="0"/>
                <a:cs typeface="Segoe UI" panose="020B0502040204020203" pitchFamily="34" charset="0"/>
              </a:rPr>
              <a:t>specialmente de </a:t>
            </a:r>
            <a:r>
              <a:rPr lang="es-ES_tradnl" sz="2200" b="1" i="0" dirty="0">
                <a:solidFill>
                  <a:srgbClr val="C00000"/>
                </a:solidFill>
                <a:effectLst/>
                <a:latin typeface="Segoe UI" panose="020B0502040204020203" pitchFamily="34" charset="0"/>
                <a:cs typeface="Segoe UI" panose="020B0502040204020203" pitchFamily="34" charset="0"/>
              </a:rPr>
              <a:t>ZPMC </a:t>
            </a:r>
            <a:r>
              <a:rPr lang="es-ES_tradnl" sz="2200" b="1" i="0" dirty="0">
                <a:solidFill>
                  <a:srgbClr val="0A0A0A"/>
                </a:solidFill>
                <a:effectLst/>
                <a:latin typeface="Segoe UI" panose="020B0502040204020203" pitchFamily="34" charset="0"/>
                <a:cs typeface="Segoe UI" panose="020B0502040204020203" pitchFamily="34" charset="0"/>
              </a:rPr>
              <a:t>(</a:t>
            </a:r>
            <a:r>
              <a:rPr lang="es-ES_tradnl" sz="2200" b="1" i="0" dirty="0" err="1">
                <a:solidFill>
                  <a:srgbClr val="0A0A0A"/>
                </a:solidFill>
                <a:effectLst/>
                <a:latin typeface="Segoe UI" panose="020B0502040204020203" pitchFamily="34" charset="0"/>
                <a:cs typeface="Segoe UI" panose="020B0502040204020203" pitchFamily="34" charset="0"/>
              </a:rPr>
              <a:t>Shanghai</a:t>
            </a:r>
            <a:r>
              <a:rPr lang="es-ES_tradnl" sz="2200" b="1" i="0" dirty="0">
                <a:solidFill>
                  <a:srgbClr val="0A0A0A"/>
                </a:solidFill>
                <a:effectLst/>
                <a:latin typeface="Segoe UI" panose="020B0502040204020203" pitchFamily="34" charset="0"/>
                <a:cs typeface="Segoe UI" panose="020B0502040204020203" pitchFamily="34" charset="0"/>
              </a:rPr>
              <a:t> </a:t>
            </a:r>
            <a:r>
              <a:rPr lang="es-ES_tradnl" sz="2200" b="1" i="0" dirty="0" err="1">
                <a:solidFill>
                  <a:srgbClr val="0A0A0A"/>
                </a:solidFill>
                <a:effectLst/>
                <a:latin typeface="Segoe UI" panose="020B0502040204020203" pitchFamily="34" charset="0"/>
                <a:cs typeface="Segoe UI" panose="020B0502040204020203" pitchFamily="34" charset="0"/>
              </a:rPr>
              <a:t>Zhenhua</a:t>
            </a:r>
            <a:r>
              <a:rPr lang="es-ES_tradnl" sz="2200" b="1" i="0" dirty="0">
                <a:solidFill>
                  <a:srgbClr val="0A0A0A"/>
                </a:solidFill>
                <a:effectLst/>
                <a:latin typeface="Segoe UI" panose="020B0502040204020203" pitchFamily="34" charset="0"/>
                <a:cs typeface="Segoe UI" panose="020B0502040204020203" pitchFamily="34" charset="0"/>
              </a:rPr>
              <a:t> Heavy Industries)</a:t>
            </a:r>
            <a:r>
              <a:rPr lang="es-ES_tradnl" sz="2200" b="0" i="0" dirty="0">
                <a:solidFill>
                  <a:schemeClr val="accent5">
                    <a:lumMod val="50000"/>
                  </a:schemeClr>
                </a:solidFill>
                <a:effectLst/>
                <a:latin typeface="Segoe UI" panose="020B0502040204020203" pitchFamily="34" charset="0"/>
                <a:cs typeface="Segoe UI" panose="020B0502040204020203" pitchFamily="34" charset="0"/>
              </a:rPr>
              <a:t>, </a:t>
            </a:r>
            <a:r>
              <a:rPr lang="es-ES_tradnl" sz="2200" b="0" dirty="0">
                <a:solidFill>
                  <a:schemeClr val="accent5">
                    <a:lumMod val="50000"/>
                  </a:schemeClr>
                </a:solidFill>
                <a:latin typeface="Segoe UI" panose="020B0502040204020203" pitchFamily="34" charset="0"/>
                <a:cs typeface="Segoe UI" panose="020B0502040204020203" pitchFamily="34" charset="0"/>
              </a:rPr>
              <a:t>t</a:t>
            </a:r>
            <a:r>
              <a:rPr lang="es-ES_tradnl" sz="2200" i="0" dirty="0">
                <a:solidFill>
                  <a:schemeClr val="accent5">
                    <a:lumMod val="50000"/>
                  </a:schemeClr>
                </a:solidFill>
                <a:effectLst/>
                <a:latin typeface="Segoe UI" panose="020B0502040204020203" pitchFamily="34" charset="0"/>
                <a:cs typeface="Segoe UI" panose="020B0502040204020203" pitchFamily="34" charset="0"/>
              </a:rPr>
              <a:t>ecnología china avanzada</a:t>
            </a:r>
            <a:r>
              <a:rPr lang="es-ES_tradnl" sz="2200" b="1" dirty="0">
                <a:solidFill>
                  <a:schemeClr val="accent5">
                    <a:lumMod val="50000"/>
                  </a:schemeClr>
                </a:solidFill>
                <a:latin typeface="Segoe UI" panose="020B0502040204020203" pitchFamily="34" charset="0"/>
                <a:cs typeface="Segoe UI" panose="020B0502040204020203" pitchFamily="34" charset="0"/>
              </a:rPr>
              <a:t>,</a:t>
            </a:r>
            <a:r>
              <a:rPr lang="es-ES_tradnl" sz="2200" b="0" i="0" dirty="0">
                <a:solidFill>
                  <a:schemeClr val="accent5">
                    <a:lumMod val="50000"/>
                  </a:schemeClr>
                </a:solidFill>
                <a:effectLst/>
                <a:latin typeface="Segoe UI" panose="020B0502040204020203" pitchFamily="34" charset="0"/>
                <a:cs typeface="Segoe UI" panose="020B0502040204020203" pitchFamily="34" charset="0"/>
              </a:rPr>
              <a:t> </a:t>
            </a:r>
            <a:r>
              <a:rPr lang="es-ES_tradnl" sz="2200" b="1" i="0" dirty="0">
                <a:solidFill>
                  <a:srgbClr val="C00000"/>
                </a:solidFill>
                <a:effectLst/>
                <a:latin typeface="Segoe UI" panose="020B0502040204020203" pitchFamily="34" charset="0"/>
                <a:cs typeface="Segoe UI" panose="020B0502040204020203" pitchFamily="34" charset="0"/>
              </a:rPr>
              <a:t>uno de los principales proveedores de equipos portuarios del mundo</a:t>
            </a:r>
            <a:r>
              <a:rPr lang="es-ES_tradnl" sz="2200" b="0" i="0" dirty="0">
                <a:solidFill>
                  <a:schemeClr val="accent5">
                    <a:lumMod val="50000"/>
                  </a:schemeClr>
                </a:solidFill>
                <a:effectLst/>
                <a:latin typeface="Segoe UI" panose="020B0502040204020203" pitchFamily="34" charset="0"/>
                <a:cs typeface="Segoe UI" panose="020B0502040204020203" pitchFamily="34" charset="0"/>
              </a:rPr>
              <a:t>. </a:t>
            </a:r>
          </a:p>
        </p:txBody>
      </p:sp>
      <p:sp>
        <p:nvSpPr>
          <p:cNvPr id="3" name="Google Shape;423;p7">
            <a:extLst>
              <a:ext uri="{FF2B5EF4-FFF2-40B4-BE49-F238E27FC236}">
                <a16:creationId xmlns:a16="http://schemas.microsoft.com/office/drawing/2014/main" id="{03BC675A-52CC-44E1-A762-3CC75C1A5A43}"/>
              </a:ext>
            </a:extLst>
          </p:cNvPr>
          <p:cNvSpPr/>
          <p:nvPr/>
        </p:nvSpPr>
        <p:spPr>
          <a:xfrm>
            <a:off x="-15498" y="63850"/>
            <a:ext cx="12192000" cy="453251"/>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fr-CH" sz="2800" b="1" dirty="0" err="1">
                <a:solidFill>
                  <a:schemeClr val="bg1"/>
                </a:solidFill>
                <a:latin typeface="Montserrat" pitchFamily="2" charset="77"/>
              </a:rPr>
              <a:t>Inteligencia</a:t>
            </a:r>
            <a:r>
              <a:rPr lang="fr-CH" sz="2800" b="1" dirty="0">
                <a:solidFill>
                  <a:schemeClr val="bg1"/>
                </a:solidFill>
                <a:latin typeface="Montserrat" pitchFamily="2" charset="77"/>
              </a:rPr>
              <a:t> </a:t>
            </a:r>
            <a:r>
              <a:rPr lang="fr-CH" sz="2800" b="1" dirty="0" err="1">
                <a:solidFill>
                  <a:schemeClr val="bg1"/>
                </a:solidFill>
                <a:latin typeface="Montserrat" pitchFamily="2" charset="77"/>
              </a:rPr>
              <a:t>Artificial</a:t>
            </a:r>
            <a:endParaRPr lang="fr-CH" sz="2800" b="1" dirty="0">
              <a:solidFill>
                <a:schemeClr val="bg1"/>
              </a:solidFill>
              <a:latin typeface="Montserrat" pitchFamily="2" charset="77"/>
            </a:endParaRPr>
          </a:p>
          <a:p>
            <a:pPr algn="ctr"/>
            <a:endParaRPr lang="es-ES_tradnl" sz="2800" b="1" i="0" u="none" strike="noStrike" dirty="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111784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4503E79-8D72-4B7E-2090-8F21B9F807BD}"/>
              </a:ext>
            </a:extLst>
          </p:cNvPr>
          <p:cNvSpPr>
            <a:spLocks noGrp="1"/>
          </p:cNvSpPr>
          <p:nvPr>
            <p:ph sz="half" idx="1"/>
          </p:nvPr>
        </p:nvSpPr>
        <p:spPr>
          <a:xfrm>
            <a:off x="44842" y="895199"/>
            <a:ext cx="3617861" cy="5771707"/>
          </a:xfrm>
        </p:spPr>
        <p:txBody>
          <a:bodyPr>
            <a:normAutofit fontScale="40000" lnSpcReduction="20000"/>
          </a:bodyPr>
          <a:lstStyle/>
          <a:p>
            <a:pPr marL="0" indent="0" algn="ctr">
              <a:buNone/>
            </a:pPr>
            <a:endParaRPr lang="en-CH" sz="1100" b="1" u="sng" dirty="0">
              <a:solidFill>
                <a:srgbClr val="2F4B5D"/>
              </a:solidFill>
              <a:latin typeface="Montserrat" panose="00000500000000000000" pitchFamily="2" charset="0"/>
            </a:endParaRPr>
          </a:p>
          <a:p>
            <a:pPr marL="0" indent="0" algn="ctr">
              <a:buNone/>
            </a:pPr>
            <a:r>
              <a:rPr lang="es-ES" sz="3000" dirty="0">
                <a:solidFill>
                  <a:srgbClr val="2F4B5D"/>
                </a:solidFill>
                <a:latin typeface="Montserrat" panose="00000500000000000000" pitchFamily="2" charset="0"/>
              </a:rPr>
              <a:t>L</a:t>
            </a:r>
            <a:r>
              <a:rPr lang="es-ES_tradnl" sz="3000" dirty="0">
                <a:solidFill>
                  <a:srgbClr val="2F4B5D"/>
                </a:solidFill>
                <a:latin typeface="Montserrat" panose="00000500000000000000" pitchFamily="2" charset="0"/>
              </a:rPr>
              <a:t>í</a:t>
            </a:r>
            <a:r>
              <a:rPr lang="es-ES" sz="3000" dirty="0" err="1">
                <a:solidFill>
                  <a:srgbClr val="2F4B5D"/>
                </a:solidFill>
                <a:latin typeface="Montserrat" panose="00000500000000000000" pitchFamily="2" charset="0"/>
              </a:rPr>
              <a:t>der</a:t>
            </a:r>
            <a:r>
              <a:rPr lang="es-ES" sz="3000" dirty="0">
                <a:solidFill>
                  <a:srgbClr val="2F4B5D"/>
                </a:solidFill>
                <a:latin typeface="Montserrat" panose="00000500000000000000" pitchFamily="2" charset="0"/>
              </a:rPr>
              <a:t> mundial del desarrollo </a:t>
            </a:r>
            <a:r>
              <a:rPr lang="es-ES_tradnl" sz="3000" dirty="0">
                <a:solidFill>
                  <a:srgbClr val="2F4B5D"/>
                </a:solidFill>
                <a:latin typeface="Montserrat" panose="00000500000000000000" pitchFamily="2" charset="0"/>
              </a:rPr>
              <a:t>de IA</a:t>
            </a:r>
          </a:p>
          <a:p>
            <a:pPr marL="0" indent="0" algn="ctr">
              <a:buNone/>
            </a:pPr>
            <a:r>
              <a:rPr lang="es-ES_tradnl" sz="3000" b="1" dirty="0">
                <a:solidFill>
                  <a:srgbClr val="2F4B5D"/>
                </a:solidFill>
                <a:latin typeface="Montserrat" panose="00000500000000000000" pitchFamily="2" charset="0"/>
              </a:rPr>
              <a:t>Estrategia de seguridad económica nacional</a:t>
            </a:r>
            <a:endParaRPr lang="es-ES_tradnl" sz="3000" b="1" i="1" dirty="0">
              <a:solidFill>
                <a:srgbClr val="2F4B5D"/>
              </a:solidFill>
              <a:latin typeface="Montserrat" panose="00000500000000000000" pitchFamily="2" charset="0"/>
            </a:endParaRPr>
          </a:p>
          <a:p>
            <a:pPr marL="0" indent="0" algn="ctr">
              <a:buNone/>
            </a:pPr>
            <a:r>
              <a:rPr lang="es-ES_tradnl" sz="3000" i="1" dirty="0">
                <a:solidFill>
                  <a:srgbClr val="2F4B5D"/>
                </a:solidFill>
                <a:latin typeface="Montserrat" panose="00000500000000000000" pitchFamily="2" charset="0"/>
              </a:rPr>
              <a:t>Implementa políticas y e</a:t>
            </a:r>
            <a:r>
              <a:rPr lang="es-ES_tradnl" sz="3000" dirty="0">
                <a:solidFill>
                  <a:srgbClr val="2F4B5D"/>
                </a:solidFill>
                <a:latin typeface="Montserrat" panose="00000500000000000000" pitchFamily="2" charset="0"/>
              </a:rPr>
              <a:t>strategias que aceleran la innovación, investigación y la IA </a:t>
            </a:r>
            <a:r>
              <a:rPr lang="es-ES_tradnl" sz="3000" i="1" dirty="0">
                <a:solidFill>
                  <a:srgbClr val="2F4B5D"/>
                </a:solidFill>
                <a:latin typeface="Montserrat" panose="00000500000000000000" pitchFamily="2" charset="0"/>
              </a:rPr>
              <a:t>para beneficio de todos </a:t>
            </a:r>
          </a:p>
          <a:p>
            <a:pPr marL="0" indent="0" algn="ctr">
              <a:buNone/>
            </a:pPr>
            <a:endParaRPr lang="es-ES_tradnl" sz="2800" b="1" i="1" dirty="0">
              <a:solidFill>
                <a:srgbClr val="2F4B5D"/>
              </a:solidFill>
              <a:latin typeface="Montserrat" panose="00000500000000000000" pitchFamily="2" charset="0"/>
            </a:endParaRPr>
          </a:p>
          <a:p>
            <a:pPr marL="0" indent="0">
              <a:buNone/>
            </a:pPr>
            <a:r>
              <a:rPr lang="es-ES_tradnl" sz="3600" b="1" i="1" dirty="0">
                <a:solidFill>
                  <a:srgbClr val="2F4B5D"/>
                </a:solidFill>
                <a:latin typeface="Montserrat" panose="00000500000000000000" pitchFamily="2" charset="0"/>
              </a:rPr>
              <a:t>Digitalizaci</a:t>
            </a:r>
            <a:r>
              <a:rPr lang="es-ES_tradnl" sz="3600" b="1" dirty="0">
                <a:solidFill>
                  <a:srgbClr val="2F4B5D"/>
                </a:solidFill>
                <a:latin typeface="Montserrat" panose="00000500000000000000" pitchFamily="2" charset="0"/>
              </a:rPr>
              <a:t>ó</a:t>
            </a:r>
            <a:r>
              <a:rPr lang="es-ES_tradnl" sz="3600" b="1" i="1" dirty="0">
                <a:solidFill>
                  <a:srgbClr val="2F4B5D"/>
                </a:solidFill>
                <a:latin typeface="Montserrat" panose="00000500000000000000" pitchFamily="2" charset="0"/>
              </a:rPr>
              <a:t>n </a:t>
            </a:r>
          </a:p>
          <a:p>
            <a:pPr>
              <a:buFont typeface="Wingdings" panose="05000000000000000000" pitchFamily="2" charset="2"/>
              <a:buChar char="§"/>
            </a:pPr>
            <a:r>
              <a:rPr lang="es-ES_tradnl" sz="3000" b="1" dirty="0">
                <a:solidFill>
                  <a:srgbClr val="C00000"/>
                </a:solidFill>
                <a:latin typeface="Montserrat" panose="00000500000000000000" pitchFamily="2" charset="0"/>
              </a:rPr>
              <a:t>Alto manejo de datos</a:t>
            </a:r>
          </a:p>
          <a:p>
            <a:pPr>
              <a:buFont typeface="Wingdings" panose="05000000000000000000" pitchFamily="2" charset="2"/>
              <a:buChar char="§"/>
            </a:pPr>
            <a:r>
              <a:rPr lang="es-ES_tradnl" sz="3000" dirty="0">
                <a:solidFill>
                  <a:srgbClr val="2F4B5D"/>
                </a:solidFill>
                <a:latin typeface="Montserrat" panose="00000500000000000000" pitchFamily="2" charset="0"/>
              </a:rPr>
              <a:t>Aumenta la eficiencia. Mejora de comunicaciones y servicios públicos</a:t>
            </a:r>
          </a:p>
          <a:p>
            <a:pPr>
              <a:buFont typeface="Wingdings" panose="05000000000000000000" pitchFamily="2" charset="2"/>
              <a:buChar char="§"/>
            </a:pPr>
            <a:r>
              <a:rPr lang="es-ES_tradnl" sz="3000" dirty="0">
                <a:solidFill>
                  <a:srgbClr val="2F4B5D"/>
                </a:solidFill>
                <a:latin typeface="Montserrat" panose="00000500000000000000" pitchFamily="2" charset="0"/>
              </a:rPr>
              <a:t>Mayoría de datos digitalizados pero, seguirán sin estar estructurados</a:t>
            </a:r>
          </a:p>
          <a:p>
            <a:pPr>
              <a:buFont typeface="Wingdings" panose="05000000000000000000" pitchFamily="2" charset="2"/>
              <a:buChar char="§"/>
            </a:pPr>
            <a:r>
              <a:rPr lang="es-ES_tradnl" sz="3000" b="1" dirty="0">
                <a:solidFill>
                  <a:srgbClr val="C00000"/>
                </a:solidFill>
                <a:latin typeface="Montserrat" panose="00000500000000000000" pitchFamily="2" charset="0"/>
              </a:rPr>
              <a:t>Administración de Archivos y Registros </a:t>
            </a:r>
            <a:r>
              <a:rPr lang="es-ES_tradnl" sz="3000" b="1" dirty="0">
                <a:solidFill>
                  <a:srgbClr val="2F4B5D"/>
                </a:solidFill>
                <a:latin typeface="Montserrat" panose="00000500000000000000" pitchFamily="2" charset="0"/>
              </a:rPr>
              <a:t>H</a:t>
            </a:r>
            <a:r>
              <a:rPr lang="es-ES_tradnl" sz="3000" dirty="0">
                <a:solidFill>
                  <a:srgbClr val="2F4B5D"/>
                </a:solidFill>
                <a:latin typeface="Montserrat" panose="00000500000000000000" pitchFamily="2" charset="0"/>
              </a:rPr>
              <a:t>a digitalizado más de 500 M de páginas, casi la totalidad</a:t>
            </a:r>
          </a:p>
          <a:p>
            <a:pPr marL="0" indent="0" algn="ctr">
              <a:buNone/>
            </a:pPr>
            <a:endParaRPr lang="es-ES_tradnl" sz="2800" dirty="0">
              <a:solidFill>
                <a:srgbClr val="2F4B5D"/>
              </a:solidFill>
              <a:latin typeface="Montserrat" panose="00000500000000000000" pitchFamily="2" charset="0"/>
            </a:endParaRPr>
          </a:p>
          <a:p>
            <a:pPr marL="0" indent="0" algn="ctr">
              <a:buNone/>
            </a:pPr>
            <a:r>
              <a:rPr lang="es-ES_tradnl" sz="3500" b="1" dirty="0">
                <a:solidFill>
                  <a:srgbClr val="2F4B5D"/>
                </a:solidFill>
                <a:latin typeface="Montserrat" panose="00000500000000000000" pitchFamily="2" charset="0"/>
              </a:rPr>
              <a:t>Aplicaciones de tecnologías de lenguaje natural (NLP)</a:t>
            </a:r>
          </a:p>
          <a:p>
            <a:r>
              <a:rPr lang="es-ES_tradnl" sz="3000" b="1" dirty="0">
                <a:solidFill>
                  <a:srgbClr val="C00000"/>
                </a:solidFill>
                <a:latin typeface="Montserrat" panose="00000500000000000000" pitchFamily="2" charset="0"/>
              </a:rPr>
              <a:t>Computadoras pueden leer, comprender, hablar. Traducción de idiomas  o app generativas</a:t>
            </a:r>
          </a:p>
          <a:p>
            <a:r>
              <a:rPr lang="es-ES_tradnl" sz="3000" dirty="0">
                <a:solidFill>
                  <a:srgbClr val="2F4B5D"/>
                </a:solidFill>
                <a:latin typeface="Montserrat" panose="00000500000000000000" pitchFamily="2" charset="0"/>
              </a:rPr>
              <a:t>Análisis del sentimiento de ciertos textos, reconocimiento del habla y clasificación de artículos por temáticas </a:t>
            </a:r>
          </a:p>
          <a:p>
            <a:r>
              <a:rPr lang="es-ES_tradnl" sz="3000" dirty="0">
                <a:solidFill>
                  <a:srgbClr val="2F4B5D"/>
                </a:solidFill>
                <a:latin typeface="Montserrat" panose="00000500000000000000" pitchFamily="2" charset="0"/>
              </a:rPr>
              <a:t>Capacidades que permiten que los gobiernos reconozcan patrones, categoricen temas y </a:t>
            </a:r>
            <a:r>
              <a:rPr lang="es-ES_tradnl" sz="3000" b="1" dirty="0">
                <a:solidFill>
                  <a:srgbClr val="2F4B5D"/>
                </a:solidFill>
                <a:latin typeface="Montserrat" panose="00000500000000000000" pitchFamily="2" charset="0"/>
              </a:rPr>
              <a:t>analicen la opinión pública</a:t>
            </a:r>
          </a:p>
        </p:txBody>
      </p:sp>
      <p:pic>
        <p:nvPicPr>
          <p:cNvPr id="8" name="Imagen 2">
            <a:extLst>
              <a:ext uri="{FF2B5EF4-FFF2-40B4-BE49-F238E27FC236}">
                <a16:creationId xmlns:a16="http://schemas.microsoft.com/office/drawing/2014/main" id="{8EB9C4B3-D203-0136-707D-37C61334A49B}"/>
              </a:ext>
            </a:extLst>
          </p:cNvPr>
          <p:cNvPicPr>
            <a:picLocks noChangeAspect="1"/>
          </p:cNvPicPr>
          <p:nvPr/>
        </p:nvPicPr>
        <p:blipFill rotWithShape="1">
          <a:blip r:embed="rId2"/>
          <a:srcRect t="6212" b="7229"/>
          <a:stretch/>
        </p:blipFill>
        <p:spPr>
          <a:xfrm>
            <a:off x="3698792" y="939263"/>
            <a:ext cx="4673540" cy="5676283"/>
          </a:xfrm>
          <a:prstGeom prst="rect">
            <a:avLst/>
          </a:prstGeom>
        </p:spPr>
      </p:pic>
      <p:sp>
        <p:nvSpPr>
          <p:cNvPr id="4" name="TextBox 3">
            <a:extLst>
              <a:ext uri="{FF2B5EF4-FFF2-40B4-BE49-F238E27FC236}">
                <a16:creationId xmlns:a16="http://schemas.microsoft.com/office/drawing/2014/main" id="{5AA07BDD-C87F-732E-D578-6F9C883574C2}"/>
              </a:ext>
            </a:extLst>
          </p:cNvPr>
          <p:cNvSpPr txBox="1"/>
          <p:nvPr/>
        </p:nvSpPr>
        <p:spPr>
          <a:xfrm>
            <a:off x="8372332" y="849603"/>
            <a:ext cx="3805576" cy="5786199"/>
          </a:xfrm>
          <a:prstGeom prst="rect">
            <a:avLst/>
          </a:prstGeom>
          <a:noFill/>
        </p:spPr>
        <p:txBody>
          <a:bodyPr wrap="square" rtlCol="0">
            <a:spAutoFit/>
          </a:bodyPr>
          <a:lstStyle/>
          <a:p>
            <a:pPr algn="ctr"/>
            <a:endParaRPr lang="es-ES_tradnl" sz="2000" b="1" dirty="0">
              <a:solidFill>
                <a:schemeClr val="tx2">
                  <a:lumMod val="50000"/>
                </a:schemeClr>
              </a:solidFill>
              <a:latin typeface="Montserrat" panose="00000500000000000000" pitchFamily="2" charset="0"/>
            </a:endParaRPr>
          </a:p>
          <a:p>
            <a:pPr algn="ctr"/>
            <a:r>
              <a:rPr lang="es-ES_tradnl" sz="1400" b="1" dirty="0">
                <a:solidFill>
                  <a:srgbClr val="2F4B5D"/>
                </a:solidFill>
                <a:latin typeface="Montserrat" panose="00000500000000000000" pitchFamily="2" charset="0"/>
              </a:rPr>
              <a:t>1er país de la Región Sur/Centro Asia: </a:t>
            </a:r>
            <a:r>
              <a:rPr lang="es-ES_tradnl" sz="1400" dirty="0">
                <a:solidFill>
                  <a:srgbClr val="2F4B5D"/>
                </a:solidFill>
                <a:latin typeface="Montserrat" panose="00000500000000000000" pitchFamily="2" charset="0"/>
              </a:rPr>
              <a:t>Estrategia nacional "</a:t>
            </a:r>
            <a:r>
              <a:rPr lang="es-ES_tradnl" sz="1400" b="1" dirty="0">
                <a:solidFill>
                  <a:srgbClr val="2F4B5D"/>
                </a:solidFill>
                <a:latin typeface="Montserrat" panose="00000500000000000000" pitchFamily="2" charset="0"/>
              </a:rPr>
              <a:t>IA para todos</a:t>
            </a:r>
            <a:r>
              <a:rPr lang="es-ES_tradnl" sz="1400" dirty="0">
                <a:solidFill>
                  <a:srgbClr val="2F4B5D"/>
                </a:solidFill>
                <a:latin typeface="Montserrat" panose="00000500000000000000" pitchFamily="2" charset="0"/>
              </a:rPr>
              <a:t>”</a:t>
            </a:r>
            <a:endParaRPr lang="es-ES_tradnl" sz="1400" b="1" dirty="0">
              <a:solidFill>
                <a:srgbClr val="2F4B5D"/>
              </a:solidFill>
              <a:latin typeface="Montserrat" panose="00000500000000000000" pitchFamily="2" charset="0"/>
            </a:endParaRPr>
          </a:p>
          <a:p>
            <a:pPr algn="ctr"/>
            <a:r>
              <a:rPr lang="es-ES_tradnl" sz="1400" b="1" dirty="0">
                <a:solidFill>
                  <a:srgbClr val="2F4B5D"/>
                </a:solidFill>
                <a:latin typeface="Montserrat" panose="00000500000000000000" pitchFamily="2" charset="0"/>
              </a:rPr>
              <a:t>Gobierno invierte </a:t>
            </a:r>
            <a:r>
              <a:rPr lang="es-ES_tradnl" sz="1400" dirty="0">
                <a:solidFill>
                  <a:srgbClr val="2F4B5D"/>
                </a:solidFill>
                <a:latin typeface="Montserrat" panose="00000500000000000000" pitchFamily="2" charset="0"/>
              </a:rPr>
              <a:t>$ </a:t>
            </a:r>
            <a:r>
              <a:rPr lang="es-ES_tradnl" sz="1400" b="1" dirty="0">
                <a:solidFill>
                  <a:srgbClr val="2F4B5D"/>
                </a:solidFill>
                <a:latin typeface="Montserrat" panose="00000500000000000000" pitchFamily="2" charset="0"/>
              </a:rPr>
              <a:t>500 Millones dólares en IA </a:t>
            </a:r>
          </a:p>
          <a:p>
            <a:pPr algn="ctr"/>
            <a:endParaRPr lang="es-ES_tradnl" sz="1400" b="1" dirty="0">
              <a:solidFill>
                <a:srgbClr val="2F4B5D"/>
              </a:solidFill>
              <a:latin typeface="Montserrat" panose="00000500000000000000" pitchFamily="2" charset="0"/>
            </a:endParaRPr>
          </a:p>
          <a:p>
            <a:pPr algn="ctr"/>
            <a:r>
              <a:rPr lang="es-ES_tradnl" sz="1400" b="1" dirty="0">
                <a:solidFill>
                  <a:srgbClr val="2F4B5D"/>
                </a:solidFill>
                <a:latin typeface="Montserrat" panose="00000500000000000000" pitchFamily="2" charset="0"/>
              </a:rPr>
              <a:t>Sectores de intervención de IA</a:t>
            </a:r>
          </a:p>
          <a:p>
            <a:pPr algn="ctr"/>
            <a:r>
              <a:rPr lang="es-ES_tradnl" sz="1400" dirty="0">
                <a:solidFill>
                  <a:srgbClr val="2F4B5D"/>
                </a:solidFill>
                <a:latin typeface="Montserrat" panose="00000500000000000000" pitchFamily="2" charset="0"/>
              </a:rPr>
              <a:t>Salud, agricultura, educación, ciudades inteligentes y movilidad inteligente</a:t>
            </a:r>
          </a:p>
          <a:p>
            <a:pPr algn="ctr"/>
            <a:endParaRPr lang="es-ES_tradnl" sz="1400" dirty="0">
              <a:solidFill>
                <a:srgbClr val="2F4B5D"/>
              </a:solidFill>
              <a:latin typeface="Montserrat" panose="00000500000000000000" pitchFamily="2" charset="0"/>
            </a:endParaRPr>
          </a:p>
          <a:p>
            <a:pPr algn="ctr"/>
            <a:r>
              <a:rPr lang="es-ES_tradnl" sz="1400" b="1" dirty="0">
                <a:solidFill>
                  <a:srgbClr val="C00000"/>
                </a:solidFill>
                <a:latin typeface="Montserrat" panose="00000500000000000000" pitchFamily="2" charset="0"/>
              </a:rPr>
              <a:t>Masificación de capacitación IA - Empresas, gobierno, academia </a:t>
            </a:r>
          </a:p>
          <a:p>
            <a:pPr algn="ctr"/>
            <a:endParaRPr lang="es-ES_tradnl" sz="1400" dirty="0">
              <a:solidFill>
                <a:srgbClr val="2F4B5D"/>
              </a:solidFill>
              <a:latin typeface="Montserrat" panose="00000500000000000000" pitchFamily="2" charset="0"/>
            </a:endParaRPr>
          </a:p>
          <a:p>
            <a:pPr algn="ctr"/>
            <a:r>
              <a:rPr lang="es-ES_tradnl" sz="1400" b="1" dirty="0">
                <a:solidFill>
                  <a:srgbClr val="2F4B5D"/>
                </a:solidFill>
                <a:latin typeface="Montserrat" panose="00000500000000000000" pitchFamily="2" charset="0"/>
              </a:rPr>
              <a:t>Progreso Potencial</a:t>
            </a:r>
            <a:endParaRPr lang="es-ES_tradnl" sz="1400" dirty="0">
              <a:solidFill>
                <a:srgbClr val="2F4B5D"/>
              </a:solidFill>
              <a:latin typeface="Montserrat" panose="00000500000000000000" pitchFamily="2" charset="0"/>
            </a:endParaRPr>
          </a:p>
          <a:p>
            <a:pPr algn="ctr"/>
            <a:r>
              <a:rPr lang="es-ES_tradnl" sz="1400" dirty="0">
                <a:solidFill>
                  <a:srgbClr val="2F4B5D"/>
                </a:solidFill>
                <a:latin typeface="Montserrat" panose="00000500000000000000" pitchFamily="2" charset="0"/>
              </a:rPr>
              <a:t>Experiencias internacionales exitosas, potencial de alto impacto social en India</a:t>
            </a:r>
          </a:p>
          <a:p>
            <a:pPr algn="ctr"/>
            <a:endParaRPr lang="es-ES_tradnl" sz="1400" dirty="0">
              <a:solidFill>
                <a:srgbClr val="2F4B5D"/>
              </a:solidFill>
              <a:latin typeface="Montserrat" panose="00000500000000000000" pitchFamily="2" charset="0"/>
            </a:endParaRPr>
          </a:p>
          <a:p>
            <a:pPr algn="ctr"/>
            <a:r>
              <a:rPr lang="es-ES_tradnl" sz="1400" b="1" dirty="0">
                <a:solidFill>
                  <a:srgbClr val="C00000"/>
                </a:solidFill>
                <a:latin typeface="Montserrat" panose="00000500000000000000" pitchFamily="2" charset="0"/>
              </a:rPr>
              <a:t>Gran número de graduados en STEM y al compromiso del gobierno</a:t>
            </a:r>
          </a:p>
          <a:p>
            <a:pPr algn="ctr"/>
            <a:endParaRPr lang="es-ES_tradnl" sz="1400" b="1" dirty="0">
              <a:solidFill>
                <a:srgbClr val="2F4B5D"/>
              </a:solidFill>
              <a:latin typeface="Montserrat" panose="00000500000000000000" pitchFamily="2" charset="0"/>
            </a:endParaRPr>
          </a:p>
          <a:p>
            <a:pPr algn="ctr"/>
            <a:r>
              <a:rPr lang="es-ES_tradnl" sz="1400" b="1" dirty="0">
                <a:solidFill>
                  <a:srgbClr val="2F4B5D"/>
                </a:solidFill>
                <a:latin typeface="Montserrat" panose="00000500000000000000" pitchFamily="2" charset="0"/>
              </a:rPr>
              <a:t>Desafíos  </a:t>
            </a:r>
          </a:p>
          <a:p>
            <a:pPr algn="ctr"/>
            <a:r>
              <a:rPr lang="es-ES_tradnl" sz="1400" dirty="0">
                <a:solidFill>
                  <a:srgbClr val="2F4B5D"/>
                </a:solidFill>
                <a:latin typeface="Montserrat" panose="00000500000000000000" pitchFamily="2" charset="0"/>
              </a:rPr>
              <a:t>Fuga de cerebros, infraestructuras débiles para respaldar la conectividad, falta de preparación de IA en la región y de una estrategia gubernamental</a:t>
            </a:r>
          </a:p>
        </p:txBody>
      </p:sp>
      <p:sp>
        <p:nvSpPr>
          <p:cNvPr id="6" name="Google Shape;423;p7">
            <a:extLst>
              <a:ext uri="{FF2B5EF4-FFF2-40B4-BE49-F238E27FC236}">
                <a16:creationId xmlns:a16="http://schemas.microsoft.com/office/drawing/2014/main" id="{DF0CD760-A5AB-48EA-A0F4-018853ED89A2}"/>
              </a:ext>
            </a:extLst>
          </p:cNvPr>
          <p:cNvSpPr/>
          <p:nvPr/>
        </p:nvSpPr>
        <p:spPr>
          <a:xfrm>
            <a:off x="89998" y="255517"/>
            <a:ext cx="3402957" cy="611472"/>
          </a:xfrm>
          <a:prstGeom prst="rect">
            <a:avLst/>
          </a:prstGeom>
          <a:solidFill>
            <a:srgbClr val="C41927"/>
          </a:solidFill>
          <a:ln>
            <a:noFill/>
          </a:ln>
        </p:spPr>
        <p:txBody>
          <a:bodyPr spcFirstLastPara="1" wrap="square" lIns="91425" tIns="45700" rIns="91425" bIns="45700" anchor="t" anchorCtr="0">
            <a:noAutofit/>
          </a:bodyPr>
          <a:lstStyle/>
          <a:p>
            <a:pPr algn="ctr"/>
            <a:r>
              <a:rPr lang="en-CH" sz="1400" b="1" dirty="0">
                <a:solidFill>
                  <a:schemeClr val="bg1"/>
                </a:solidFill>
                <a:latin typeface="Montserrat" panose="00000500000000000000" pitchFamily="2" charset="0"/>
              </a:rPr>
              <a:t>E</a:t>
            </a:r>
            <a:r>
              <a:rPr lang="en-GB" sz="1400" b="1" dirty="0">
                <a:solidFill>
                  <a:schemeClr val="bg1"/>
                </a:solidFill>
                <a:latin typeface="Montserrat" panose="00000500000000000000" pitchFamily="2" charset="0"/>
              </a:rPr>
              <a:t>S</a:t>
            </a:r>
            <a:r>
              <a:rPr lang="en-CH" sz="1400" b="1" dirty="0">
                <a:solidFill>
                  <a:schemeClr val="bg1"/>
                </a:solidFill>
                <a:latin typeface="Montserrat" panose="00000500000000000000" pitchFamily="2" charset="0"/>
              </a:rPr>
              <a:t>TADOS U</a:t>
            </a:r>
            <a:r>
              <a:rPr lang="en-GB" sz="1400" b="1" dirty="0">
                <a:solidFill>
                  <a:schemeClr val="bg1"/>
                </a:solidFill>
                <a:latin typeface="Montserrat" panose="00000500000000000000" pitchFamily="2" charset="0"/>
              </a:rPr>
              <a:t>N</a:t>
            </a:r>
            <a:r>
              <a:rPr lang="en-CH" sz="1400" b="1" dirty="0">
                <a:solidFill>
                  <a:schemeClr val="bg1"/>
                </a:solidFill>
                <a:latin typeface="Montserrat" panose="00000500000000000000" pitchFamily="2" charset="0"/>
              </a:rPr>
              <a:t>IDOS DE NORTEAMERICA</a:t>
            </a:r>
            <a:endParaRPr lang="en-CH" sz="800" b="1" dirty="0">
              <a:solidFill>
                <a:schemeClr val="bg1"/>
              </a:solidFill>
              <a:latin typeface="Montserrat" panose="00000500000000000000" pitchFamily="2" charset="0"/>
            </a:endParaRPr>
          </a:p>
          <a:p>
            <a:pPr marL="0" marR="0" lvl="0" indent="0" algn="ctr" rtl="0">
              <a:lnSpc>
                <a:spcPct val="100000"/>
              </a:lnSpc>
              <a:spcBef>
                <a:spcPts val="0"/>
              </a:spcBef>
              <a:spcAft>
                <a:spcPts val="0"/>
              </a:spcAft>
              <a:buNone/>
            </a:pPr>
            <a:endParaRPr lang="en-US" sz="1400" b="0" i="0" u="none" strike="noStrike" cap="none" dirty="0">
              <a:solidFill>
                <a:schemeClr val="lt1"/>
              </a:solidFill>
              <a:latin typeface="Arial"/>
              <a:ea typeface="Arial"/>
              <a:cs typeface="Arial"/>
              <a:sym typeface="Arial"/>
            </a:endParaRPr>
          </a:p>
        </p:txBody>
      </p:sp>
      <p:sp>
        <p:nvSpPr>
          <p:cNvPr id="7" name="Google Shape;423;p7">
            <a:extLst>
              <a:ext uri="{FF2B5EF4-FFF2-40B4-BE49-F238E27FC236}">
                <a16:creationId xmlns:a16="http://schemas.microsoft.com/office/drawing/2014/main" id="{59BFCE06-C9EF-4173-9466-E7376C7952F0}"/>
              </a:ext>
            </a:extLst>
          </p:cNvPr>
          <p:cNvSpPr/>
          <p:nvPr/>
        </p:nvSpPr>
        <p:spPr>
          <a:xfrm>
            <a:off x="4284117" y="242454"/>
            <a:ext cx="3402957" cy="611472"/>
          </a:xfrm>
          <a:prstGeom prst="rect">
            <a:avLst/>
          </a:prstGeom>
          <a:solidFill>
            <a:srgbClr val="C41927"/>
          </a:solidFill>
          <a:ln>
            <a:noFill/>
          </a:ln>
        </p:spPr>
        <p:txBody>
          <a:bodyPr spcFirstLastPara="1" wrap="square" lIns="91425" tIns="45700" rIns="91425" bIns="45700" anchor="b" anchorCtr="0">
            <a:noAutofit/>
          </a:bodyPr>
          <a:lstStyle/>
          <a:p>
            <a:pPr algn="ctr"/>
            <a:r>
              <a:rPr lang="es-PE" sz="1400" b="1" dirty="0">
                <a:solidFill>
                  <a:schemeClr val="bg1"/>
                </a:solidFill>
                <a:latin typeface="Montserrat" panose="00000500000000000000" pitchFamily="2" charset="0"/>
              </a:rPr>
              <a:t>CHINA</a:t>
            </a:r>
            <a:endParaRPr lang="en-CH" sz="800" b="1" dirty="0">
              <a:solidFill>
                <a:schemeClr val="bg1"/>
              </a:solidFill>
              <a:latin typeface="Montserrat" panose="00000500000000000000" pitchFamily="2" charset="0"/>
            </a:endParaRPr>
          </a:p>
          <a:p>
            <a:pPr marL="0" marR="0" lvl="0" indent="0" algn="ctr" rtl="0">
              <a:lnSpc>
                <a:spcPct val="100000"/>
              </a:lnSpc>
              <a:spcBef>
                <a:spcPts val="0"/>
              </a:spcBef>
              <a:spcAft>
                <a:spcPts val="0"/>
              </a:spcAft>
              <a:buNone/>
            </a:pPr>
            <a:endParaRPr lang="en-US" sz="1400" b="0" i="0" u="none" strike="noStrike" cap="none" dirty="0">
              <a:solidFill>
                <a:schemeClr val="lt1"/>
              </a:solidFill>
              <a:latin typeface="Arial"/>
              <a:ea typeface="Arial"/>
              <a:cs typeface="Arial"/>
              <a:sym typeface="Arial"/>
            </a:endParaRPr>
          </a:p>
        </p:txBody>
      </p:sp>
      <p:sp>
        <p:nvSpPr>
          <p:cNvPr id="9" name="Google Shape;423;p7">
            <a:extLst>
              <a:ext uri="{FF2B5EF4-FFF2-40B4-BE49-F238E27FC236}">
                <a16:creationId xmlns:a16="http://schemas.microsoft.com/office/drawing/2014/main" id="{BD1D8583-234E-4559-BF4F-EBEF2158E0AE}"/>
              </a:ext>
            </a:extLst>
          </p:cNvPr>
          <p:cNvSpPr/>
          <p:nvPr/>
        </p:nvSpPr>
        <p:spPr>
          <a:xfrm>
            <a:off x="8509798" y="242454"/>
            <a:ext cx="3402957" cy="611472"/>
          </a:xfrm>
          <a:prstGeom prst="rect">
            <a:avLst/>
          </a:prstGeom>
          <a:solidFill>
            <a:srgbClr val="C41927"/>
          </a:solidFill>
          <a:ln>
            <a:noFill/>
          </a:ln>
        </p:spPr>
        <p:txBody>
          <a:bodyPr spcFirstLastPara="1" wrap="square" lIns="91425" tIns="45700" rIns="91425" bIns="45700" anchor="b" anchorCtr="0">
            <a:noAutofit/>
          </a:bodyPr>
          <a:lstStyle/>
          <a:p>
            <a:pPr algn="ctr"/>
            <a:r>
              <a:rPr lang="es-PE" sz="1400" b="1" dirty="0">
                <a:solidFill>
                  <a:schemeClr val="bg1"/>
                </a:solidFill>
                <a:latin typeface="Montserrat" panose="00000500000000000000" pitchFamily="2" charset="0"/>
              </a:rPr>
              <a:t>INDIA</a:t>
            </a:r>
            <a:endParaRPr lang="en-CH" sz="800" b="1" dirty="0">
              <a:solidFill>
                <a:schemeClr val="bg1"/>
              </a:solidFill>
              <a:latin typeface="Montserrat" panose="00000500000000000000" pitchFamily="2" charset="0"/>
            </a:endParaRPr>
          </a:p>
          <a:p>
            <a:pPr marL="0" marR="0" lvl="0" indent="0" algn="ctr" rtl="0">
              <a:lnSpc>
                <a:spcPct val="100000"/>
              </a:lnSpc>
              <a:spcBef>
                <a:spcPts val="0"/>
              </a:spcBef>
              <a:spcAft>
                <a:spcPts val="0"/>
              </a:spcAft>
              <a:buNone/>
            </a:pPr>
            <a:endParaRPr lang="en-US" sz="14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61845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85A02B-029B-E34B-438B-21BEE1368B17}"/>
              </a:ext>
            </a:extLst>
          </p:cNvPr>
          <p:cNvSpPr txBox="1"/>
          <p:nvPr/>
        </p:nvSpPr>
        <p:spPr>
          <a:xfrm>
            <a:off x="838200" y="184806"/>
            <a:ext cx="10515600" cy="365126"/>
          </a:xfrm>
          <a:prstGeom prst="rect">
            <a:avLst/>
          </a:prstGeom>
        </p:spPr>
        <p:txBody>
          <a:bodyPr vert="horz" lIns="91440" tIns="45720" rIns="91440" bIns="45720" rtlCol="0" anchor="ctr">
            <a:normAutofit lnSpcReduction="10000"/>
          </a:bodyPr>
          <a:lstStyle/>
          <a:p>
            <a:pPr algn="ctr"/>
            <a:endParaRPr lang="en-CH" sz="1800" b="1">
              <a:effectLst/>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a16="http://schemas.microsoft.com/office/drawing/2014/main" id="{FA434A09-9A57-2060-7550-2C8AA21F0F4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897FFF3-9BE7-6F4B-AB28-3A1D192ED757}" type="slidenum">
              <a:rPr lang="en-US" smtClean="0"/>
              <a:pPr>
                <a:spcAft>
                  <a:spcPts val="600"/>
                </a:spcAft>
              </a:pPr>
              <a:t>18</a:t>
            </a:fld>
            <a:endParaRPr lang="en-US"/>
          </a:p>
        </p:txBody>
      </p:sp>
      <p:sp>
        <p:nvSpPr>
          <p:cNvPr id="3" name="Google Shape;423;p7">
            <a:extLst>
              <a:ext uri="{FF2B5EF4-FFF2-40B4-BE49-F238E27FC236}">
                <a16:creationId xmlns:a16="http://schemas.microsoft.com/office/drawing/2014/main" id="{CE5F57E0-FB7F-96AE-286D-80FF6FF0EA16}"/>
              </a:ext>
            </a:extLst>
          </p:cNvPr>
          <p:cNvSpPr/>
          <p:nvPr/>
        </p:nvSpPr>
        <p:spPr>
          <a:xfrm>
            <a:off x="0" y="-10517"/>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r>
              <a:rPr lang="es-ES" sz="28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800" b="1" dirty="0">
                <a:solidFill>
                  <a:schemeClr val="bg1"/>
                </a:solidFill>
                <a:effectLst/>
                <a:latin typeface="Segoe UI" panose="020B0502040204020203" pitchFamily="34" charset="0"/>
                <a:ea typeface="Times New Roman" panose="02020603050405020304" pitchFamily="18" charset="0"/>
              </a:rPr>
              <a:t>IA transforma Puertos del Mundo</a:t>
            </a:r>
          </a:p>
        </p:txBody>
      </p:sp>
      <p:graphicFrame>
        <p:nvGraphicFramePr>
          <p:cNvPr id="6" name="Table 7">
            <a:extLst>
              <a:ext uri="{FF2B5EF4-FFF2-40B4-BE49-F238E27FC236}">
                <a16:creationId xmlns:a16="http://schemas.microsoft.com/office/drawing/2014/main" id="{C9470054-5357-DBC3-8622-DDE6743D32EA}"/>
              </a:ext>
            </a:extLst>
          </p:cNvPr>
          <p:cNvGraphicFramePr>
            <a:graphicFrameLocks noGrp="1"/>
          </p:cNvGraphicFramePr>
          <p:nvPr/>
        </p:nvGraphicFramePr>
        <p:xfrm>
          <a:off x="476761" y="793823"/>
          <a:ext cx="11238988" cy="5458203"/>
        </p:xfrm>
        <a:graphic>
          <a:graphicData uri="http://schemas.openxmlformats.org/drawingml/2006/table">
            <a:tbl>
              <a:tblPr firstRow="1" bandRow="1">
                <a:tableStyleId>{69CF1AB2-1976-4502-BF36-3FF5EA218861}</a:tableStyleId>
              </a:tblPr>
              <a:tblGrid>
                <a:gridCol w="426049">
                  <a:extLst>
                    <a:ext uri="{9D8B030D-6E8A-4147-A177-3AD203B41FA5}">
                      <a16:colId xmlns:a16="http://schemas.microsoft.com/office/drawing/2014/main" val="3618704967"/>
                    </a:ext>
                  </a:extLst>
                </a:gridCol>
                <a:gridCol w="2497352">
                  <a:extLst>
                    <a:ext uri="{9D8B030D-6E8A-4147-A177-3AD203B41FA5}">
                      <a16:colId xmlns:a16="http://schemas.microsoft.com/office/drawing/2014/main" val="2495306722"/>
                    </a:ext>
                  </a:extLst>
                </a:gridCol>
                <a:gridCol w="8315587">
                  <a:extLst>
                    <a:ext uri="{9D8B030D-6E8A-4147-A177-3AD203B41FA5}">
                      <a16:colId xmlns:a16="http://schemas.microsoft.com/office/drawing/2014/main" val="2062637251"/>
                    </a:ext>
                  </a:extLst>
                </a:gridCol>
              </a:tblGrid>
              <a:tr h="257178">
                <a:tc>
                  <a:txBody>
                    <a:bodyPr/>
                    <a:lstStyle/>
                    <a:p>
                      <a:endParaRPr lang="en-CH"/>
                    </a:p>
                  </a:txBody>
                  <a:tcPr/>
                </a:tc>
                <a:tc>
                  <a:txBody>
                    <a:bodyPr/>
                    <a:lstStyle/>
                    <a:p>
                      <a:pPr algn="ctr"/>
                      <a:r>
                        <a:rPr lang="en-CH" sz="2000" dirty="0">
                          <a:latin typeface="Segoe UI" panose="020B0502040204020203" pitchFamily="34" charset="0"/>
                          <a:cs typeface="Segoe UI" panose="020B0502040204020203" pitchFamily="34" charset="0"/>
                        </a:rPr>
                        <a:t>Funcion</a:t>
                      </a:r>
                    </a:p>
                  </a:txBody>
                  <a:tcPr/>
                </a:tc>
                <a:tc>
                  <a:txBody>
                    <a:bodyPr/>
                    <a:lstStyle/>
                    <a:p>
                      <a:pPr algn="ctr"/>
                      <a:r>
                        <a:rPr lang="es-ES" sz="20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La Era de la IA</a:t>
                      </a:r>
                      <a:endParaRPr lang="en-CH" sz="2000" dirty="0">
                        <a:solidFill>
                          <a:schemeClr val="accent5">
                            <a:lumMod val="50000"/>
                          </a:schemeClr>
                        </a:solidFill>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965995927"/>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1</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Optimización logística</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Predicen flujos de carga, optimizan tiempos de atraque y rutas.</a:t>
                      </a:r>
                      <a:endParaRPr lang="en-CH" sz="1700" kern="100" dirty="0">
                        <a:solidFill>
                          <a:schemeClr val="accent5">
                            <a:lumMod val="50000"/>
                          </a:schemeClr>
                        </a:solidFill>
                        <a:effectLst/>
                        <a:latin typeface="Segoe UI" panose="020B0502040204020203" pitchFamily="34" charset="0"/>
                        <a:cs typeface="Segoe UI" panose="020B0502040204020203" pitchFamily="34" charset="0"/>
                      </a:endParaRPr>
                    </a:p>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Reducción de congestión portuaria y tiempos de espera.</a:t>
                      </a:r>
                      <a:endParaRPr lang="en-CH" sz="1700"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322941108"/>
                  </a:ext>
                </a:extLst>
              </a:tr>
              <a:tr h="883923">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2</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Automatización de operaciones</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Grúas, vehículos y almacenes inteligentes operan con mínima intervención humana.</a:t>
                      </a:r>
                      <a:endParaRPr lang="en-CH" sz="1700" kern="100" dirty="0">
                        <a:solidFill>
                          <a:schemeClr val="accent5">
                            <a:lumMod val="50000"/>
                          </a:schemeClr>
                        </a:solidFill>
                        <a:effectLst/>
                        <a:latin typeface="Segoe UI" panose="020B0502040204020203" pitchFamily="34" charset="0"/>
                        <a:cs typeface="Segoe UI" panose="020B0502040204020203" pitchFamily="34" charset="0"/>
                      </a:endParaRPr>
                    </a:p>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Aumento en la seguridad laboral y reducción de costos operativos.</a:t>
                      </a:r>
                      <a:endParaRPr lang="en-CH" sz="1700"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2404632906"/>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3</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Gestión inteligente - tráfico marítimo</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a:solidFill>
                            <a:schemeClr val="accent5">
                              <a:lumMod val="50000"/>
                            </a:schemeClr>
                          </a:solidFill>
                          <a:effectLst/>
                          <a:latin typeface="Segoe UI" panose="020B0502040204020203" pitchFamily="34" charset="0"/>
                          <a:cs typeface="Segoe UI" panose="020B0502040204020203" pitchFamily="34" charset="0"/>
                        </a:rPr>
                        <a:t>Facilita el control del tráfico de buques y previene colisiones mediante análisis en tiempo real.</a:t>
                      </a:r>
                      <a:endParaRPr lang="en-CH" sz="1700"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4265935606"/>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4</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Mantenimiento predictivo</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a:solidFill>
                            <a:schemeClr val="accent5">
                              <a:lumMod val="50000"/>
                            </a:schemeClr>
                          </a:solidFill>
                          <a:effectLst/>
                          <a:latin typeface="Segoe UI" panose="020B0502040204020203" pitchFamily="34" charset="0"/>
                          <a:cs typeface="Segoe UI" panose="020B0502040204020203" pitchFamily="34" charset="0"/>
                        </a:rPr>
                        <a:t>Sensores conectados a IA anticipan fallas en equipos e infraestructura, reduciendo tiempos muertos y costos de reparación.</a:t>
                      </a:r>
                      <a:endParaRPr lang="en-CH" sz="1700"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2174094014"/>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5</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Sostenibilidad ambiental</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a:solidFill>
                            <a:schemeClr val="accent5">
                              <a:lumMod val="50000"/>
                            </a:schemeClr>
                          </a:solidFill>
                          <a:effectLst/>
                          <a:latin typeface="Segoe UI" panose="020B0502040204020203" pitchFamily="34" charset="0"/>
                          <a:cs typeface="Segoe UI" panose="020B0502040204020203" pitchFamily="34" charset="0"/>
                        </a:rPr>
                        <a:t>Mejora la eficiencia energética y reduce emisiones gracias a algoritmos que optimizan el uso de recursos</a:t>
                      </a:r>
                      <a:endParaRPr lang="en-CH" sz="1700"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3931191079"/>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6</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a:solidFill>
                            <a:schemeClr val="accent5">
                              <a:lumMod val="50000"/>
                            </a:schemeClr>
                          </a:solidFill>
                          <a:effectLst/>
                          <a:latin typeface="Segoe UI" panose="020B0502040204020203" pitchFamily="34" charset="0"/>
                          <a:cs typeface="Segoe UI" panose="020B0502040204020203" pitchFamily="34" charset="0"/>
                        </a:rPr>
                        <a:t>Planificación urbana y portuaria</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Ayuda a diseñar ciudades marítimas inteligentes basadas en datos: movilidad, seguridad y servicios urbanos.</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2259546819"/>
                  </a:ext>
                </a:extLst>
              </a:tr>
              <a:tr h="696340">
                <a:tc>
                  <a:txBody>
                    <a:bodyPr/>
                    <a:lstStyle/>
                    <a:p>
                      <a:r>
                        <a:rPr lang="es-ES" sz="1600" kern="100">
                          <a:solidFill>
                            <a:schemeClr val="accent5">
                              <a:lumMod val="50000"/>
                            </a:schemeClr>
                          </a:solidFill>
                          <a:effectLst/>
                          <a:latin typeface="Segoe UI" panose="020B0502040204020203" pitchFamily="34" charset="0"/>
                          <a:cs typeface="Segoe UI" panose="020B0502040204020203" pitchFamily="34" charset="0"/>
                        </a:rPr>
                        <a:t>7</a:t>
                      </a:r>
                      <a:endParaRPr lang="en-CH" sz="1600" b="1" kern="10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r>
                        <a:rPr lang="es-ES" sz="1700" b="1" kern="100" dirty="0" err="1">
                          <a:solidFill>
                            <a:schemeClr val="accent5">
                              <a:lumMod val="50000"/>
                            </a:schemeClr>
                          </a:solidFill>
                          <a:effectLst/>
                          <a:latin typeface="Segoe UI" panose="020B0502040204020203" pitchFamily="34" charset="0"/>
                          <a:cs typeface="Segoe UI" panose="020B0502040204020203" pitchFamily="34" charset="0"/>
                        </a:rPr>
                        <a:t>Blockchain</a:t>
                      </a:r>
                      <a:r>
                        <a:rPr lang="es-ES" sz="1700" b="1" kern="100" dirty="0">
                          <a:solidFill>
                            <a:schemeClr val="accent5">
                              <a:lumMod val="50000"/>
                            </a:schemeClr>
                          </a:solidFill>
                          <a:effectLst/>
                          <a:latin typeface="Segoe UI" panose="020B0502040204020203" pitchFamily="34" charset="0"/>
                          <a:cs typeface="Segoe UI" panose="020B0502040204020203" pitchFamily="34" charset="0"/>
                        </a:rPr>
                        <a:t> App -</a:t>
                      </a:r>
                      <a:r>
                        <a:rPr lang="es-ES" sz="1700" b="1" kern="100" dirty="0" err="1">
                          <a:solidFill>
                            <a:schemeClr val="accent5">
                              <a:lumMod val="50000"/>
                            </a:schemeClr>
                          </a:solidFill>
                          <a:effectLst/>
                          <a:latin typeface="Segoe UI" panose="020B0502040204020203" pitchFamily="34" charset="0"/>
                          <a:cs typeface="Segoe UI" panose="020B0502040204020203" pitchFamily="34" charset="0"/>
                        </a:rPr>
                        <a:t>TradeLens</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tc>
                  <a:txBody>
                    <a:bodyPr/>
                    <a:lstStyle/>
                    <a:p>
                      <a:pPr marL="342900" lvl="0" indent="-342900">
                        <a:buFont typeface="Symbol" pitchFamily="2" charset="2"/>
                        <a:buChar char=""/>
                      </a:pPr>
                      <a:r>
                        <a:rPr lang="es-ES" sz="1700" kern="100" dirty="0">
                          <a:solidFill>
                            <a:schemeClr val="accent5">
                              <a:lumMod val="50000"/>
                            </a:schemeClr>
                          </a:solidFill>
                          <a:effectLst/>
                          <a:latin typeface="Segoe UI" panose="020B0502040204020203" pitchFamily="34" charset="0"/>
                          <a:cs typeface="Segoe UI" panose="020B0502040204020203" pitchFamily="34" charset="0"/>
                        </a:rPr>
                        <a:t>Seguimiento seguro, transparente y en tiempo real de contenedores y documentos logísticos, a lo largo de toda la cadena de suministro global.</a:t>
                      </a:r>
                      <a:endParaRPr lang="en-CH" sz="17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20929" marR="120929" marT="0" marB="0"/>
                </a:tc>
                <a:extLst>
                  <a:ext uri="{0D108BD9-81ED-4DB2-BD59-A6C34878D82A}">
                    <a16:rowId xmlns:a16="http://schemas.microsoft.com/office/drawing/2014/main" val="2237728907"/>
                  </a:ext>
                </a:extLst>
              </a:tr>
            </a:tbl>
          </a:graphicData>
        </a:graphic>
      </p:graphicFrame>
    </p:spTree>
    <p:extLst>
      <p:ext uri="{BB962C8B-B14F-4D97-AF65-F5344CB8AC3E}">
        <p14:creationId xmlns:p14="http://schemas.microsoft.com/office/powerpoint/2010/main" val="2774457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AC796E-B464-F6A8-89AD-1668181CC076}"/>
              </a:ext>
            </a:extLst>
          </p:cNvPr>
          <p:cNvSpPr>
            <a:spLocks noGrp="1"/>
          </p:cNvSpPr>
          <p:nvPr>
            <p:ph type="sldNum" sz="quarter" idx="12"/>
          </p:nvPr>
        </p:nvSpPr>
        <p:spPr/>
        <p:txBody>
          <a:bodyPr/>
          <a:lstStyle/>
          <a:p>
            <a:fld id="{6897FFF3-9BE7-6F4B-AB28-3A1D192ED757}" type="slidenum">
              <a:rPr lang="en-CH" smtClean="0"/>
              <a:t>19</a:t>
            </a:fld>
            <a:endParaRPr lang="en-CH"/>
          </a:p>
        </p:txBody>
      </p:sp>
      <p:sp>
        <p:nvSpPr>
          <p:cNvPr id="4" name="TextBox 3">
            <a:extLst>
              <a:ext uri="{FF2B5EF4-FFF2-40B4-BE49-F238E27FC236}">
                <a16:creationId xmlns:a16="http://schemas.microsoft.com/office/drawing/2014/main" id="{11DC556F-192A-2412-32D5-DE4EABD0DB2B}"/>
              </a:ext>
            </a:extLst>
          </p:cNvPr>
          <p:cNvSpPr txBox="1"/>
          <p:nvPr/>
        </p:nvSpPr>
        <p:spPr>
          <a:xfrm>
            <a:off x="-793678" y="6837722"/>
            <a:ext cx="11809709" cy="1323439"/>
          </a:xfrm>
          <a:prstGeom prst="rect">
            <a:avLst/>
          </a:prstGeom>
          <a:noFill/>
        </p:spPr>
        <p:txBody>
          <a:bodyPr wrap="square">
            <a:spAutoFit/>
          </a:bodyPr>
          <a:lstStyle/>
          <a:p>
            <a:pPr algn="l" fontAlgn="ctr"/>
            <a:r>
              <a:rPr lang="es-ES_tradnl" sz="1600" b="0" i="0" dirty="0">
                <a:solidFill>
                  <a:schemeClr val="accent5">
                    <a:lumMod val="50000"/>
                  </a:schemeClr>
                </a:solidFill>
                <a:effectLst/>
                <a:latin typeface="Segoe UI" panose="020B0502040204020203" pitchFamily="34" charset="0"/>
                <a:cs typeface="Segoe UI" panose="020B0502040204020203" pitchFamily="34" charset="0"/>
              </a:rPr>
              <a:t> </a:t>
            </a:r>
          </a:p>
          <a:p>
            <a:pPr algn="l"/>
            <a:endParaRPr lang="es-ES_tradnl" sz="1600" b="0" i="0" dirty="0">
              <a:solidFill>
                <a:schemeClr val="accent5">
                  <a:lumMod val="50000"/>
                </a:schemeClr>
              </a:solidFill>
              <a:effectLst/>
              <a:latin typeface="Segoe UI" panose="020B0502040204020203" pitchFamily="34" charset="0"/>
              <a:cs typeface="Segoe UI" panose="020B0502040204020203" pitchFamily="34" charset="0"/>
            </a:endParaRPr>
          </a:p>
          <a:p>
            <a:pPr algn="l"/>
            <a:endParaRPr lang="es-ES_tradnl" sz="1600" b="0" i="0" dirty="0">
              <a:solidFill>
                <a:schemeClr val="accent5">
                  <a:lumMod val="50000"/>
                </a:schemeClr>
              </a:solidFill>
              <a:effectLst/>
              <a:latin typeface="Segoe UI" panose="020B0502040204020203" pitchFamily="34" charset="0"/>
              <a:cs typeface="Segoe UI" panose="020B0502040204020203" pitchFamily="34" charset="0"/>
            </a:endParaRPr>
          </a:p>
          <a:p>
            <a:pPr algn="l" fontAlgn="ctr"/>
            <a:endParaRPr lang="es-ES_tradnl" sz="1600" b="0" i="0" dirty="0">
              <a:solidFill>
                <a:schemeClr val="accent5">
                  <a:lumMod val="50000"/>
                </a:schemeClr>
              </a:solidFill>
              <a:effectLst/>
              <a:latin typeface="Segoe UI" panose="020B0502040204020203" pitchFamily="34" charset="0"/>
              <a:cs typeface="Segoe UI" panose="020B0502040204020203" pitchFamily="34" charset="0"/>
            </a:endParaRPr>
          </a:p>
          <a:p>
            <a:pPr algn="l" fontAlgn="ctr"/>
            <a:endParaRPr lang="es-ES_tradnl" sz="1600" dirty="0">
              <a:solidFill>
                <a:schemeClr val="accent5">
                  <a:lumMod val="50000"/>
                </a:schemeClr>
              </a:solidFill>
              <a:latin typeface="Segoe UI" panose="020B0502040204020203" pitchFamily="34" charset="0"/>
              <a:cs typeface="Segoe UI" panose="020B0502040204020203" pitchFamily="34" charset="0"/>
            </a:endParaRPr>
          </a:p>
        </p:txBody>
      </p:sp>
      <p:sp>
        <p:nvSpPr>
          <p:cNvPr id="3" name="Google Shape;423;p7">
            <a:extLst>
              <a:ext uri="{FF2B5EF4-FFF2-40B4-BE49-F238E27FC236}">
                <a16:creationId xmlns:a16="http://schemas.microsoft.com/office/drawing/2014/main" id="{03BC675A-52CC-44E1-A762-3CC75C1A5A43}"/>
              </a:ext>
            </a:extLst>
          </p:cNvPr>
          <p:cNvSpPr/>
          <p:nvPr/>
        </p:nvSpPr>
        <p:spPr>
          <a:xfrm>
            <a:off x="-15498" y="20278"/>
            <a:ext cx="12192000" cy="453251"/>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effectLst/>
              <a:latin typeface="Montserrat" pitchFamily="2" charset="77"/>
            </a:endParaRPr>
          </a:p>
          <a:p>
            <a:pPr algn="ctr"/>
            <a:r>
              <a:rPr lang="es-ES_tradnl" sz="2800" b="1" i="0" dirty="0">
                <a:solidFill>
                  <a:schemeClr val="bg1"/>
                </a:solidFill>
                <a:effectLst/>
                <a:latin typeface="Segoe UI" panose="020B0502040204020203" pitchFamily="34" charset="0"/>
                <a:cs typeface="Segoe UI" panose="020B0502040204020203" pitchFamily="34" charset="0"/>
              </a:rPr>
              <a:t>La IA – Chancay Automatización y Predicción</a:t>
            </a:r>
            <a:endParaRPr lang="fr-CH" sz="2800" b="1" dirty="0">
              <a:solidFill>
                <a:schemeClr val="bg1"/>
              </a:solidFill>
              <a:latin typeface="Montserrat" pitchFamily="2" charset="77"/>
            </a:endParaRPr>
          </a:p>
          <a:p>
            <a:pPr algn="ctr"/>
            <a:endParaRPr lang="es-ES_tradnl" sz="2800" b="1" i="0" u="none" strike="noStrike" dirty="0">
              <a:solidFill>
                <a:schemeClr val="bg1"/>
              </a:solidFill>
              <a:effectLst/>
              <a:latin typeface="Open Sans" panose="020B0606030504020204" pitchFamily="34" charset="0"/>
            </a:endParaRPr>
          </a:p>
        </p:txBody>
      </p:sp>
      <p:graphicFrame>
        <p:nvGraphicFramePr>
          <p:cNvPr id="6" name="Table 6">
            <a:extLst>
              <a:ext uri="{FF2B5EF4-FFF2-40B4-BE49-F238E27FC236}">
                <a16:creationId xmlns:a16="http://schemas.microsoft.com/office/drawing/2014/main" id="{C05D947A-FD69-1DD7-DED6-FC1F39A5633D}"/>
              </a:ext>
            </a:extLst>
          </p:cNvPr>
          <p:cNvGraphicFramePr>
            <a:graphicFrameLocks noGrp="1"/>
          </p:cNvGraphicFramePr>
          <p:nvPr>
            <p:extLst>
              <p:ext uri="{D42A27DB-BD31-4B8C-83A1-F6EECF244321}">
                <p14:modId xmlns:p14="http://schemas.microsoft.com/office/powerpoint/2010/main" val="1661814444"/>
              </p:ext>
            </p:extLst>
          </p:nvPr>
        </p:nvGraphicFramePr>
        <p:xfrm>
          <a:off x="472348" y="824394"/>
          <a:ext cx="11189368" cy="5467308"/>
        </p:xfrm>
        <a:graphic>
          <a:graphicData uri="http://schemas.openxmlformats.org/drawingml/2006/table">
            <a:tbl>
              <a:tblPr firstRow="1" bandRow="1">
                <a:tableStyleId>{BDBED569-4797-4DF1-A0F4-6AAB3CD982D8}</a:tableStyleId>
              </a:tblPr>
              <a:tblGrid>
                <a:gridCol w="2767897">
                  <a:extLst>
                    <a:ext uri="{9D8B030D-6E8A-4147-A177-3AD203B41FA5}">
                      <a16:colId xmlns:a16="http://schemas.microsoft.com/office/drawing/2014/main" val="923047397"/>
                    </a:ext>
                  </a:extLst>
                </a:gridCol>
                <a:gridCol w="8421471">
                  <a:extLst>
                    <a:ext uri="{9D8B030D-6E8A-4147-A177-3AD203B41FA5}">
                      <a16:colId xmlns:a16="http://schemas.microsoft.com/office/drawing/2014/main" val="2283385375"/>
                    </a:ext>
                  </a:extLst>
                </a:gridCol>
              </a:tblGrid>
              <a:tr h="660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Grúas Automatizadas de Muelle (SH </a:t>
                      </a:r>
                      <a:r>
                        <a:rPr lang="es-ES_tradnl" sz="1800" b="1" i="0" dirty="0" err="1">
                          <a:solidFill>
                            <a:schemeClr val="accent5">
                              <a:lumMod val="50000"/>
                            </a:schemeClr>
                          </a:solidFill>
                          <a:effectLst/>
                          <a:latin typeface="Segoe UI" panose="020B0502040204020203" pitchFamily="34" charset="0"/>
                          <a:cs typeface="Segoe UI" panose="020B0502040204020203" pitchFamily="34" charset="0"/>
                        </a:rPr>
                        <a:t>to</a:t>
                      </a: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 short)</a:t>
                      </a:r>
                      <a:endParaRPr lang="es-ES_tradnl" sz="1800" b="0" i="0" dirty="0">
                        <a:solidFill>
                          <a:schemeClr val="accent5">
                            <a:lumMod val="50000"/>
                          </a:schemeClr>
                        </a:solidFill>
                        <a:effectLst/>
                        <a:latin typeface="Segoe UI" panose="020B0502040204020203" pitchFamily="34" charset="0"/>
                        <a:cs typeface="Segoe UI" panose="020B0502040204020203"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Cargan y descargan de los buques. Grúas principales, de mayor tamaño, con brazos que pueden extenderse entre 70/80 metros. Capacidad de carga hasta 80 toneladas. </a:t>
                      </a:r>
                    </a:p>
                  </a:txBody>
                  <a:tcPr/>
                </a:tc>
                <a:extLst>
                  <a:ext uri="{0D108BD9-81ED-4DB2-BD59-A6C34878D82A}">
                    <a16:rowId xmlns:a16="http://schemas.microsoft.com/office/drawing/2014/main" val="3196474419"/>
                  </a:ext>
                </a:extLst>
              </a:tr>
              <a:tr h="660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 Grúas Automatizadas de Pórtico (ARMG)</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 </a:t>
                      </a:r>
                    </a:p>
                  </a:txBody>
                  <a:tcPr/>
                </a:tc>
                <a:tc>
                  <a:txBody>
                    <a:bodyPr/>
                    <a:lstStyle/>
                    <a:p>
                      <a:pPr marL="285750" indent="-285750" algn="l" fontAlgn="ctr">
                        <a:buFont typeface="Arial" panose="020B0604020202020204" pitchFamily="34" charset="0"/>
                        <a:buChar cha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Distribuyen los contenedores a los vehículos autónomos que los transportan. </a:t>
                      </a:r>
                      <a:r>
                        <a:rPr lang="es-ES_tradnl" sz="1800" dirty="0">
                          <a:solidFill>
                            <a:schemeClr val="accent5">
                              <a:lumMod val="50000"/>
                            </a:schemeClr>
                          </a:solidFill>
                          <a:latin typeface="Segoe UI" panose="020B0502040204020203" pitchFamily="34" charset="0"/>
                          <a:cs typeface="Segoe UI" panose="020B0502040204020203" pitchFamily="34" charset="0"/>
                        </a:rPr>
                        <a:t>C</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on una altura de alrededor de 27 metros, operan en el patio de contenedores. ARMG (</a:t>
                      </a:r>
                      <a:r>
                        <a:rPr lang="en-GB" sz="1800" b="0" i="0" kern="1200" dirty="0" err="1">
                          <a:solidFill>
                            <a:schemeClr val="accent5">
                              <a:lumMod val="50000"/>
                            </a:schemeClr>
                          </a:solidFill>
                          <a:effectLst/>
                          <a:latin typeface="+mn-lt"/>
                          <a:ea typeface="+mn-ea"/>
                          <a:cs typeface="+mn-cs"/>
                        </a:rPr>
                        <a:t>Grúa</a:t>
                      </a:r>
                      <a:r>
                        <a:rPr lang="en-GB" sz="1800" b="0" i="0" kern="1200" dirty="0">
                          <a:solidFill>
                            <a:schemeClr val="accent5">
                              <a:lumMod val="50000"/>
                            </a:schemeClr>
                          </a:solidFill>
                          <a:effectLst/>
                          <a:latin typeface="+mn-lt"/>
                          <a:ea typeface="+mn-ea"/>
                          <a:cs typeface="+mn-cs"/>
                        </a:rPr>
                        <a:t> </a:t>
                      </a:r>
                      <a:r>
                        <a:rPr lang="en-GB" sz="1800" b="0" i="0" kern="1200" dirty="0" err="1">
                          <a:solidFill>
                            <a:schemeClr val="accent5">
                              <a:lumMod val="50000"/>
                            </a:schemeClr>
                          </a:solidFill>
                          <a:effectLst/>
                          <a:latin typeface="+mn-lt"/>
                          <a:ea typeface="+mn-ea"/>
                          <a:cs typeface="+mn-cs"/>
                        </a:rPr>
                        <a:t>Montada</a:t>
                      </a:r>
                      <a:r>
                        <a:rPr lang="en-GB" sz="1800" b="0" i="0" kern="1200" dirty="0">
                          <a:solidFill>
                            <a:schemeClr val="accent5">
                              <a:lumMod val="50000"/>
                            </a:schemeClr>
                          </a:solidFill>
                          <a:effectLst/>
                          <a:latin typeface="+mn-lt"/>
                          <a:ea typeface="+mn-ea"/>
                          <a:cs typeface="+mn-cs"/>
                        </a:rPr>
                        <a:t> </a:t>
                      </a:r>
                      <a:r>
                        <a:rPr lang="en-GB" sz="1800" b="0" i="0" kern="1200" dirty="0" err="1">
                          <a:solidFill>
                            <a:schemeClr val="accent5">
                              <a:lumMod val="50000"/>
                            </a:schemeClr>
                          </a:solidFill>
                          <a:effectLst/>
                          <a:latin typeface="+mn-lt"/>
                          <a:ea typeface="+mn-ea"/>
                          <a:cs typeface="+mn-cs"/>
                        </a:rPr>
                        <a:t>sobre</a:t>
                      </a:r>
                      <a:r>
                        <a:rPr lang="en-GB" sz="1800" b="0" i="0" kern="1200" dirty="0">
                          <a:solidFill>
                            <a:schemeClr val="accent5">
                              <a:lumMod val="50000"/>
                            </a:schemeClr>
                          </a:solidFill>
                          <a:effectLst/>
                          <a:latin typeface="+mn-lt"/>
                          <a:ea typeface="+mn-ea"/>
                          <a:cs typeface="+mn-cs"/>
                        </a:rPr>
                        <a:t> </a:t>
                      </a:r>
                      <a:r>
                        <a:rPr lang="en-GB" sz="1800" b="0" i="0" kern="1200" dirty="0" err="1">
                          <a:solidFill>
                            <a:schemeClr val="accent5">
                              <a:lumMod val="50000"/>
                            </a:schemeClr>
                          </a:solidFill>
                          <a:effectLst/>
                          <a:latin typeface="+mn-lt"/>
                          <a:ea typeface="+mn-ea"/>
                          <a:cs typeface="+mn-cs"/>
                        </a:rPr>
                        <a:t>Rieles</a:t>
                      </a:r>
                      <a:r>
                        <a:rPr lang="en-GB" sz="1800" b="0" i="0" kern="1200" dirty="0">
                          <a:solidFill>
                            <a:schemeClr val="accent5">
                              <a:lumMod val="50000"/>
                            </a:schemeClr>
                          </a:solidFill>
                          <a:effectLst/>
                          <a:latin typeface="+mn-lt"/>
                          <a:ea typeface="+mn-ea"/>
                          <a:cs typeface="+mn-cs"/>
                        </a:rPr>
                        <a:t> </a:t>
                      </a:r>
                      <a:r>
                        <a:rPr lang="en-GB" sz="1800" b="0" i="0" kern="1200" dirty="0" err="1">
                          <a:solidFill>
                            <a:schemeClr val="accent5">
                              <a:lumMod val="50000"/>
                            </a:schemeClr>
                          </a:solidFill>
                          <a:effectLst/>
                          <a:latin typeface="+mn-lt"/>
                          <a:ea typeface="+mn-ea"/>
                          <a:cs typeface="+mn-cs"/>
                        </a:rPr>
                        <a:t>Automatizada</a:t>
                      </a:r>
                      <a:r>
                        <a:rPr lang="en-GB" sz="1800" b="0" i="0" kern="1200" dirty="0">
                          <a:solidFill>
                            <a:schemeClr val="accent5">
                              <a:lumMod val="50000"/>
                            </a:schemeClr>
                          </a:solidFill>
                          <a:effectLst/>
                          <a:latin typeface="+mn-lt"/>
                          <a:ea typeface="+mn-ea"/>
                          <a:cs typeface="+mn-cs"/>
                        </a:rPr>
                        <a:t>)</a:t>
                      </a:r>
                      <a:endParaRPr lang="es-ES_tradnl" sz="1800" b="0" i="0" dirty="0">
                        <a:solidFill>
                          <a:schemeClr val="accent5">
                            <a:lumMod val="50000"/>
                          </a:schemeClr>
                        </a:solidFill>
                        <a:effectLst/>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759054596"/>
                  </a:ext>
                </a:extLst>
              </a:tr>
              <a:tr h="660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Automatización y Control </a:t>
                      </a:r>
                      <a:r>
                        <a:rPr lang="es-ES_tradnl" sz="1800" b="1" dirty="0">
                          <a:solidFill>
                            <a:schemeClr val="accent5">
                              <a:lumMod val="50000"/>
                            </a:schemeClr>
                          </a:solidFill>
                          <a:latin typeface="Segoe UI" panose="020B0502040204020203" pitchFamily="34" charset="0"/>
                          <a:cs typeface="Segoe UI" panose="020B0502040204020203" pitchFamily="34" charset="0"/>
                        </a:rPr>
                        <a:t>R</a:t>
                      </a: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emoto</a:t>
                      </a:r>
                      <a:endParaRPr lang="es-ES_tradnl" sz="1800" b="0" i="0" dirty="0">
                        <a:solidFill>
                          <a:schemeClr val="accent5">
                            <a:lumMod val="50000"/>
                          </a:schemeClr>
                        </a:solidFill>
                        <a:effectLst/>
                        <a:latin typeface="Segoe UI" panose="020B0502040204020203" pitchFamily="34" charset="0"/>
                        <a:cs typeface="Segoe UI" panose="020B0502040204020203"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dirty="0">
                          <a:solidFill>
                            <a:schemeClr val="accent5">
                              <a:lumMod val="50000"/>
                            </a:schemeClr>
                          </a:solidFill>
                          <a:latin typeface="Segoe UI" panose="020B0502040204020203" pitchFamily="34" charset="0"/>
                          <a:cs typeface="Segoe UI" panose="020B0502040204020203" pitchFamily="34" charset="0"/>
                        </a:rPr>
                        <a:t>O</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peran de forma totalmente automatizada, sin necesidad de operadores humanos, gracias a un sistema de control remoto avanzado. </a:t>
                      </a:r>
                    </a:p>
                  </a:txBody>
                  <a:tcPr/>
                </a:tc>
                <a:extLst>
                  <a:ext uri="{0D108BD9-81ED-4DB2-BD59-A6C34878D82A}">
                    <a16:rowId xmlns:a16="http://schemas.microsoft.com/office/drawing/2014/main" val="2615551206"/>
                  </a:ext>
                </a:extLst>
              </a:tr>
              <a:tr h="4890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Sincronización</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Grúas trabajan de forma sincronizada para optimizar los flujos de trabajo. </a:t>
                      </a:r>
                    </a:p>
                  </a:txBody>
                  <a:tcPr/>
                </a:tc>
                <a:extLst>
                  <a:ext uri="{0D108BD9-81ED-4DB2-BD59-A6C34878D82A}">
                    <a16:rowId xmlns:a16="http://schemas.microsoft.com/office/drawing/2014/main" val="2585071136"/>
                  </a:ext>
                </a:extLst>
              </a:tr>
              <a:tr h="673726">
                <a:tc>
                  <a:txBody>
                    <a:bodyPr/>
                    <a:lstStyle/>
                    <a:p>
                      <a:pPr algn="l">
                        <a:buFont typeface="Arial" panose="020B0604020202020204" pitchFamily="34" charset="0"/>
                        <a:buNone/>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Transporte con Vehículos Autónomos no Tripulados (AGV)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Grúas de muelle transportan los contenedores a los AGV, que luego los llevan al patio de contenedores, donde las grúas ARMG los distribuyen. </a:t>
                      </a:r>
                    </a:p>
                  </a:txBody>
                  <a:tcPr/>
                </a:tc>
                <a:extLst>
                  <a:ext uri="{0D108BD9-81ED-4DB2-BD59-A6C34878D82A}">
                    <a16:rowId xmlns:a16="http://schemas.microsoft.com/office/drawing/2014/main" val="2669455969"/>
                  </a:ext>
                </a:extLst>
              </a:tr>
              <a:tr h="660336">
                <a:tc>
                  <a:txBody>
                    <a:bodyPr/>
                    <a:lstStyle/>
                    <a:p>
                      <a:pPr algn="l">
                        <a:buFont typeface="Arial" panose="020B0604020202020204" pitchFamily="34" charset="0"/>
                        <a:buNone/>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Eficiencia y Productividad</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Mayor eficiencia y reducción de los tiempos de operación. La automatización permite al puerto operar las 24 horas del día, los 7 días de la semana, sin interrupciones para descansos o cambios de turno.</a:t>
                      </a:r>
                    </a:p>
                  </a:txBody>
                  <a:tcPr/>
                </a:tc>
                <a:extLst>
                  <a:ext uri="{0D108BD9-81ED-4DB2-BD59-A6C34878D82A}">
                    <a16:rowId xmlns:a16="http://schemas.microsoft.com/office/drawing/2014/main" val="2771532660"/>
                  </a:ext>
                </a:extLst>
              </a:tr>
              <a:tr h="660336">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Reducción del Consumo </a:t>
                      </a:r>
                      <a:r>
                        <a:rPr lang="es-ES_tradnl" sz="1800" b="1" dirty="0">
                          <a:solidFill>
                            <a:schemeClr val="accent5">
                              <a:lumMod val="50000"/>
                            </a:schemeClr>
                          </a:solidFill>
                          <a:latin typeface="Segoe UI" panose="020B0502040204020203" pitchFamily="34" charset="0"/>
                          <a:cs typeface="Segoe UI" panose="020B0502040204020203" pitchFamily="34" charset="0"/>
                        </a:rPr>
                        <a:t>E</a:t>
                      </a:r>
                      <a:r>
                        <a:rPr lang="es-ES_tradnl" sz="1800" b="1" i="0" dirty="0">
                          <a:solidFill>
                            <a:schemeClr val="accent5">
                              <a:lumMod val="50000"/>
                            </a:schemeClr>
                          </a:solidFill>
                          <a:effectLst/>
                          <a:latin typeface="Segoe UI" panose="020B0502040204020203" pitchFamily="34" charset="0"/>
                          <a:cs typeface="Segoe UI" panose="020B0502040204020203" pitchFamily="34" charset="0"/>
                        </a:rPr>
                        <a:t>nergético:</a:t>
                      </a: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800" b="0" i="0" dirty="0">
                          <a:solidFill>
                            <a:schemeClr val="accent5">
                              <a:lumMod val="50000"/>
                            </a:schemeClr>
                          </a:solidFill>
                          <a:effectLst/>
                          <a:latin typeface="Segoe UI" panose="020B0502040204020203" pitchFamily="34" charset="0"/>
                          <a:cs typeface="Segoe UI" panose="020B0502040204020203" pitchFamily="34" charset="0"/>
                        </a:rPr>
                        <a:t>Grúas y otros vehículos autónomos funcionan con energía eléctrica, lo que los hace más eficientes y sostenibles.</a:t>
                      </a:r>
                    </a:p>
                  </a:txBody>
                  <a:tcPr/>
                </a:tc>
                <a:extLst>
                  <a:ext uri="{0D108BD9-81ED-4DB2-BD59-A6C34878D82A}">
                    <a16:rowId xmlns:a16="http://schemas.microsoft.com/office/drawing/2014/main" val="2659526772"/>
                  </a:ext>
                </a:extLst>
              </a:tr>
            </a:tbl>
          </a:graphicData>
        </a:graphic>
      </p:graphicFrame>
    </p:spTree>
    <p:extLst>
      <p:ext uri="{BB962C8B-B14F-4D97-AF65-F5344CB8AC3E}">
        <p14:creationId xmlns:p14="http://schemas.microsoft.com/office/powerpoint/2010/main" val="3701219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2500921"/>
            <a:ext cx="6309552" cy="1446550"/>
          </a:xfrm>
          <a:prstGeom prst="rect">
            <a:avLst/>
          </a:prstGeom>
        </p:spPr>
        <p:txBody>
          <a:bodyPr wrap="square">
            <a:spAutoFit/>
          </a:bodyPr>
          <a:lstStyle/>
          <a:p>
            <a:pPr algn="ctr"/>
            <a:r>
              <a:rPr lang="en-GB" sz="4400" b="1" dirty="0" err="1">
                <a:solidFill>
                  <a:schemeClr val="accent5">
                    <a:lumMod val="50000"/>
                  </a:schemeClr>
                </a:solidFill>
                <a:latin typeface="Segoe UI" panose="020B0502040204020203" pitchFamily="34" charset="0"/>
                <a:cs typeface="Segoe UI" panose="020B0502040204020203" pitchFamily="34" charset="0"/>
              </a:rPr>
              <a:t>Chancay</a:t>
            </a:r>
            <a:endParaRPr lang="en-GB" sz="4400" b="1" dirty="0">
              <a:solidFill>
                <a:schemeClr val="accent5">
                  <a:lumMod val="50000"/>
                </a:schemeClr>
              </a:solidFill>
              <a:latin typeface="Segoe UI" panose="020B0502040204020203" pitchFamily="34" charset="0"/>
              <a:cs typeface="Segoe UI" panose="020B0502040204020203" pitchFamily="34" charset="0"/>
            </a:endParaRPr>
          </a:p>
          <a:p>
            <a:pPr algn="ctr"/>
            <a:r>
              <a:rPr lang="en-GB" sz="4400" b="1" dirty="0" err="1">
                <a:solidFill>
                  <a:schemeClr val="accent5">
                    <a:lumMod val="50000"/>
                  </a:schemeClr>
                </a:solidFill>
                <a:latin typeface="Segoe UI" panose="020B0502040204020203" pitchFamily="34" charset="0"/>
                <a:cs typeface="Segoe UI" panose="020B0502040204020203" pitchFamily="34" charset="0"/>
              </a:rPr>
              <a:t>Análisis</a:t>
            </a:r>
            <a:r>
              <a:rPr lang="en-GB" sz="4400" b="1" dirty="0">
                <a:solidFill>
                  <a:schemeClr val="accent5">
                    <a:lumMod val="50000"/>
                  </a:schemeClr>
                </a:solidFill>
                <a:latin typeface="Segoe UI" panose="020B0502040204020203" pitchFamily="34" charset="0"/>
                <a:cs typeface="Segoe UI" panose="020B0502040204020203" pitchFamily="34" charset="0"/>
              </a:rPr>
              <a:t> FODA (SWOT) </a:t>
            </a:r>
            <a:endParaRPr lang="es-ES_tradnl" sz="4400" b="1" u="none" strike="noStrike" dirty="0">
              <a:solidFill>
                <a:schemeClr val="accent5">
                  <a:lumMod val="50000"/>
                </a:schemeClr>
              </a:solidFill>
              <a:effectLst/>
              <a:latin typeface="Segoe UI" panose="020B0502040204020203" pitchFamily="34" charset="0"/>
              <a:cs typeface="Segoe UI" panose="020B0502040204020203" pitchFamily="34" charset="0"/>
            </a:endParaRPr>
          </a:p>
        </p:txBody>
      </p:sp>
      <p:sp>
        <p:nvSpPr>
          <p:cNvPr id="8" name="TextBox 7"/>
          <p:cNvSpPr txBox="1"/>
          <p:nvPr/>
        </p:nvSpPr>
        <p:spPr>
          <a:xfrm>
            <a:off x="1876778" y="4924778"/>
            <a:ext cx="184666" cy="369332"/>
          </a:xfrm>
          <a:prstGeom prst="rect">
            <a:avLst/>
          </a:prstGeom>
          <a:noFill/>
        </p:spPr>
        <p:txBody>
          <a:bodyPr wrap="none" rtlCol="0">
            <a:spAutoFit/>
          </a:bodyPr>
          <a:lstStyle/>
          <a:p>
            <a:endParaRPr lang="en-US" dirty="0"/>
          </a:p>
        </p:txBody>
      </p:sp>
      <p:sp>
        <p:nvSpPr>
          <p:cNvPr id="4" name="Slide Number Placeholder 3"/>
          <p:cNvSpPr>
            <a:spLocks noGrp="1"/>
          </p:cNvSpPr>
          <p:nvPr>
            <p:ph type="sldNum" sz="quarter" idx="12"/>
          </p:nvPr>
        </p:nvSpPr>
        <p:spPr/>
        <p:txBody>
          <a:bodyPr/>
          <a:lstStyle/>
          <a:p>
            <a:fld id="{D739C4FB-7D33-419B-8833-D1372BFD11C8}" type="slidenum">
              <a:rPr lang="en-US" smtClean="0"/>
              <a:t>20</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2090220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E08D3D0-FA13-2A18-4AD6-853E22AF5212}"/>
              </a:ext>
            </a:extLst>
          </p:cNvPr>
          <p:cNvCxnSpPr>
            <a:cxnSpLocks/>
          </p:cNvCxnSpPr>
          <p:nvPr/>
        </p:nvCxnSpPr>
        <p:spPr>
          <a:xfrm flipH="1">
            <a:off x="5813560" y="1060319"/>
            <a:ext cx="32222" cy="4669215"/>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05E85240-A5E5-F644-1A54-9C0D58BFDDC9}"/>
              </a:ext>
            </a:extLst>
          </p:cNvPr>
          <p:cNvCxnSpPr>
            <a:cxnSpLocks/>
          </p:cNvCxnSpPr>
          <p:nvPr/>
        </p:nvCxnSpPr>
        <p:spPr>
          <a:xfrm flipV="1">
            <a:off x="309118" y="3296487"/>
            <a:ext cx="11108752" cy="107549"/>
          </a:xfrm>
          <a:prstGeom prst="line">
            <a:avLst/>
          </a:prstGeom>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A08BFE11-2496-0A98-563E-6BD59F0B9525}"/>
              </a:ext>
            </a:extLst>
          </p:cNvPr>
          <p:cNvSpPr txBox="1"/>
          <p:nvPr/>
        </p:nvSpPr>
        <p:spPr>
          <a:xfrm>
            <a:off x="2113803" y="826401"/>
            <a:ext cx="1650645" cy="461665"/>
          </a:xfrm>
          <a:prstGeom prst="rect">
            <a:avLst/>
          </a:prstGeom>
          <a:noFill/>
        </p:spPr>
        <p:txBody>
          <a:bodyPr wrap="none" rtlCol="0">
            <a:spAutoFit/>
          </a:bodyPr>
          <a:lstStyle/>
          <a:p>
            <a:r>
              <a:rPr lang="es-ES_tradnl" sz="2400" b="1" dirty="0">
                <a:solidFill>
                  <a:schemeClr val="accent5">
                    <a:lumMod val="50000"/>
                  </a:schemeClr>
                </a:solidFill>
                <a:latin typeface="Segoe UI" panose="020B0502040204020203" pitchFamily="34" charset="0"/>
                <a:cs typeface="Segoe UI" panose="020B0502040204020203" pitchFamily="34" charset="0"/>
              </a:rPr>
              <a:t>Fortalezas</a:t>
            </a:r>
          </a:p>
        </p:txBody>
      </p:sp>
      <p:sp>
        <p:nvSpPr>
          <p:cNvPr id="12" name="TextBox 11">
            <a:extLst>
              <a:ext uri="{FF2B5EF4-FFF2-40B4-BE49-F238E27FC236}">
                <a16:creationId xmlns:a16="http://schemas.microsoft.com/office/drawing/2014/main" id="{487EF258-0687-0252-7CB9-0B8A71B8001A}"/>
              </a:ext>
            </a:extLst>
          </p:cNvPr>
          <p:cNvSpPr txBox="1"/>
          <p:nvPr/>
        </p:nvSpPr>
        <p:spPr>
          <a:xfrm>
            <a:off x="564112" y="1206896"/>
            <a:ext cx="5152782" cy="2031325"/>
          </a:xfrm>
          <a:prstGeom prst="rect">
            <a:avLst/>
          </a:prstGeom>
          <a:noFill/>
        </p:spPr>
        <p:txBody>
          <a:bodyPr wrap="square">
            <a:spAutoFit/>
          </a:bodyPr>
          <a:lstStyle/>
          <a:p>
            <a:pPr>
              <a:buFont typeface="Arial" panose="020B0604020202020204" pitchFamily="34" charset="0"/>
              <a:buChar char="•"/>
            </a:pPr>
            <a:r>
              <a:rPr lang="es-ES_tradnl" sz="2600" dirty="0">
                <a:solidFill>
                  <a:schemeClr val="accent5">
                    <a:lumMod val="50000"/>
                  </a:schemeClr>
                </a:solidFill>
              </a:rPr>
              <a:t> </a:t>
            </a:r>
            <a:r>
              <a:rPr lang="es-ES_tradnl" sz="2000" dirty="0">
                <a:solidFill>
                  <a:schemeClr val="accent5">
                    <a:lumMod val="50000"/>
                  </a:schemeClr>
                </a:solidFill>
                <a:latin typeface="Segoe UI" panose="020B0502040204020203" pitchFamily="34" charset="0"/>
                <a:cs typeface="Segoe UI" panose="020B0502040204020203" pitchFamily="34" charset="0"/>
              </a:rPr>
              <a:t>Infraestructura moderna y gran calado.</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Inversión estratégica de COSCO.</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Hub digital y logístico.</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Puerto-Ciudad-Park inteligente.</a:t>
            </a:r>
          </a:p>
          <a:p>
            <a:pPr>
              <a:buFont typeface="Arial" panose="020B0604020202020204" pitchFamily="34" charset="0"/>
              <a:buChar char="•"/>
            </a:pPr>
            <a:r>
              <a:rPr lang="es-ES_tradnl" sz="2000" i="0" dirty="0">
                <a:solidFill>
                  <a:schemeClr val="accent5">
                    <a:lumMod val="50000"/>
                  </a:schemeClr>
                </a:solidFill>
                <a:effectLst/>
                <a:latin typeface="Segoe UI" panose="020B0502040204020203" pitchFamily="34" charset="0"/>
                <a:cs typeface="Segoe UI" panose="020B0502040204020203" pitchFamily="34" charset="0"/>
              </a:rPr>
              <a:t> </a:t>
            </a:r>
            <a:r>
              <a:rPr lang="es-ES_tradnl" sz="2000" dirty="0">
                <a:solidFill>
                  <a:schemeClr val="accent5">
                    <a:lumMod val="50000"/>
                  </a:schemeClr>
                </a:solidFill>
                <a:latin typeface="Segoe UI" panose="020B0502040204020203" pitchFamily="34" charset="0"/>
                <a:cs typeface="Segoe UI" panose="020B0502040204020203" pitchFamily="34" charset="0"/>
              </a:rPr>
              <a:t>Ubicación privilegiada.</a:t>
            </a:r>
            <a:r>
              <a:rPr lang="es-ES_tradnl" sz="2000" i="0" dirty="0">
                <a:solidFill>
                  <a:schemeClr val="accent5">
                    <a:lumMod val="50000"/>
                  </a:schemeClr>
                </a:solidFill>
                <a:effectLst/>
                <a:latin typeface="Segoe UI" panose="020B0502040204020203" pitchFamily="34" charset="0"/>
                <a:cs typeface="Segoe UI" panose="020B0502040204020203" pitchFamily="34" charset="0"/>
              </a:rPr>
              <a:t> </a:t>
            </a:r>
          </a:p>
          <a:p>
            <a:pPr>
              <a:buFont typeface="Arial" panose="020B0604020202020204" pitchFamily="34" charset="0"/>
              <a:buChar char="•"/>
            </a:pPr>
            <a:r>
              <a:rPr lang="es-ES_tradnl" sz="2000" i="0" dirty="0">
                <a:solidFill>
                  <a:schemeClr val="accent5">
                    <a:lumMod val="50000"/>
                  </a:schemeClr>
                </a:solidFill>
                <a:effectLst/>
                <a:latin typeface="Segoe UI" panose="020B0502040204020203" pitchFamily="34" charset="0"/>
                <a:cs typeface="Segoe UI" panose="020B0502040204020203" pitchFamily="34" charset="0"/>
              </a:rPr>
              <a:t>Inversión en talento alineado con la IA.</a:t>
            </a:r>
            <a:endParaRPr lang="es-ES_tradnl" sz="2000" dirty="0">
              <a:solidFill>
                <a:schemeClr val="accent5">
                  <a:lumMod val="50000"/>
                </a:scheme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E573B31A-6B24-B71C-1B4A-F3A3FB1773A3}"/>
              </a:ext>
            </a:extLst>
          </p:cNvPr>
          <p:cNvSpPr txBox="1"/>
          <p:nvPr/>
        </p:nvSpPr>
        <p:spPr>
          <a:xfrm>
            <a:off x="7337230" y="782821"/>
            <a:ext cx="2811409" cy="461665"/>
          </a:xfrm>
          <a:prstGeom prst="rect">
            <a:avLst/>
          </a:prstGeom>
          <a:noFill/>
        </p:spPr>
        <p:txBody>
          <a:bodyPr wrap="square">
            <a:spAutoFit/>
          </a:bodyPr>
          <a:lstStyle/>
          <a:p>
            <a:r>
              <a:rPr lang="es-ES_tradnl" sz="2400" b="1" dirty="0">
                <a:solidFill>
                  <a:schemeClr val="accent5">
                    <a:lumMod val="50000"/>
                  </a:schemeClr>
                </a:solidFill>
                <a:latin typeface="Segoe UI" panose="020B0502040204020203" pitchFamily="34" charset="0"/>
                <a:cs typeface="Segoe UI" panose="020B0502040204020203" pitchFamily="34" charset="0"/>
              </a:rPr>
              <a:t>Oportunidades</a:t>
            </a:r>
          </a:p>
        </p:txBody>
      </p:sp>
      <p:sp>
        <p:nvSpPr>
          <p:cNvPr id="6" name="TextBox 5">
            <a:extLst>
              <a:ext uri="{FF2B5EF4-FFF2-40B4-BE49-F238E27FC236}">
                <a16:creationId xmlns:a16="http://schemas.microsoft.com/office/drawing/2014/main" id="{158C4941-ABCE-3387-5C65-D219FA656AE8}"/>
              </a:ext>
            </a:extLst>
          </p:cNvPr>
          <p:cNvSpPr txBox="1"/>
          <p:nvPr/>
        </p:nvSpPr>
        <p:spPr>
          <a:xfrm>
            <a:off x="6112122" y="1255132"/>
            <a:ext cx="5684035" cy="1877437"/>
          </a:xfrm>
          <a:prstGeom prst="rect">
            <a:avLst/>
          </a:prstGeom>
          <a:noFill/>
        </p:spPr>
        <p:txBody>
          <a:bodyPr wrap="square">
            <a:spAutoFit/>
          </a:bodyPr>
          <a:lstStyle/>
          <a:p>
            <a:pPr>
              <a:buFont typeface="Arial" panose="020B0604020202020204" pitchFamily="34" charset="0"/>
              <a:buChar char="•"/>
            </a:pPr>
            <a:r>
              <a:rPr lang="en-GB" sz="2000" dirty="0">
                <a:solidFill>
                  <a:schemeClr val="accent5">
                    <a:lumMod val="50000"/>
                  </a:schemeClr>
                </a:solidFill>
                <a:latin typeface="Segoe UI" panose="020B0502040204020203" pitchFamily="34" charset="0"/>
                <a:cs typeface="Segoe UI" panose="020B0502040204020203" pitchFamily="34" charset="0"/>
              </a:rPr>
              <a:t> </a:t>
            </a:r>
            <a:r>
              <a:rPr lang="es-ES_tradnl" sz="1900" dirty="0">
                <a:solidFill>
                  <a:schemeClr val="accent5">
                    <a:lumMod val="50000"/>
                  </a:schemeClr>
                </a:solidFill>
                <a:latin typeface="Segoe UI" panose="020B0502040204020203" pitchFamily="34" charset="0"/>
                <a:cs typeface="Segoe UI" panose="020B0502040204020203" pitchFamily="34" charset="0"/>
              </a:rPr>
              <a:t>Consolidación como Hub regional.</a:t>
            </a:r>
          </a:p>
          <a:p>
            <a:pPr>
              <a:buFont typeface="Arial" panose="020B0604020202020204" pitchFamily="34" charset="0"/>
              <a:buChar char="•"/>
            </a:pPr>
            <a:r>
              <a:rPr lang="es-ES_tradnl" sz="1900" dirty="0">
                <a:solidFill>
                  <a:schemeClr val="accent5">
                    <a:lumMod val="50000"/>
                  </a:schemeClr>
                </a:solidFill>
                <a:latin typeface="Segoe UI" panose="020B0502040204020203" pitchFamily="34" charset="0"/>
                <a:cs typeface="Segoe UI" panose="020B0502040204020203" pitchFamily="34" charset="0"/>
              </a:rPr>
              <a:t> Alternativa al Canal de Panamá.</a:t>
            </a:r>
          </a:p>
          <a:p>
            <a:pPr>
              <a:buFont typeface="Arial" panose="020B0604020202020204" pitchFamily="34" charset="0"/>
              <a:buChar char="•"/>
            </a:pPr>
            <a:r>
              <a:rPr lang="es-ES_tradnl" sz="1900" dirty="0">
                <a:solidFill>
                  <a:schemeClr val="accent5">
                    <a:lumMod val="50000"/>
                  </a:schemeClr>
                </a:solidFill>
                <a:latin typeface="Segoe UI" panose="020B0502040204020203" pitchFamily="34" charset="0"/>
                <a:cs typeface="Segoe UI" panose="020B0502040204020203" pitchFamily="34" charset="0"/>
              </a:rPr>
              <a:t> Atracción de inversión extranjera.</a:t>
            </a:r>
          </a:p>
          <a:p>
            <a:pPr>
              <a:buFont typeface="Arial" panose="020B0604020202020204" pitchFamily="34" charset="0"/>
              <a:buChar char="•"/>
            </a:pPr>
            <a:r>
              <a:rPr lang="es-ES_tradnl" sz="1900" dirty="0">
                <a:solidFill>
                  <a:schemeClr val="accent5">
                    <a:lumMod val="50000"/>
                  </a:schemeClr>
                </a:solidFill>
                <a:latin typeface="Segoe UI" panose="020B0502040204020203" pitchFamily="34" charset="0"/>
                <a:cs typeface="Segoe UI" panose="020B0502040204020203" pitchFamily="34" charset="0"/>
              </a:rPr>
              <a:t> Ciudad-Park inteligente vinculada al puerto.</a:t>
            </a:r>
          </a:p>
          <a:p>
            <a:pPr>
              <a:buFont typeface="Arial" panose="020B0604020202020204" pitchFamily="34" charset="0"/>
              <a:buChar char="•"/>
            </a:pPr>
            <a:r>
              <a:rPr lang="es-ES_tradnl" sz="1900" dirty="0">
                <a:solidFill>
                  <a:schemeClr val="accent5">
                    <a:lumMod val="50000"/>
                  </a:schemeClr>
                </a:solidFill>
                <a:latin typeface="Segoe UI" panose="020B0502040204020203" pitchFamily="34" charset="0"/>
                <a:cs typeface="Segoe UI" panose="020B0502040204020203" pitchFamily="34" charset="0"/>
              </a:rPr>
              <a:t> Clústeres industriales y digitales. </a:t>
            </a:r>
          </a:p>
          <a:p>
            <a:pPr>
              <a:buFont typeface="Arial" panose="020B0604020202020204" pitchFamily="34" charset="0"/>
              <a:buChar char="•"/>
            </a:pPr>
            <a:r>
              <a:rPr lang="es-ES_tradnl" sz="1900" dirty="0">
                <a:solidFill>
                  <a:schemeClr val="accent5">
                    <a:lumMod val="50000"/>
                  </a:schemeClr>
                </a:solidFill>
                <a:latin typeface="Segoe UI" panose="020B0502040204020203" pitchFamily="34" charset="0"/>
                <a:cs typeface="Segoe UI" panose="020B0502040204020203" pitchFamily="34" charset="0"/>
              </a:rPr>
              <a:t> Corredor B</a:t>
            </a:r>
            <a:r>
              <a:rPr lang="es-ES" sz="2000" kern="100" dirty="0" err="1">
                <a:solidFill>
                  <a:schemeClr val="accent5">
                    <a:lumMod val="50000"/>
                  </a:schemeClr>
                </a:solidFill>
                <a:effectLst/>
              </a:rPr>
              <a:t>ioceánico</a:t>
            </a:r>
            <a:r>
              <a:rPr lang="es-ES_tradnl" sz="1900" dirty="0">
                <a:solidFill>
                  <a:schemeClr val="accent5">
                    <a:lumMod val="50000"/>
                  </a:schemeClr>
                </a:solidFill>
                <a:latin typeface="Segoe UI" panose="020B0502040204020203" pitchFamily="34" charset="0"/>
                <a:cs typeface="Segoe UI" panose="020B0502040204020203" pitchFamily="34" charset="0"/>
              </a:rPr>
              <a:t> (Brasil-</a:t>
            </a:r>
            <a:r>
              <a:rPr lang="es-ES_tradnl" sz="19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Perú</a:t>
            </a:r>
            <a:r>
              <a:rPr lang="es-ES_tradnl" sz="1900" dirty="0">
                <a:solidFill>
                  <a:schemeClr val="accent5">
                    <a:lumMod val="50000"/>
                  </a:schemeClr>
                </a:solidFill>
                <a:latin typeface="Segoe UI" panose="020B0502040204020203" pitchFamily="34" charset="0"/>
                <a:cs typeface="Segoe UI" panose="020B0502040204020203" pitchFamily="34" charset="0"/>
              </a:rPr>
              <a:t>).</a:t>
            </a:r>
          </a:p>
        </p:txBody>
      </p:sp>
      <p:sp>
        <p:nvSpPr>
          <p:cNvPr id="11" name="TextBox 10">
            <a:extLst>
              <a:ext uri="{FF2B5EF4-FFF2-40B4-BE49-F238E27FC236}">
                <a16:creationId xmlns:a16="http://schemas.microsoft.com/office/drawing/2014/main" id="{078B1286-586D-99C8-5D9C-EA7B89D22B69}"/>
              </a:ext>
            </a:extLst>
          </p:cNvPr>
          <p:cNvSpPr txBox="1"/>
          <p:nvPr/>
        </p:nvSpPr>
        <p:spPr>
          <a:xfrm>
            <a:off x="580431" y="4122584"/>
            <a:ext cx="5111898" cy="1631216"/>
          </a:xfrm>
          <a:prstGeom prst="rect">
            <a:avLst/>
          </a:prstGeom>
          <a:noFill/>
        </p:spPr>
        <p:txBody>
          <a:bodyPr wrap="square">
            <a:spAutoFit/>
          </a:bodyPr>
          <a:lstStyle/>
          <a:p>
            <a:pPr>
              <a:buFont typeface="Arial" panose="020B0604020202020204" pitchFamily="34" charset="0"/>
              <a:buChar char="•"/>
            </a:pPr>
            <a:r>
              <a:rPr lang="en-GB" sz="2000" dirty="0">
                <a:latin typeface="Segoe UI" panose="020B0502040204020203" pitchFamily="34" charset="0"/>
                <a:cs typeface="Segoe UI" panose="020B0502040204020203" pitchFamily="34" charset="0"/>
              </a:rPr>
              <a:t> </a:t>
            </a:r>
            <a:r>
              <a:rPr lang="es-ES_tradnl" sz="2000" dirty="0">
                <a:solidFill>
                  <a:schemeClr val="accent5">
                    <a:lumMod val="50000"/>
                  </a:schemeClr>
                </a:solidFill>
                <a:latin typeface="Segoe UI" panose="020B0502040204020203" pitchFamily="34" charset="0"/>
                <a:cs typeface="Segoe UI" panose="020B0502040204020203" pitchFamily="34" charset="0"/>
              </a:rPr>
              <a:t>Infraestructura externa insuficiente.</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Alta dependencia de inversión china.</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Marco regulatorio inestable.</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Riesgo de enclave aislado.</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Conflictos sociales y ambientales.</a:t>
            </a:r>
          </a:p>
        </p:txBody>
      </p:sp>
      <p:sp>
        <p:nvSpPr>
          <p:cNvPr id="13" name="TextBox 12">
            <a:extLst>
              <a:ext uri="{FF2B5EF4-FFF2-40B4-BE49-F238E27FC236}">
                <a16:creationId xmlns:a16="http://schemas.microsoft.com/office/drawing/2014/main" id="{8462BF28-B3B0-E70C-D5B0-C081E0A924E1}"/>
              </a:ext>
            </a:extLst>
          </p:cNvPr>
          <p:cNvSpPr txBox="1"/>
          <p:nvPr/>
        </p:nvSpPr>
        <p:spPr>
          <a:xfrm>
            <a:off x="2094211" y="3618641"/>
            <a:ext cx="1882247" cy="461665"/>
          </a:xfrm>
          <a:prstGeom prst="rect">
            <a:avLst/>
          </a:prstGeom>
          <a:noFill/>
        </p:spPr>
        <p:txBody>
          <a:bodyPr wrap="none" rtlCol="0">
            <a:spAutoFit/>
          </a:bodyPr>
          <a:lstStyle/>
          <a:p>
            <a:r>
              <a:rPr lang="es-ES_tradnl" sz="2400" b="1" dirty="0">
                <a:solidFill>
                  <a:schemeClr val="accent5">
                    <a:lumMod val="50000"/>
                  </a:schemeClr>
                </a:solidFill>
                <a:latin typeface="Segoe UI" panose="020B0502040204020203" pitchFamily="34" charset="0"/>
                <a:cs typeface="Segoe UI" panose="020B0502040204020203" pitchFamily="34" charset="0"/>
              </a:rPr>
              <a:t>Debilidades</a:t>
            </a:r>
          </a:p>
        </p:txBody>
      </p:sp>
      <p:sp>
        <p:nvSpPr>
          <p:cNvPr id="15" name="TextBox 14">
            <a:extLst>
              <a:ext uri="{FF2B5EF4-FFF2-40B4-BE49-F238E27FC236}">
                <a16:creationId xmlns:a16="http://schemas.microsoft.com/office/drawing/2014/main" id="{01357ED8-2127-7077-FFB6-89409A5928E5}"/>
              </a:ext>
            </a:extLst>
          </p:cNvPr>
          <p:cNvSpPr txBox="1"/>
          <p:nvPr/>
        </p:nvSpPr>
        <p:spPr>
          <a:xfrm>
            <a:off x="6138245" y="4129059"/>
            <a:ext cx="5684034" cy="1631216"/>
          </a:xfrm>
          <a:prstGeom prst="rect">
            <a:avLst/>
          </a:prstGeom>
          <a:noFill/>
        </p:spPr>
        <p:txBody>
          <a:bodyPr wrap="square">
            <a:spAutoFit/>
          </a:bodyPr>
          <a:lstStyle/>
          <a:p>
            <a:pPr>
              <a:buFont typeface="Arial" panose="020B0604020202020204" pitchFamily="34" charset="0"/>
              <a:buChar char="•"/>
            </a:pPr>
            <a:r>
              <a:rPr lang="en-GB" sz="2000" dirty="0">
                <a:solidFill>
                  <a:schemeClr val="accent5">
                    <a:lumMod val="50000"/>
                  </a:schemeClr>
                </a:solidFill>
                <a:latin typeface="Segoe UI" panose="020B0502040204020203" pitchFamily="34" charset="0"/>
                <a:cs typeface="Segoe UI" panose="020B0502040204020203" pitchFamily="34" charset="0"/>
              </a:rPr>
              <a:t> </a:t>
            </a:r>
            <a:r>
              <a:rPr lang="es-ES_tradnl" sz="2000" dirty="0">
                <a:solidFill>
                  <a:schemeClr val="accent5">
                    <a:lumMod val="50000"/>
                  </a:schemeClr>
                </a:solidFill>
                <a:latin typeface="Segoe UI" panose="020B0502040204020203" pitchFamily="34" charset="0"/>
                <a:cs typeface="Segoe UI" panose="020B0502040204020203" pitchFamily="34" charset="0"/>
              </a:rPr>
              <a:t>Tensiones China–EE.UU. </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Competencia de puertos consolidados.</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Riesgos regulatorios y ambientales.</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Desaceleración del comercio global.</a:t>
            </a:r>
          </a:p>
          <a:p>
            <a:pPr>
              <a:buFont typeface="Arial" panose="020B0604020202020204" pitchFamily="34" charset="0"/>
              <a:buChar char="•"/>
            </a:pPr>
            <a:r>
              <a:rPr lang="es-ES_tradnl" sz="2000" dirty="0">
                <a:solidFill>
                  <a:schemeClr val="accent5">
                    <a:lumMod val="50000"/>
                  </a:schemeClr>
                </a:solidFill>
                <a:latin typeface="Segoe UI" panose="020B0502040204020203" pitchFamily="34" charset="0"/>
                <a:cs typeface="Segoe UI" panose="020B0502040204020203" pitchFamily="34" charset="0"/>
              </a:rPr>
              <a:t> Amenazas de ciberseguridad.</a:t>
            </a:r>
          </a:p>
        </p:txBody>
      </p:sp>
      <p:sp>
        <p:nvSpPr>
          <p:cNvPr id="16" name="TextBox 15">
            <a:extLst>
              <a:ext uri="{FF2B5EF4-FFF2-40B4-BE49-F238E27FC236}">
                <a16:creationId xmlns:a16="http://schemas.microsoft.com/office/drawing/2014/main" id="{EE5C4B6B-F3E2-E206-8B8F-F4D878C9B2F0}"/>
              </a:ext>
            </a:extLst>
          </p:cNvPr>
          <p:cNvSpPr txBox="1"/>
          <p:nvPr/>
        </p:nvSpPr>
        <p:spPr>
          <a:xfrm>
            <a:off x="7540743" y="3560432"/>
            <a:ext cx="1869343" cy="461665"/>
          </a:xfrm>
          <a:prstGeom prst="rect">
            <a:avLst/>
          </a:prstGeom>
          <a:noFill/>
        </p:spPr>
        <p:txBody>
          <a:bodyPr wrap="square">
            <a:spAutoFit/>
          </a:bodyPr>
          <a:lstStyle/>
          <a:p>
            <a:r>
              <a:rPr lang="es-ES_tradnl" sz="2400" b="1" dirty="0">
                <a:solidFill>
                  <a:schemeClr val="accent5">
                    <a:lumMod val="50000"/>
                  </a:schemeClr>
                </a:solidFill>
                <a:latin typeface="Segoe UI" panose="020B0502040204020203" pitchFamily="34" charset="0"/>
                <a:cs typeface="Segoe UI" panose="020B0502040204020203" pitchFamily="34" charset="0"/>
              </a:rPr>
              <a:t>Amenazas</a:t>
            </a:r>
          </a:p>
        </p:txBody>
      </p:sp>
      <p:sp>
        <p:nvSpPr>
          <p:cNvPr id="5" name="Google Shape;423;p7">
            <a:extLst>
              <a:ext uri="{FF2B5EF4-FFF2-40B4-BE49-F238E27FC236}">
                <a16:creationId xmlns:a16="http://schemas.microsoft.com/office/drawing/2014/main" id="{8F567647-87B3-2E6A-E4FE-01401414AD27}"/>
              </a:ext>
            </a:extLst>
          </p:cNvPr>
          <p:cNvSpPr/>
          <p:nvPr/>
        </p:nvSpPr>
        <p:spPr>
          <a:xfrm>
            <a:off x="0" y="-10517"/>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a:solidFill>
                <a:schemeClr val="bg1"/>
              </a:solidFill>
              <a:effectLst/>
              <a:latin typeface="Montserrat" pitchFamily="2" charset="77"/>
            </a:endParaRPr>
          </a:p>
          <a:p>
            <a:pPr algn="ctr"/>
            <a:r>
              <a:rPr lang="en-GB" sz="2800" b="1">
                <a:solidFill>
                  <a:schemeClr val="bg1"/>
                </a:solidFill>
                <a:latin typeface="Montserrat" pitchFamily="2" charset="77"/>
              </a:rPr>
              <a:t>Puerto de </a:t>
            </a:r>
            <a:r>
              <a:rPr lang="en-GB" sz="2800" b="1" err="1">
                <a:solidFill>
                  <a:schemeClr val="bg1"/>
                </a:solidFill>
                <a:latin typeface="Montserrat" pitchFamily="2" charset="77"/>
              </a:rPr>
              <a:t>Chancay</a:t>
            </a:r>
            <a:r>
              <a:rPr lang="en-GB" sz="2800" b="1">
                <a:solidFill>
                  <a:schemeClr val="bg1"/>
                </a:solidFill>
                <a:latin typeface="Montserrat" pitchFamily="2" charset="77"/>
              </a:rPr>
              <a:t> : </a:t>
            </a:r>
            <a:r>
              <a:rPr lang="en-GB" sz="2800" b="1" err="1">
                <a:solidFill>
                  <a:schemeClr val="bg1"/>
                </a:solidFill>
                <a:latin typeface="Montserrat" pitchFamily="2" charset="77"/>
              </a:rPr>
              <a:t>Análisis</a:t>
            </a:r>
            <a:r>
              <a:rPr lang="en-GB" sz="2800" b="1">
                <a:solidFill>
                  <a:schemeClr val="bg1"/>
                </a:solidFill>
                <a:latin typeface="Montserrat" pitchFamily="2" charset="77"/>
              </a:rPr>
              <a:t> SWOT </a:t>
            </a:r>
            <a:endParaRPr lang="es-ES_tradnl" sz="2800" b="1" u="none" strike="noStrike">
              <a:solidFill>
                <a:schemeClr val="bg1"/>
              </a:solidFill>
              <a:effectLst/>
              <a:latin typeface="Montserrat" pitchFamily="2" charset="77"/>
            </a:endParaRPr>
          </a:p>
          <a:p>
            <a:pPr algn="ctr"/>
            <a:endParaRPr lang="es-ES_tradnl" sz="2800" b="1" i="0" u="none" strike="noStrike">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109320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2500921"/>
            <a:ext cx="7267078" cy="1446550"/>
          </a:xfrm>
          <a:prstGeom prst="rect">
            <a:avLst/>
          </a:prstGeom>
        </p:spPr>
        <p:txBody>
          <a:bodyPr wrap="square">
            <a:spAutoFit/>
          </a:bodyPr>
          <a:lstStyle/>
          <a:p>
            <a:pPr algn="ctr"/>
            <a:r>
              <a:rPr lang="es-ES" sz="4400" b="1" i="1" dirty="0">
                <a:solidFill>
                  <a:schemeClr val="accent5">
                    <a:lumMod val="50000"/>
                  </a:schemeClr>
                </a:solidFill>
                <a:effectLst/>
                <a:latin typeface="Montserrat" pitchFamily="2" charset="77"/>
                <a:ea typeface="Times New Roman" panose="02020603050405020304" pitchFamily="18" charset="0"/>
              </a:rPr>
              <a:t>Chancay</a:t>
            </a:r>
            <a:endParaRPr lang="es-ES" sz="4400" b="1" i="1" dirty="0">
              <a:solidFill>
                <a:schemeClr val="accent5">
                  <a:lumMod val="50000"/>
                </a:schemeClr>
              </a:solidFill>
              <a:latin typeface="Montserrat" pitchFamily="2" charset="77"/>
              <a:ea typeface="Times New Roman" panose="02020603050405020304" pitchFamily="18" charset="0"/>
            </a:endParaRPr>
          </a:p>
          <a:p>
            <a:pPr algn="ctr"/>
            <a:r>
              <a:rPr lang="es-ES" sz="4400" b="1" i="1" dirty="0">
                <a:solidFill>
                  <a:schemeClr val="accent5">
                    <a:lumMod val="50000"/>
                  </a:schemeClr>
                </a:solidFill>
                <a:effectLst/>
                <a:latin typeface="Montserrat" pitchFamily="2" charset="77"/>
                <a:ea typeface="Times New Roman" panose="02020603050405020304" pitchFamily="18" charset="0"/>
              </a:rPr>
              <a:t>Hub L</a:t>
            </a:r>
            <a:r>
              <a:rPr lang="en-CH" sz="4400" b="1" i="1" dirty="0">
                <a:solidFill>
                  <a:schemeClr val="accent5">
                    <a:lumMod val="50000"/>
                  </a:schemeClr>
                </a:solidFill>
                <a:effectLst/>
                <a:latin typeface="Montserrat" pitchFamily="2" charset="77"/>
                <a:ea typeface="Times New Roman" panose="02020603050405020304" pitchFamily="18" charset="0"/>
              </a:rPr>
              <a:t>ogístico </a:t>
            </a:r>
            <a:r>
              <a:rPr lang="es-ES" sz="4400" b="1" i="1" dirty="0">
                <a:solidFill>
                  <a:schemeClr val="accent5">
                    <a:lumMod val="50000"/>
                  </a:schemeClr>
                </a:solidFill>
                <a:effectLst/>
                <a:latin typeface="Montserrat" pitchFamily="2" charset="77"/>
                <a:ea typeface="Times New Roman" panose="02020603050405020304" pitchFamily="18" charset="0"/>
              </a:rPr>
              <a:t>Regional</a:t>
            </a:r>
            <a:r>
              <a:rPr lang="en-GB" sz="4400" b="1" dirty="0">
                <a:solidFill>
                  <a:schemeClr val="accent5">
                    <a:lumMod val="50000"/>
                  </a:schemeClr>
                </a:solidFill>
                <a:latin typeface="Montserrat" pitchFamily="2" charset="77"/>
              </a:rPr>
              <a:t> </a:t>
            </a:r>
            <a:endParaRPr lang="es-ES_tradnl" sz="4400" b="1" u="none" strike="noStrike" dirty="0">
              <a:solidFill>
                <a:schemeClr val="accent5">
                  <a:lumMod val="50000"/>
                </a:schemeClr>
              </a:solidFill>
              <a:effectLst/>
              <a:latin typeface="Montserrat" pitchFamily="2" charset="77"/>
            </a:endParaRPr>
          </a:p>
        </p:txBody>
      </p:sp>
      <p:sp>
        <p:nvSpPr>
          <p:cNvPr id="8" name="TextBox 7"/>
          <p:cNvSpPr txBox="1"/>
          <p:nvPr/>
        </p:nvSpPr>
        <p:spPr>
          <a:xfrm>
            <a:off x="1876778" y="4924778"/>
            <a:ext cx="184666" cy="369332"/>
          </a:xfrm>
          <a:prstGeom prst="rect">
            <a:avLst/>
          </a:prstGeom>
          <a:noFill/>
        </p:spPr>
        <p:txBody>
          <a:bodyPr wrap="none" rtlCol="0">
            <a:spAutoFit/>
          </a:bodyPr>
          <a:lstStyle/>
          <a:p>
            <a:endParaRPr lang="en-US" dirty="0"/>
          </a:p>
        </p:txBody>
      </p:sp>
      <p:sp>
        <p:nvSpPr>
          <p:cNvPr id="4" name="Slide Number Placeholder 3"/>
          <p:cNvSpPr>
            <a:spLocks noGrp="1"/>
          </p:cNvSpPr>
          <p:nvPr>
            <p:ph type="sldNum" sz="quarter" idx="12"/>
          </p:nvPr>
        </p:nvSpPr>
        <p:spPr/>
        <p:txBody>
          <a:bodyPr/>
          <a:lstStyle/>
          <a:p>
            <a:fld id="{D739C4FB-7D33-419B-8833-D1372BFD11C8}" type="slidenum">
              <a:rPr lang="en-US" smtClean="0"/>
              <a:t>22</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626062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D7F401-8E02-B8AA-2252-E1EE2CD4B999}"/>
              </a:ext>
            </a:extLst>
          </p:cNvPr>
          <p:cNvSpPr>
            <a:spLocks noGrp="1"/>
          </p:cNvSpPr>
          <p:nvPr>
            <p:ph type="sldNum" sz="quarter" idx="12"/>
          </p:nvPr>
        </p:nvSpPr>
        <p:spPr/>
        <p:txBody>
          <a:bodyPr/>
          <a:lstStyle/>
          <a:p>
            <a:fld id="{6897FFF3-9BE7-6F4B-AB28-3A1D192ED757}" type="slidenum">
              <a:rPr lang="en-CH" smtClean="0"/>
              <a:t>23</a:t>
            </a:fld>
            <a:endParaRPr lang="en-CH"/>
          </a:p>
        </p:txBody>
      </p:sp>
      <p:sp>
        <p:nvSpPr>
          <p:cNvPr id="4" name="TextBox 3">
            <a:extLst>
              <a:ext uri="{FF2B5EF4-FFF2-40B4-BE49-F238E27FC236}">
                <a16:creationId xmlns:a16="http://schemas.microsoft.com/office/drawing/2014/main" id="{E9A99D8C-D1E3-306D-957E-8A13C3D9F96E}"/>
              </a:ext>
            </a:extLst>
          </p:cNvPr>
          <p:cNvSpPr txBox="1"/>
          <p:nvPr/>
        </p:nvSpPr>
        <p:spPr>
          <a:xfrm>
            <a:off x="657727" y="1356078"/>
            <a:ext cx="11004884" cy="3416320"/>
          </a:xfrm>
          <a:prstGeom prst="rect">
            <a:avLst/>
          </a:prstGeom>
          <a:noFill/>
        </p:spPr>
        <p:txBody>
          <a:bodyPr wrap="square">
            <a:spAutoFit/>
          </a:bodyPr>
          <a:lstStyle/>
          <a:p>
            <a:pPr algn="ctr"/>
            <a:r>
              <a:rPr lang="en-CH" sz="2400" b="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rPr>
              <a:t>T</a:t>
            </a:r>
            <a:r>
              <a:rPr lang="en-CH" sz="2400" b="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iene</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el </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potencial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de transformar las rutas comerciales del Pacífico Sur y consolidarse como un </a:t>
            </a:r>
            <a:r>
              <a:rPr lang="fr-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H</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ub logístico regional de clase mundial</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p>
          <a:p>
            <a:pPr algn="ctr"/>
            <a:endPar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p>
            <a:pPr algn="ct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Para lograrlo:</a:t>
            </a:r>
          </a:p>
          <a:p>
            <a:pPr algn="ct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debe ir más allá del simple e</a:t>
            </a:r>
            <a:r>
              <a:rPr lang="en-CH" sz="2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mbarque y desembarque de contenedores,</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a:t>
            </a:r>
            <a:r>
              <a:rPr lang="en-CH" sz="24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requiere una </a:t>
            </a:r>
            <a:r>
              <a:rPr lang="en-CH" sz="2400" b="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infraestructura urbana e industrial moderna, integrada y resiliente</a:t>
            </a:r>
            <a:r>
              <a:rPr lang="en-CH" sz="24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a:t>
            </a:r>
            <a:r>
              <a:rPr lang="en-CH" sz="24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 </a:t>
            </a:r>
            <a:r>
              <a:rPr lang="en-CH" sz="24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capaz de potenciar exponencialmente su liderazgo.</a:t>
            </a:r>
          </a:p>
          <a:p>
            <a:pPr algn="ctr"/>
            <a:endParaRPr lang="en-CH" sz="240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 sz="2400" dirty="0">
                <a:solidFill>
                  <a:srgbClr val="1F4E79"/>
                </a:solidFill>
                <a:effectLst/>
                <a:latin typeface="Segoe UI" panose="020B0502040204020203" pitchFamily="34" charset="0"/>
                <a:ea typeface="Times New Roman" panose="02020603050405020304" pitchFamily="18" charset="0"/>
              </a:rPr>
              <a:t>Las piezas clave para lograrlo son:</a:t>
            </a:r>
            <a:endParaRPr lang="en-CH" sz="3200" dirty="0">
              <a:effectLst/>
              <a:latin typeface="Times New Roman" panose="02020603050405020304" pitchFamily="18" charset="0"/>
              <a:ea typeface="Times New Roman" panose="02020603050405020304" pitchFamily="18" charset="0"/>
            </a:endParaRPr>
          </a:p>
        </p:txBody>
      </p:sp>
      <p:sp>
        <p:nvSpPr>
          <p:cNvPr id="5" name="Google Shape;423;p7">
            <a:extLst>
              <a:ext uri="{FF2B5EF4-FFF2-40B4-BE49-F238E27FC236}">
                <a16:creationId xmlns:a16="http://schemas.microsoft.com/office/drawing/2014/main" id="{F1690507-E2CD-071B-0122-854231A66C64}"/>
              </a:ext>
            </a:extLst>
          </p:cNvPr>
          <p:cNvSpPr/>
          <p:nvPr/>
        </p:nvSpPr>
        <p:spPr>
          <a:xfrm>
            <a:off x="0" y="-10517"/>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700" b="1" dirty="0">
              <a:solidFill>
                <a:schemeClr val="bg1"/>
              </a:solidFill>
              <a:latin typeface="Montserrat" pitchFamily="2" charset="77"/>
            </a:endParaRPr>
          </a:p>
          <a:p>
            <a:pPr algn="ctr"/>
            <a:r>
              <a:rPr lang="es-ES" sz="2800" b="1" i="1" dirty="0">
                <a:solidFill>
                  <a:schemeClr val="bg1"/>
                </a:solidFill>
                <a:effectLst/>
                <a:latin typeface="Montserrat" pitchFamily="2" charset="77"/>
                <a:ea typeface="Times New Roman" panose="02020603050405020304" pitchFamily="18" charset="0"/>
              </a:rPr>
              <a:t>Chancay: Hub L</a:t>
            </a:r>
            <a:r>
              <a:rPr lang="en-CH" sz="2800" b="1" i="1" dirty="0">
                <a:solidFill>
                  <a:schemeClr val="bg1"/>
                </a:solidFill>
                <a:effectLst/>
                <a:latin typeface="Montserrat" pitchFamily="2" charset="77"/>
                <a:ea typeface="Times New Roman" panose="02020603050405020304" pitchFamily="18" charset="0"/>
              </a:rPr>
              <a:t>ogístico </a:t>
            </a:r>
            <a:r>
              <a:rPr lang="es-ES" sz="2800" b="1" i="1" dirty="0">
                <a:solidFill>
                  <a:schemeClr val="bg1"/>
                </a:solidFill>
                <a:effectLst/>
                <a:latin typeface="Montserrat" pitchFamily="2" charset="77"/>
                <a:ea typeface="Times New Roman" panose="02020603050405020304" pitchFamily="18" charset="0"/>
              </a:rPr>
              <a:t>Regional</a:t>
            </a:r>
            <a:r>
              <a:rPr lang="en-GB" sz="2800" b="1" dirty="0">
                <a:solidFill>
                  <a:schemeClr val="bg1"/>
                </a:solidFill>
                <a:latin typeface="Montserrat" pitchFamily="2" charset="77"/>
              </a:rPr>
              <a:t> </a:t>
            </a:r>
            <a:endParaRPr lang="es-ES_tradnl" sz="2800" b="1" u="none" strike="noStrike" dirty="0">
              <a:solidFill>
                <a:schemeClr val="bg1"/>
              </a:solidFill>
              <a:effectLst/>
              <a:latin typeface="Montserrat" pitchFamily="2" charset="77"/>
            </a:endParaRPr>
          </a:p>
          <a:p>
            <a:pPr algn="ctr"/>
            <a:endParaRPr lang="es-ES_tradnl" sz="2800" b="1" i="0" u="none" strike="noStrike" dirty="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255470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765DAD-9013-BD97-ED0E-EF81BAD91A3F}"/>
              </a:ext>
            </a:extLst>
          </p:cNvPr>
          <p:cNvSpPr>
            <a:spLocks noGrp="1"/>
          </p:cNvSpPr>
          <p:nvPr>
            <p:ph type="sldNum" sz="quarter" idx="12"/>
          </p:nvPr>
        </p:nvSpPr>
        <p:spPr/>
        <p:txBody>
          <a:bodyPr/>
          <a:lstStyle/>
          <a:p>
            <a:fld id="{6897FFF3-9BE7-6F4B-AB28-3A1D192ED757}" type="slidenum">
              <a:rPr lang="en-CH" smtClean="0"/>
              <a:t>24</a:t>
            </a:fld>
            <a:endParaRPr lang="en-CH"/>
          </a:p>
        </p:txBody>
      </p:sp>
      <p:graphicFrame>
        <p:nvGraphicFramePr>
          <p:cNvPr id="3" name="Table 2">
            <a:extLst>
              <a:ext uri="{FF2B5EF4-FFF2-40B4-BE49-F238E27FC236}">
                <a16:creationId xmlns:a16="http://schemas.microsoft.com/office/drawing/2014/main" id="{F11FEB30-09F4-8A82-A16D-3588D583B25F}"/>
              </a:ext>
            </a:extLst>
          </p:cNvPr>
          <p:cNvGraphicFramePr>
            <a:graphicFrameLocks noGrp="1"/>
          </p:cNvGraphicFramePr>
          <p:nvPr>
            <p:extLst>
              <p:ext uri="{D42A27DB-BD31-4B8C-83A1-F6EECF244321}">
                <p14:modId xmlns:p14="http://schemas.microsoft.com/office/powerpoint/2010/main" val="3803659282"/>
              </p:ext>
            </p:extLst>
          </p:nvPr>
        </p:nvGraphicFramePr>
        <p:xfrm>
          <a:off x="340659" y="655322"/>
          <a:ext cx="11612936" cy="5604959"/>
        </p:xfrm>
        <a:graphic>
          <a:graphicData uri="http://schemas.openxmlformats.org/drawingml/2006/table">
            <a:tbl>
              <a:tblPr firstRow="1" firstCol="1" bandRow="1">
                <a:tableStyleId>{5C22544A-7EE6-4342-B048-85BDC9FD1C3A}</a:tableStyleId>
              </a:tblPr>
              <a:tblGrid>
                <a:gridCol w="236562">
                  <a:extLst>
                    <a:ext uri="{9D8B030D-6E8A-4147-A177-3AD203B41FA5}">
                      <a16:colId xmlns:a16="http://schemas.microsoft.com/office/drawing/2014/main" val="775064749"/>
                    </a:ext>
                  </a:extLst>
                </a:gridCol>
                <a:gridCol w="11376374">
                  <a:extLst>
                    <a:ext uri="{9D8B030D-6E8A-4147-A177-3AD203B41FA5}">
                      <a16:colId xmlns:a16="http://schemas.microsoft.com/office/drawing/2014/main" val="2486356070"/>
                    </a:ext>
                  </a:extLst>
                </a:gridCol>
              </a:tblGrid>
              <a:tr h="375194">
                <a:tc>
                  <a:txBody>
                    <a:bodyPr/>
                    <a:lstStyle/>
                    <a:p>
                      <a:r>
                        <a:rPr lang="es-ES" sz="900" kern="100" dirty="0">
                          <a:effectLst/>
                        </a:rPr>
                        <a:t> </a:t>
                      </a:r>
                      <a:endParaRPr lang="en-CH"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ES" sz="1800" kern="100" dirty="0">
                          <a:effectLst/>
                          <a:latin typeface="Segoe UI" panose="020B0502040204020203" pitchFamily="34" charset="0"/>
                          <a:cs typeface="Segoe UI" panose="020B0502040204020203" pitchFamily="34" charset="0"/>
                        </a:rPr>
                        <a:t>Debe Incluir</a:t>
                      </a:r>
                      <a:endParaRPr lang="en-CH" sz="1800" kern="100" dirty="0">
                        <a:effectLst/>
                        <a:latin typeface="Segoe UI" panose="020B0502040204020203" pitchFamily="34" charset="0"/>
                        <a:ea typeface="Times New Roman" panose="02020603050405020304" pitchFamily="18" charset="0"/>
                        <a:cs typeface="Segoe UI" panose="020B0502040204020203" pitchFamily="34" charset="0"/>
                      </a:endParaRPr>
                    </a:p>
                  </a:txBody>
                  <a:tcPr marL="68580" marR="68580" marT="0" marB="0"/>
                </a:tc>
                <a:extLst>
                  <a:ext uri="{0D108BD9-81ED-4DB2-BD59-A6C34878D82A}">
                    <a16:rowId xmlns:a16="http://schemas.microsoft.com/office/drawing/2014/main" val="1739055099"/>
                  </a:ext>
                </a:extLst>
              </a:tr>
              <a:tr h="2349369">
                <a:tc>
                  <a:txBody>
                    <a:bodyPr/>
                    <a:lstStyle/>
                    <a:p>
                      <a:r>
                        <a:rPr lang="es-ES" sz="900" kern="100" dirty="0">
                          <a:effectLst/>
                        </a:rPr>
                        <a:t>1</a:t>
                      </a:r>
                      <a:endParaRPr lang="en-CH"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Tecnología y conectividad digital avanzada</a:t>
                      </a:r>
                      <a:r>
                        <a:rPr lang="es-ES" sz="1800" kern="100" dirty="0">
                          <a:solidFill>
                            <a:schemeClr val="accent5">
                              <a:lumMod val="50000"/>
                            </a:schemeClr>
                          </a:solidFill>
                          <a:effectLst/>
                        </a:rPr>
                        <a:t>: </a:t>
                      </a:r>
                      <a:r>
                        <a:rPr lang="es-ES" sz="1800" kern="100" dirty="0">
                          <a:solidFill>
                            <a:srgbClr val="C00000"/>
                          </a:solidFill>
                          <a:effectLst/>
                        </a:rPr>
                        <a:t>Redes 5G, IA, </a:t>
                      </a:r>
                      <a:r>
                        <a:rPr lang="es-ES" sz="1800" kern="100" dirty="0" err="1">
                          <a:solidFill>
                            <a:srgbClr val="C00000"/>
                          </a:solidFill>
                          <a:effectLst/>
                        </a:rPr>
                        <a:t>IoT</a:t>
                      </a:r>
                      <a:r>
                        <a:rPr lang="es-ES" sz="1800" kern="100" dirty="0">
                          <a:solidFill>
                            <a:srgbClr val="C00000"/>
                          </a:solidFill>
                          <a:effectLst/>
                        </a:rPr>
                        <a:t>, </a:t>
                      </a:r>
                      <a:r>
                        <a:rPr lang="es-ES" sz="1800" kern="100" dirty="0" err="1">
                          <a:solidFill>
                            <a:srgbClr val="C00000"/>
                          </a:solidFill>
                          <a:effectLst/>
                        </a:rPr>
                        <a:t>Blockchain</a:t>
                      </a:r>
                      <a:r>
                        <a:rPr lang="es-ES" sz="1800" kern="100" dirty="0">
                          <a:solidFill>
                            <a:srgbClr val="C00000"/>
                          </a:solidFill>
                          <a:effectLst/>
                        </a:rPr>
                        <a:t>, sensores urbanos, automatización, centros de datos, plataformas de gestión inteligente</a:t>
                      </a:r>
                      <a:r>
                        <a:rPr lang="es-ES" sz="1800" kern="100" dirty="0">
                          <a:solidFill>
                            <a:schemeClr val="accent5">
                              <a:lumMod val="50000"/>
                            </a:schemeClr>
                          </a:solidFill>
                          <a:effectLst/>
                        </a:rPr>
                        <a:t> para movilidad, energía y servicios urbanos.</a:t>
                      </a:r>
                      <a:endParaRPr lang="en-CH" sz="1800" kern="100" dirty="0">
                        <a:solidFill>
                          <a:schemeClr val="accent5">
                            <a:lumMod val="50000"/>
                          </a:schemeClr>
                        </a:solidFill>
                        <a:effectLst/>
                      </a:endParaRPr>
                    </a:p>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Centros de innovación, formación técnica especializada</a:t>
                      </a:r>
                      <a:r>
                        <a:rPr lang="es-ES" sz="1800" kern="100" dirty="0">
                          <a:solidFill>
                            <a:schemeClr val="accent5">
                              <a:lumMod val="50000"/>
                            </a:schemeClr>
                          </a:solidFill>
                          <a:effectLst/>
                        </a:rPr>
                        <a:t> y transferencia tecnológica: Universidades técnicas, institutos, parques industriales tecnológicos, </a:t>
                      </a:r>
                      <a:r>
                        <a:rPr lang="es-ES" sz="1800" kern="100" dirty="0" err="1">
                          <a:solidFill>
                            <a:schemeClr val="accent5">
                              <a:lumMod val="50000"/>
                            </a:schemeClr>
                          </a:solidFill>
                          <a:effectLst/>
                        </a:rPr>
                        <a:t>hubs</a:t>
                      </a:r>
                      <a:r>
                        <a:rPr lang="es-ES" sz="1800" kern="100" dirty="0">
                          <a:solidFill>
                            <a:schemeClr val="accent5">
                              <a:lumMod val="50000"/>
                            </a:schemeClr>
                          </a:solidFill>
                          <a:effectLst/>
                        </a:rPr>
                        <a:t> de logística, ciberseguridad e industria 4.0.</a:t>
                      </a:r>
                      <a:endParaRPr lang="en-CH" sz="1800" kern="100" dirty="0">
                        <a:solidFill>
                          <a:schemeClr val="accent5">
                            <a:lumMod val="50000"/>
                          </a:schemeClr>
                        </a:solidFill>
                        <a:effectLst/>
                      </a:endParaRPr>
                    </a:p>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Vivienda digna y servicios urbanos sostenibles</a:t>
                      </a:r>
                      <a:r>
                        <a:rPr lang="es-ES" sz="1800" kern="100" dirty="0">
                          <a:solidFill>
                            <a:schemeClr val="accent5">
                              <a:lumMod val="50000"/>
                            </a:schemeClr>
                          </a:solidFill>
                          <a:effectLst/>
                        </a:rPr>
                        <a:t>: Transporte público, energía limpia y gestión inteligente de agua y residuos, enfocados en los trabajadores y sus familias.</a:t>
                      </a:r>
                      <a:endParaRPr lang="en-CH" sz="1800" kern="100" dirty="0">
                        <a:solidFill>
                          <a:schemeClr val="accent5">
                            <a:lumMod val="50000"/>
                          </a:schemeClr>
                        </a:solidFill>
                        <a:effectLst/>
                      </a:endParaRPr>
                    </a:p>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Gestión ambiental automatizado</a:t>
                      </a:r>
                      <a:r>
                        <a:rPr lang="es-ES" sz="1800" kern="100" dirty="0">
                          <a:solidFill>
                            <a:schemeClr val="accent5">
                              <a:lumMod val="50000"/>
                            </a:schemeClr>
                          </a:solidFill>
                          <a:effectLst/>
                        </a:rPr>
                        <a:t>: Sensores en tiempo real para mejorar la calidad de aire, agua, emisiones y reciclaje portuario.</a:t>
                      </a:r>
                      <a:endParaRPr lang="en-CH" sz="1800" kern="100" dirty="0">
                        <a:solidFill>
                          <a:schemeClr val="accent5">
                            <a:lumMod val="50000"/>
                          </a:schemeClr>
                        </a:solidFill>
                        <a:effectLst/>
                      </a:endParaRPr>
                    </a:p>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Movilidad sostenible</a:t>
                      </a:r>
                      <a:r>
                        <a:rPr lang="es-ES" sz="1800" kern="100" dirty="0">
                          <a:solidFill>
                            <a:schemeClr val="accent5">
                              <a:lumMod val="50000"/>
                            </a:schemeClr>
                          </a:solidFill>
                          <a:effectLst/>
                        </a:rPr>
                        <a:t>: Trenes, buses eléctricos y trazabilidad de trenes, trazabilidad logística y conexión eficiente y segura entre el puerto, barrios y zonas industriales.</a:t>
                      </a:r>
                      <a:endParaRPr lang="en-CH" sz="1800" kern="100" dirty="0">
                        <a:solidFill>
                          <a:schemeClr val="accent5">
                            <a:lumMod val="50000"/>
                          </a:schemeClr>
                        </a:solidFill>
                        <a:effectLst/>
                      </a:endParaRPr>
                    </a:p>
                    <a:p>
                      <a:pPr marL="342900" lvl="0" indent="-342900" algn="just">
                        <a:buSzPts val="1000"/>
                        <a:buFont typeface="Symbol" pitchFamily="2" charset="2"/>
                        <a:buChar char=""/>
                        <a:tabLst>
                          <a:tab pos="457200" algn="l"/>
                        </a:tabLst>
                      </a:pPr>
                      <a:r>
                        <a:rPr lang="es-ES" sz="1800" b="1" kern="100" dirty="0">
                          <a:solidFill>
                            <a:schemeClr val="accent5">
                              <a:lumMod val="50000"/>
                            </a:schemeClr>
                          </a:solidFill>
                          <a:effectLst/>
                        </a:rPr>
                        <a:t>Gobernanza digital e integración de datos en tiempo real</a:t>
                      </a:r>
                      <a:r>
                        <a:rPr lang="es-ES" sz="1800" kern="100" dirty="0">
                          <a:solidFill>
                            <a:schemeClr val="accent5">
                              <a:lumMod val="50000"/>
                            </a:schemeClr>
                          </a:solidFill>
                          <a:effectLst/>
                        </a:rPr>
                        <a:t> para tomar decisiones urbanas inteligentes.</a:t>
                      </a:r>
                      <a:endParaRPr lang="en-CH" sz="1800"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06521801"/>
                  </a:ext>
                </a:extLst>
              </a:tr>
              <a:tr h="0">
                <a:tc>
                  <a:txBody>
                    <a:bodyPr/>
                    <a:lstStyle/>
                    <a:p>
                      <a:r>
                        <a:rPr lang="es-ES" sz="2000" kern="100">
                          <a:effectLst/>
                        </a:rPr>
                        <a:t> </a:t>
                      </a:r>
                      <a:endParaRPr lang="en-CH"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tabLst>
                          <a:tab pos="457200" algn="l"/>
                        </a:tabLst>
                      </a:pPr>
                      <a:endParaRPr lang="es-ES" sz="1800" b="1" kern="100" dirty="0">
                        <a:solidFill>
                          <a:schemeClr val="accent5">
                            <a:lumMod val="50000"/>
                          </a:schemeClr>
                        </a:solidFill>
                        <a:effectLst/>
                        <a:latin typeface="Segoe UI" panose="020B0502040204020203" pitchFamily="34" charset="0"/>
                        <a:cs typeface="Segoe UI" panose="020B0502040204020203" pitchFamily="34" charset="0"/>
                      </a:endParaRPr>
                    </a:p>
                    <a:p>
                      <a:pPr algn="ctr">
                        <a:tabLst>
                          <a:tab pos="457200" algn="l"/>
                        </a:tabLst>
                      </a:pPr>
                      <a:r>
                        <a:rPr lang="es-ES" sz="1800" b="1" kern="100" dirty="0">
                          <a:solidFill>
                            <a:schemeClr val="accent5">
                              <a:lumMod val="50000"/>
                            </a:schemeClr>
                          </a:solidFill>
                          <a:effectLst/>
                          <a:latin typeface="Segoe UI" panose="020B0502040204020203" pitchFamily="34" charset="0"/>
                          <a:cs typeface="Segoe UI" panose="020B0502040204020203" pitchFamily="34" charset="0"/>
                        </a:rPr>
                        <a:t>Casos de Negocio</a:t>
                      </a:r>
                      <a:endParaRPr lang="en-CH" sz="1800" b="1" kern="1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68580" marR="68580" marT="0" marB="0"/>
                </a:tc>
                <a:extLst>
                  <a:ext uri="{0D108BD9-81ED-4DB2-BD59-A6C34878D82A}">
                    <a16:rowId xmlns:a16="http://schemas.microsoft.com/office/drawing/2014/main" val="341433570"/>
                  </a:ext>
                </a:extLst>
              </a:tr>
              <a:tr h="1663605">
                <a:tc>
                  <a:txBody>
                    <a:bodyPr/>
                    <a:lstStyle/>
                    <a:p>
                      <a:r>
                        <a:rPr lang="es-ES" sz="900" kern="100" dirty="0">
                          <a:effectLst/>
                        </a:rPr>
                        <a:t>2</a:t>
                      </a:r>
                      <a:endParaRPr lang="en-CH" sz="1200" kern="100" dirty="0">
                        <a:effectLst/>
                      </a:endParaRPr>
                    </a:p>
                    <a:p>
                      <a:r>
                        <a:rPr lang="es-ES" sz="900" kern="100" dirty="0">
                          <a:effectLst/>
                        </a:rPr>
                        <a:t> </a:t>
                      </a:r>
                      <a:endParaRPr lang="en-CH"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buSzPts val="1000"/>
                        <a:buFont typeface="Symbol" pitchFamily="2" charset="2"/>
                        <a:buChar char=""/>
                        <a:tabLst>
                          <a:tab pos="228600" algn="l"/>
                          <a:tab pos="457200" algn="l"/>
                        </a:tabLst>
                      </a:pPr>
                      <a:r>
                        <a:rPr lang="es-ES" sz="1800" b="1" kern="100" dirty="0">
                          <a:solidFill>
                            <a:schemeClr val="accent5">
                              <a:lumMod val="50000"/>
                            </a:schemeClr>
                          </a:solidFill>
                          <a:effectLst/>
                        </a:rPr>
                        <a:t>Singapur</a:t>
                      </a:r>
                      <a:r>
                        <a:rPr lang="es-ES" sz="1800" kern="100" dirty="0">
                          <a:solidFill>
                            <a:schemeClr val="accent5">
                              <a:lumMod val="50000"/>
                            </a:schemeClr>
                          </a:solidFill>
                          <a:effectLst/>
                        </a:rPr>
                        <a:t>: Combina su puerto automatizado con distritos inteligentes como </a:t>
                      </a:r>
                      <a:r>
                        <a:rPr lang="es-ES" sz="1800" kern="100" dirty="0" err="1">
                          <a:solidFill>
                            <a:schemeClr val="accent5">
                              <a:lumMod val="50000"/>
                            </a:schemeClr>
                          </a:solidFill>
                          <a:effectLst/>
                        </a:rPr>
                        <a:t>Punggol</a:t>
                      </a:r>
                      <a:r>
                        <a:rPr lang="es-ES" sz="1800" kern="100" dirty="0">
                          <a:solidFill>
                            <a:schemeClr val="accent5">
                              <a:lumMod val="50000"/>
                            </a:schemeClr>
                          </a:solidFill>
                          <a:effectLst/>
                        </a:rPr>
                        <a:t> Digital </a:t>
                      </a:r>
                      <a:r>
                        <a:rPr lang="es-ES" sz="1800" kern="100" dirty="0" err="1">
                          <a:solidFill>
                            <a:schemeClr val="accent5">
                              <a:lumMod val="50000"/>
                            </a:schemeClr>
                          </a:solidFill>
                          <a:effectLst/>
                        </a:rPr>
                        <a:t>District</a:t>
                      </a:r>
                      <a:r>
                        <a:rPr lang="es-ES" sz="1800" kern="100" dirty="0">
                          <a:solidFill>
                            <a:schemeClr val="accent5">
                              <a:lumMod val="50000"/>
                            </a:schemeClr>
                          </a:solidFill>
                          <a:effectLst/>
                        </a:rPr>
                        <a:t>, integrando universidades, startups y centros logísticos.</a:t>
                      </a:r>
                      <a:endParaRPr lang="en-CH" sz="1800" kern="100" dirty="0">
                        <a:solidFill>
                          <a:schemeClr val="accent5">
                            <a:lumMod val="50000"/>
                          </a:schemeClr>
                        </a:solidFill>
                        <a:effectLst/>
                      </a:endParaRPr>
                    </a:p>
                    <a:p>
                      <a:pPr marL="342900" lvl="0" indent="-342900">
                        <a:buSzPts val="1000"/>
                        <a:buFont typeface="Symbol" pitchFamily="2" charset="2"/>
                        <a:buChar char=""/>
                        <a:tabLst>
                          <a:tab pos="228600" algn="l"/>
                          <a:tab pos="457200" algn="l"/>
                        </a:tabLst>
                      </a:pPr>
                      <a:r>
                        <a:rPr lang="es-ES" sz="1800" b="1" kern="100" dirty="0">
                          <a:solidFill>
                            <a:schemeClr val="accent5">
                              <a:lumMod val="50000"/>
                            </a:schemeClr>
                          </a:solidFill>
                          <a:effectLst/>
                        </a:rPr>
                        <a:t>Roterdam</a:t>
                      </a:r>
                      <a:r>
                        <a:rPr lang="es-ES" sz="1800" kern="100" dirty="0">
                          <a:solidFill>
                            <a:schemeClr val="accent5">
                              <a:lumMod val="50000"/>
                            </a:schemeClr>
                          </a:solidFill>
                          <a:effectLst/>
                        </a:rPr>
                        <a:t>: Ha desarrollado iniciativas como </a:t>
                      </a:r>
                      <a:r>
                        <a:rPr lang="es-ES" sz="1800" kern="100" dirty="0" err="1">
                          <a:solidFill>
                            <a:schemeClr val="accent5">
                              <a:lumMod val="50000"/>
                            </a:schemeClr>
                          </a:solidFill>
                          <a:effectLst/>
                        </a:rPr>
                        <a:t>SmartPort</a:t>
                      </a:r>
                      <a:r>
                        <a:rPr lang="es-ES" sz="1800" kern="100" dirty="0">
                          <a:solidFill>
                            <a:schemeClr val="accent5">
                              <a:lumMod val="50000"/>
                            </a:schemeClr>
                          </a:solidFill>
                          <a:effectLst/>
                        </a:rPr>
                        <a:t> y el distrito M4H, </a:t>
                      </a:r>
                      <a:r>
                        <a:rPr lang="es-ES" sz="1800" b="1" kern="100" dirty="0">
                          <a:solidFill>
                            <a:schemeClr val="accent5">
                              <a:lumMod val="50000"/>
                            </a:schemeClr>
                          </a:solidFill>
                          <a:effectLst/>
                        </a:rPr>
                        <a:t>donde se incuban tecnologías marítimas sostenibles con universidades y empresas.</a:t>
                      </a:r>
                      <a:endParaRPr lang="en-CH" sz="1800" b="1" kern="100" dirty="0">
                        <a:solidFill>
                          <a:schemeClr val="accent5">
                            <a:lumMod val="50000"/>
                          </a:schemeClr>
                        </a:solidFill>
                        <a:effectLst/>
                      </a:endParaRPr>
                    </a:p>
                    <a:p>
                      <a:pPr marL="342900" lvl="0" indent="-342900">
                        <a:buSzPts val="1000"/>
                        <a:buFont typeface="Symbol" pitchFamily="2" charset="2"/>
                        <a:buChar char=""/>
                        <a:tabLst>
                          <a:tab pos="228600" algn="l"/>
                          <a:tab pos="457200" algn="l"/>
                        </a:tabLst>
                      </a:pPr>
                      <a:r>
                        <a:rPr lang="es-ES" sz="1800" b="1" kern="100" dirty="0">
                          <a:solidFill>
                            <a:schemeClr val="accent5">
                              <a:lumMod val="50000"/>
                            </a:schemeClr>
                          </a:solidFill>
                          <a:effectLst/>
                        </a:rPr>
                        <a:t>Busan, Corea del Sur</a:t>
                      </a:r>
                      <a:r>
                        <a:rPr lang="es-ES" sz="1800" kern="100" dirty="0">
                          <a:solidFill>
                            <a:schemeClr val="accent5">
                              <a:lumMod val="50000"/>
                            </a:schemeClr>
                          </a:solidFill>
                          <a:effectLst/>
                        </a:rPr>
                        <a:t>: La Busan Eco Delta Smart City es una ciudad conectada al puerto, con enfoque en IA, robótica urbana y logística verde.</a:t>
                      </a:r>
                      <a:endParaRPr lang="en-CH" sz="1800" kern="100" dirty="0">
                        <a:solidFill>
                          <a:schemeClr val="accent5">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58731863"/>
                  </a:ext>
                </a:extLst>
              </a:tr>
            </a:tbl>
          </a:graphicData>
        </a:graphic>
      </p:graphicFrame>
      <p:sp>
        <p:nvSpPr>
          <p:cNvPr id="6" name="Google Shape;423;p7">
            <a:extLst>
              <a:ext uri="{FF2B5EF4-FFF2-40B4-BE49-F238E27FC236}">
                <a16:creationId xmlns:a16="http://schemas.microsoft.com/office/drawing/2014/main" id="{4F27642D-9544-F4EF-4D82-824D3383B539}"/>
              </a:ext>
            </a:extLst>
          </p:cNvPr>
          <p:cNvSpPr/>
          <p:nvPr/>
        </p:nvSpPr>
        <p:spPr>
          <a:xfrm>
            <a:off x="0" y="-10517"/>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800" b="1" i="1" kern="0" dirty="0">
              <a:solidFill>
                <a:schemeClr val="bg1"/>
              </a:solidFill>
              <a:effectLst/>
              <a:latin typeface="Montserrat" pitchFamily="2" charset="77"/>
              <a:ea typeface="Times New Roman" panose="02020603050405020304" pitchFamily="18" charset="0"/>
            </a:endParaRPr>
          </a:p>
          <a:p>
            <a:pPr algn="ctr"/>
            <a:r>
              <a:rPr lang="es-ES" sz="2800" b="1" i="1" kern="0"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1. Chancay: Ciudad Portuaria Inteligente</a:t>
            </a:r>
            <a:endParaRPr lang="es-ES_tradnl" sz="2800" b="1" u="none" strike="noStrike" dirty="0">
              <a:solidFill>
                <a:schemeClr val="bg1"/>
              </a:solidFill>
              <a:effectLst/>
              <a:latin typeface="Montserrat" pitchFamily="2" charset="77"/>
            </a:endParaRPr>
          </a:p>
          <a:p>
            <a:pPr algn="ctr"/>
            <a:endParaRPr lang="es-ES_tradnl" sz="2800" b="1" i="0" u="none" strike="noStrike" dirty="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951789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F1AFF92-D857-17B4-FA8A-33CE6D49C2A4}"/>
              </a:ext>
            </a:extLst>
          </p:cNvPr>
          <p:cNvSpPr/>
          <p:nvPr/>
        </p:nvSpPr>
        <p:spPr>
          <a:xfrm>
            <a:off x="1616694" y="4705460"/>
            <a:ext cx="1955801" cy="19970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i="0" strike="noStrike" dirty="0">
                <a:solidFill>
                  <a:schemeClr val="bg1"/>
                </a:solidFill>
                <a:effectLst/>
                <a:latin typeface="Montserrat" panose="00000500000000000000" pitchFamily="2" charset="0"/>
                <a:hlinkClick r:id="rId3">
                  <a:extLst>
                    <a:ext uri="{A12FA001-AC4F-418D-AE19-62706E023703}">
                      <ahyp:hlinkClr xmlns:ahyp="http://schemas.microsoft.com/office/drawing/2018/hyperlinkcolor" val="tx"/>
                    </a:ext>
                  </a:extLst>
                </a:hlinkClick>
              </a:rPr>
              <a:t>Singapur</a:t>
            </a:r>
            <a:r>
              <a:rPr lang="es-ES_tradnl" sz="1600" b="1" i="0" strike="noStrike" dirty="0">
                <a:solidFill>
                  <a:schemeClr val="bg1"/>
                </a:solidFill>
                <a:effectLst/>
                <a:latin typeface="Montserrat" panose="00000500000000000000" pitchFamily="2" charset="0"/>
              </a:rPr>
              <a:t> </a:t>
            </a:r>
            <a:r>
              <a:rPr lang="es-ES_tradnl" sz="1200" b="1" i="0" dirty="0">
                <a:solidFill>
                  <a:schemeClr val="bg1"/>
                </a:solidFill>
                <a:effectLst/>
                <a:latin typeface="Montserrat" panose="00000500000000000000" pitchFamily="2" charset="0"/>
              </a:rPr>
              <a:t>Virtual </a:t>
            </a:r>
            <a:r>
              <a:rPr lang="es-ES_tradnl" sz="1200" b="1" i="0" dirty="0" err="1">
                <a:solidFill>
                  <a:schemeClr val="bg1"/>
                </a:solidFill>
                <a:effectLst/>
                <a:latin typeface="Montserrat" panose="00000500000000000000" pitchFamily="2" charset="0"/>
              </a:rPr>
              <a:t>Singapore</a:t>
            </a:r>
            <a:r>
              <a:rPr lang="es-ES_tradnl" sz="1200" b="1" i="0" dirty="0">
                <a:solidFill>
                  <a:schemeClr val="bg1"/>
                </a:solidFill>
                <a:effectLst/>
                <a:latin typeface="Montserrat" panose="00000500000000000000" pitchFamily="2" charset="0"/>
              </a:rPr>
              <a:t> </a:t>
            </a:r>
            <a:r>
              <a:rPr lang="es-ES_tradnl" sz="1200" dirty="0">
                <a:solidFill>
                  <a:schemeClr val="bg1"/>
                </a:solidFill>
                <a:latin typeface="Montserrat" panose="00000500000000000000" pitchFamily="2" charset="0"/>
              </a:rPr>
              <a:t>M</a:t>
            </a:r>
            <a:r>
              <a:rPr lang="es-ES_tradnl" sz="1200" b="0" i="0" dirty="0">
                <a:solidFill>
                  <a:schemeClr val="bg1"/>
                </a:solidFill>
                <a:effectLst/>
                <a:latin typeface="Montserrat" panose="00000500000000000000" pitchFamily="2" charset="0"/>
              </a:rPr>
              <a:t>odelo dinámico de la ciudad en 3D y Plataforma de Colaboración</a:t>
            </a:r>
            <a:endParaRPr lang="en-CH" sz="1200" dirty="0">
              <a:solidFill>
                <a:schemeClr val="bg1"/>
              </a:solidFill>
              <a:latin typeface="Montserrat" panose="00000500000000000000" pitchFamily="2" charset="0"/>
            </a:endParaRPr>
          </a:p>
        </p:txBody>
      </p:sp>
      <p:sp>
        <p:nvSpPr>
          <p:cNvPr id="10" name="TextBox 9">
            <a:extLst>
              <a:ext uri="{FF2B5EF4-FFF2-40B4-BE49-F238E27FC236}">
                <a16:creationId xmlns:a16="http://schemas.microsoft.com/office/drawing/2014/main" id="{F1082FCE-D681-3AC9-2734-374F797FA5DB}"/>
              </a:ext>
            </a:extLst>
          </p:cNvPr>
          <p:cNvSpPr txBox="1"/>
          <p:nvPr/>
        </p:nvSpPr>
        <p:spPr>
          <a:xfrm>
            <a:off x="2032921" y="950218"/>
            <a:ext cx="1964005" cy="2308324"/>
          </a:xfrm>
          <a:prstGeom prst="rect">
            <a:avLst/>
          </a:prstGeom>
          <a:noFill/>
        </p:spPr>
        <p:txBody>
          <a:bodyPr wrap="square" rtlCol="0">
            <a:spAutoFit/>
          </a:bodyPr>
          <a:lstStyle/>
          <a:p>
            <a:pPr algn="just" fontAlgn="base"/>
            <a:r>
              <a:rPr lang="es-ES_tradnl" sz="1200" b="1" i="0" dirty="0">
                <a:solidFill>
                  <a:srgbClr val="C00000"/>
                </a:solidFill>
                <a:effectLst/>
                <a:latin typeface="Montserrat" panose="00000500000000000000" pitchFamily="2" charset="0"/>
              </a:rPr>
              <a:t>Evita Congestión de </a:t>
            </a:r>
            <a:r>
              <a:rPr lang="es-ES_tradnl" sz="1200" b="1" dirty="0">
                <a:solidFill>
                  <a:srgbClr val="C00000"/>
                </a:solidFill>
                <a:latin typeface="Montserrat" panose="00000500000000000000" pitchFamily="2" charset="0"/>
              </a:rPr>
              <a:t>T</a:t>
            </a:r>
            <a:r>
              <a:rPr lang="es-ES_tradnl" sz="1200" b="1" i="0" dirty="0">
                <a:solidFill>
                  <a:srgbClr val="C00000"/>
                </a:solidFill>
                <a:effectLst/>
                <a:latin typeface="Montserrat" panose="00000500000000000000" pitchFamily="2" charset="0"/>
              </a:rPr>
              <a:t>ráfico </a:t>
            </a:r>
          </a:p>
          <a:p>
            <a:pPr fontAlgn="base"/>
            <a:r>
              <a:rPr lang="es-ES_tradnl" sz="1200" b="0" i="0" dirty="0">
                <a:solidFill>
                  <a:schemeClr val="accent5">
                    <a:lumMod val="50000"/>
                  </a:schemeClr>
                </a:solidFill>
                <a:effectLst/>
                <a:latin typeface="Montserrat" panose="00000500000000000000" pitchFamily="2" charset="0"/>
              </a:rPr>
              <a:t>Supervisa y gestiona el tráfico urbano con sistemas de vigilancia inteligentes y sensores por CCTV. Analiza tráfico predictivo, en tiempo real con perspectiva histórica, incidentes y tráfico y elabora informes </a:t>
            </a:r>
          </a:p>
        </p:txBody>
      </p:sp>
      <p:sp>
        <p:nvSpPr>
          <p:cNvPr id="11" name="Oval 10">
            <a:extLst>
              <a:ext uri="{FF2B5EF4-FFF2-40B4-BE49-F238E27FC236}">
                <a16:creationId xmlns:a16="http://schemas.microsoft.com/office/drawing/2014/main" id="{2FB3CE35-459C-AAD1-DD10-FBB27F170E58}"/>
              </a:ext>
            </a:extLst>
          </p:cNvPr>
          <p:cNvSpPr/>
          <p:nvPr/>
        </p:nvSpPr>
        <p:spPr>
          <a:xfrm>
            <a:off x="10176368" y="1015337"/>
            <a:ext cx="1944256" cy="2035155"/>
          </a:xfrm>
          <a:prstGeom prst="ellipse">
            <a:avLst/>
          </a:prstGeom>
          <a:solidFill>
            <a:srgbClr val="A8BF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i="0" u="sng" strike="noStrike" dirty="0">
                <a:solidFill>
                  <a:schemeClr val="bg1"/>
                </a:solidFill>
                <a:effectLst/>
                <a:latin typeface="Montserrat" panose="00000500000000000000" pitchFamily="2" charset="0"/>
                <a:hlinkClick r:id="rId4">
                  <a:extLst>
                    <a:ext uri="{A12FA001-AC4F-418D-AE19-62706E023703}">
                      <ahyp:hlinkClr xmlns:ahyp="http://schemas.microsoft.com/office/drawing/2018/hyperlinkcolor" val="tx"/>
                    </a:ext>
                  </a:extLst>
                </a:hlinkClick>
              </a:rPr>
              <a:t>Moscú</a:t>
            </a:r>
            <a:endParaRPr lang="es-ES_tradnl" sz="1600" b="1" u="sng" strike="noStrike" dirty="0">
              <a:solidFill>
                <a:schemeClr val="bg1"/>
              </a:solidFill>
              <a:latin typeface="Montserrat" panose="00000500000000000000" pitchFamily="2" charset="0"/>
            </a:endParaRPr>
          </a:p>
          <a:p>
            <a:pPr algn="ctr"/>
            <a:r>
              <a:rPr lang="es-ES_tradnl" sz="1200" b="1" i="0" dirty="0">
                <a:solidFill>
                  <a:schemeClr val="bg1"/>
                </a:solidFill>
                <a:effectLst/>
                <a:latin typeface="Montserrat" panose="00000500000000000000" pitchFamily="2" charset="0"/>
              </a:rPr>
              <a:t>Rusia</a:t>
            </a:r>
          </a:p>
          <a:p>
            <a:pPr algn="ctr"/>
            <a:r>
              <a:rPr lang="es-ES_tradnl" sz="1200" dirty="0">
                <a:solidFill>
                  <a:schemeClr val="bg1"/>
                </a:solidFill>
                <a:latin typeface="Montserrat" panose="00000500000000000000" pitchFamily="2" charset="0"/>
              </a:rPr>
              <a:t>R</a:t>
            </a:r>
            <a:r>
              <a:rPr lang="es-ES_tradnl" sz="1200" b="0" i="0" dirty="0">
                <a:solidFill>
                  <a:schemeClr val="bg1"/>
                </a:solidFill>
                <a:effectLst/>
                <a:latin typeface="Montserrat" panose="00000500000000000000" pitchFamily="2" charset="0"/>
              </a:rPr>
              <a:t>ed de gestión de tráfico y transporte</a:t>
            </a:r>
            <a:endParaRPr lang="en-CH" sz="1200" dirty="0">
              <a:solidFill>
                <a:schemeClr val="bg1"/>
              </a:solidFill>
              <a:latin typeface="Montserrat" panose="00000500000000000000" pitchFamily="2" charset="0"/>
            </a:endParaRPr>
          </a:p>
        </p:txBody>
      </p:sp>
      <p:sp>
        <p:nvSpPr>
          <p:cNvPr id="12" name="Oval 11">
            <a:extLst>
              <a:ext uri="{FF2B5EF4-FFF2-40B4-BE49-F238E27FC236}">
                <a16:creationId xmlns:a16="http://schemas.microsoft.com/office/drawing/2014/main" id="{3561EEA4-7C96-0C2F-924B-949715278139}"/>
              </a:ext>
            </a:extLst>
          </p:cNvPr>
          <p:cNvSpPr/>
          <p:nvPr/>
        </p:nvSpPr>
        <p:spPr>
          <a:xfrm>
            <a:off x="4174435" y="959777"/>
            <a:ext cx="2200310" cy="203515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0" i="0" u="sng" strike="noStrike" dirty="0">
                <a:solidFill>
                  <a:srgbClr val="2F4B5D"/>
                </a:solidFill>
                <a:effectLst/>
                <a:latin typeface="Montserrat" panose="00000500000000000000" pitchFamily="2" charset="0"/>
                <a:hlinkClick r:id="rId5">
                  <a:extLst>
                    <a:ext uri="{A12FA001-AC4F-418D-AE19-62706E023703}">
                      <ahyp:hlinkClr xmlns:ahyp="http://schemas.microsoft.com/office/drawing/2018/hyperlinkcolor" val="tx"/>
                    </a:ext>
                  </a:extLst>
                </a:hlinkClick>
              </a:rPr>
              <a:t>Mashhad</a:t>
            </a:r>
            <a:endParaRPr lang="es-ES_tradnl" sz="1600" b="0" i="0" u="sng" strike="noStrike" dirty="0">
              <a:solidFill>
                <a:srgbClr val="2F4B5D"/>
              </a:solidFill>
              <a:effectLst/>
              <a:latin typeface="Montserrat" panose="00000500000000000000" pitchFamily="2" charset="0"/>
            </a:endParaRPr>
          </a:p>
          <a:p>
            <a:pPr algn="ctr"/>
            <a:r>
              <a:rPr lang="es-ES_tradnl" sz="1200" b="0" i="0" dirty="0">
                <a:solidFill>
                  <a:srgbClr val="2F4B5D"/>
                </a:solidFill>
                <a:effectLst/>
                <a:latin typeface="Montserrat" panose="00000500000000000000" pitchFamily="2" charset="0"/>
              </a:rPr>
              <a:t>Irán</a:t>
            </a:r>
            <a:r>
              <a:rPr lang="es-ES_tradnl" sz="1200" dirty="0">
                <a:solidFill>
                  <a:srgbClr val="2F4B5D"/>
                </a:solidFill>
                <a:latin typeface="Montserrat" panose="00000500000000000000" pitchFamily="2" charset="0"/>
              </a:rPr>
              <a:t> </a:t>
            </a:r>
            <a:r>
              <a:rPr lang="es-ES_tradnl" sz="1200" b="0" i="0" dirty="0">
                <a:solidFill>
                  <a:srgbClr val="2F4B5D"/>
                </a:solidFill>
                <a:effectLst/>
                <a:latin typeface="Montserrat" panose="00000500000000000000" pitchFamily="2" charset="0"/>
              </a:rPr>
              <a:t>República, Islámica</a:t>
            </a:r>
          </a:p>
          <a:p>
            <a:pPr algn="ctr"/>
            <a:r>
              <a:rPr lang="es-ES_tradnl" sz="1200" b="0" i="0" dirty="0">
                <a:solidFill>
                  <a:srgbClr val="2F4B5D"/>
                </a:solidFill>
                <a:effectLst/>
                <a:latin typeface="Montserrat" panose="00000500000000000000" pitchFamily="2" charset="0"/>
              </a:rPr>
              <a:t>Sistema inteligente de recogida de residuos reciclables</a:t>
            </a:r>
            <a:endParaRPr lang="en-CH" sz="1200" dirty="0">
              <a:solidFill>
                <a:srgbClr val="2F4B5D"/>
              </a:solidFill>
              <a:latin typeface="Montserrat" panose="00000500000000000000" pitchFamily="2" charset="0"/>
            </a:endParaRPr>
          </a:p>
        </p:txBody>
      </p:sp>
      <p:sp>
        <p:nvSpPr>
          <p:cNvPr id="13" name="Oval 12">
            <a:extLst>
              <a:ext uri="{FF2B5EF4-FFF2-40B4-BE49-F238E27FC236}">
                <a16:creationId xmlns:a16="http://schemas.microsoft.com/office/drawing/2014/main" id="{DFD42664-F006-3981-0F7A-29BA7746FE0F}"/>
              </a:ext>
            </a:extLst>
          </p:cNvPr>
          <p:cNvSpPr/>
          <p:nvPr/>
        </p:nvSpPr>
        <p:spPr>
          <a:xfrm>
            <a:off x="3987870" y="4706046"/>
            <a:ext cx="2060227" cy="2035156"/>
          </a:xfrm>
          <a:prstGeom prst="ellipse">
            <a:avLst/>
          </a:prstGeom>
          <a:solidFill>
            <a:srgbClr val="2F4B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i="0" u="none" strike="noStrike" dirty="0">
                <a:solidFill>
                  <a:schemeClr val="bg1"/>
                </a:solidFill>
                <a:effectLst/>
                <a:latin typeface="Montserrat" panose="00000500000000000000" pitchFamily="2" charset="0"/>
                <a:hlinkClick r:id="rId6">
                  <a:extLst>
                    <a:ext uri="{A12FA001-AC4F-418D-AE19-62706E023703}">
                      <ahyp:hlinkClr xmlns:ahyp="http://schemas.microsoft.com/office/drawing/2018/hyperlinkcolor" val="tx"/>
                    </a:ext>
                  </a:extLst>
                </a:hlinkClick>
              </a:rPr>
              <a:t>Texel</a:t>
            </a:r>
            <a:endParaRPr lang="es-ES_tradnl" sz="1600" b="1" dirty="0">
              <a:solidFill>
                <a:schemeClr val="bg1"/>
              </a:solidFill>
              <a:latin typeface="Montserrat" panose="00000500000000000000" pitchFamily="2" charset="0"/>
            </a:endParaRPr>
          </a:p>
          <a:p>
            <a:pPr algn="ctr"/>
            <a:r>
              <a:rPr lang="es-ES_tradnl" sz="1200" b="1" i="0" dirty="0">
                <a:solidFill>
                  <a:schemeClr val="bg1"/>
                </a:solidFill>
                <a:effectLst/>
                <a:latin typeface="Montserrat" panose="00000500000000000000" pitchFamily="2" charset="0"/>
              </a:rPr>
              <a:t>Países Bajos</a:t>
            </a:r>
            <a:r>
              <a:rPr lang="es-ES_tradnl" sz="1200" b="0" i="0" dirty="0">
                <a:solidFill>
                  <a:schemeClr val="bg1"/>
                </a:solidFill>
                <a:effectLst/>
                <a:latin typeface="Montserrat" panose="00000500000000000000" pitchFamily="2" charset="0"/>
              </a:rPr>
              <a:t> Infraestructura de alumbrado público inteligente</a:t>
            </a:r>
            <a:endParaRPr lang="en-CH" sz="1200" dirty="0">
              <a:solidFill>
                <a:schemeClr val="bg1"/>
              </a:solidFill>
              <a:latin typeface="Montserrat" panose="00000500000000000000" pitchFamily="2" charset="0"/>
            </a:endParaRPr>
          </a:p>
        </p:txBody>
      </p:sp>
      <p:sp>
        <p:nvSpPr>
          <p:cNvPr id="15" name="Oval 14">
            <a:extLst>
              <a:ext uri="{FF2B5EF4-FFF2-40B4-BE49-F238E27FC236}">
                <a16:creationId xmlns:a16="http://schemas.microsoft.com/office/drawing/2014/main" id="{59492EAE-75FF-E75C-3B13-999F41E2AC88}"/>
              </a:ext>
            </a:extLst>
          </p:cNvPr>
          <p:cNvSpPr/>
          <p:nvPr/>
        </p:nvSpPr>
        <p:spPr>
          <a:xfrm>
            <a:off x="113055" y="1064204"/>
            <a:ext cx="1955801" cy="2070915"/>
          </a:xfrm>
          <a:prstGeom prst="ellipse">
            <a:avLst/>
          </a:prstGeom>
          <a:solidFill>
            <a:srgbClr val="6CA1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1600" dirty="0">
                <a:latin typeface="Montserrat" panose="00000500000000000000" pitchFamily="2" charset="0"/>
              </a:rPr>
              <a:t>Riad</a:t>
            </a:r>
          </a:p>
          <a:p>
            <a:pPr algn="ctr"/>
            <a:r>
              <a:rPr lang="en-CH" sz="1200" dirty="0">
                <a:solidFill>
                  <a:schemeClr val="bg1"/>
                </a:solidFill>
                <a:latin typeface="Montserrat" panose="00000500000000000000" pitchFamily="2" charset="0"/>
              </a:rPr>
              <a:t>Arabia Saudita</a:t>
            </a:r>
          </a:p>
          <a:p>
            <a:pPr algn="ctr"/>
            <a:r>
              <a:rPr lang="es-ES_tradnl" sz="1200" b="0" i="0" dirty="0">
                <a:solidFill>
                  <a:schemeClr val="bg1"/>
                </a:solidFill>
                <a:effectLst/>
                <a:latin typeface="Montserrat" panose="00000500000000000000" pitchFamily="2" charset="0"/>
              </a:rPr>
              <a:t>Sistema de transporte inteligente</a:t>
            </a:r>
            <a:endParaRPr lang="en-CH" sz="1200" dirty="0">
              <a:solidFill>
                <a:schemeClr val="bg1"/>
              </a:solidFill>
              <a:latin typeface="Montserrat" panose="00000500000000000000" pitchFamily="2" charset="0"/>
            </a:endParaRPr>
          </a:p>
        </p:txBody>
      </p:sp>
      <p:sp>
        <p:nvSpPr>
          <p:cNvPr id="18" name="Oval 17">
            <a:extLst>
              <a:ext uri="{FF2B5EF4-FFF2-40B4-BE49-F238E27FC236}">
                <a16:creationId xmlns:a16="http://schemas.microsoft.com/office/drawing/2014/main" id="{6CB55BB8-4613-E074-B1F2-F45BFA8D5376}"/>
              </a:ext>
            </a:extLst>
          </p:cNvPr>
          <p:cNvSpPr/>
          <p:nvPr/>
        </p:nvSpPr>
        <p:spPr>
          <a:xfrm>
            <a:off x="8215336" y="4738992"/>
            <a:ext cx="2023921" cy="196230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i="0" u="none" strike="noStrike" dirty="0">
                <a:solidFill>
                  <a:schemeClr val="accent5">
                    <a:lumMod val="50000"/>
                  </a:schemeClr>
                </a:solidFill>
                <a:effectLst/>
                <a:latin typeface="Montserrat" panose="00000500000000000000" pitchFamily="2" charset="0"/>
                <a:hlinkClick r:id="rId7">
                  <a:extLst>
                    <a:ext uri="{A12FA001-AC4F-418D-AE19-62706E023703}">
                      <ahyp:hlinkClr xmlns:ahyp="http://schemas.microsoft.com/office/drawing/2018/hyperlinkcolor" val="tx"/>
                    </a:ext>
                  </a:extLst>
                </a:hlinkClick>
              </a:rPr>
              <a:t>Valencia</a:t>
            </a:r>
            <a:r>
              <a:rPr lang="es-ES_tradnl" sz="1600" b="0" i="0" dirty="0">
                <a:solidFill>
                  <a:schemeClr val="accent5">
                    <a:lumMod val="50000"/>
                  </a:schemeClr>
                </a:solidFill>
                <a:effectLst/>
                <a:latin typeface="Montserrat" panose="00000500000000000000" pitchFamily="2" charset="0"/>
              </a:rPr>
              <a:t> </a:t>
            </a:r>
          </a:p>
          <a:p>
            <a:pPr algn="ctr"/>
            <a:r>
              <a:rPr lang="es-ES_tradnl" sz="1200" b="1" i="0" dirty="0">
                <a:solidFill>
                  <a:schemeClr val="accent5">
                    <a:lumMod val="50000"/>
                  </a:schemeClr>
                </a:solidFill>
                <a:effectLst/>
                <a:latin typeface="Montserrat" panose="00000500000000000000" pitchFamily="2" charset="0"/>
              </a:rPr>
              <a:t>España</a:t>
            </a:r>
            <a:endParaRPr lang="es-ES_tradnl" sz="1200" dirty="0">
              <a:solidFill>
                <a:schemeClr val="accent5">
                  <a:lumMod val="50000"/>
                </a:schemeClr>
              </a:solidFill>
              <a:latin typeface="Montserrat" panose="00000500000000000000" pitchFamily="2" charset="0"/>
            </a:endParaRPr>
          </a:p>
          <a:p>
            <a:pPr algn="ctr"/>
            <a:r>
              <a:rPr lang="es-ES_tradnl" sz="900" b="0" i="0" dirty="0">
                <a:solidFill>
                  <a:schemeClr val="accent5">
                    <a:lumMod val="50000"/>
                  </a:schemeClr>
                </a:solidFill>
                <a:effectLst/>
                <a:latin typeface="Montserrat" panose="00000500000000000000" pitchFamily="2" charset="0"/>
              </a:rPr>
              <a:t> </a:t>
            </a:r>
            <a:r>
              <a:rPr lang="es-ES_tradnl" sz="1200" b="0" i="0" dirty="0">
                <a:solidFill>
                  <a:schemeClr val="accent5">
                    <a:lumMod val="50000"/>
                  </a:schemeClr>
                </a:solidFill>
                <a:effectLst/>
                <a:latin typeface="Montserrat" panose="00000500000000000000" pitchFamily="2" charset="0"/>
              </a:rPr>
              <a:t>Sistema de gestión de la ciudad basado en la nube, </a:t>
            </a:r>
            <a:r>
              <a:rPr lang="es-ES_tradnl" sz="1200" b="0" i="0" u="none" strike="noStrike" dirty="0">
                <a:solidFill>
                  <a:schemeClr val="accent5">
                    <a:lumMod val="50000"/>
                  </a:schemeClr>
                </a:solidFill>
                <a:effectLst/>
                <a:latin typeface="Montserrat" panose="00000500000000000000" pitchFamily="2" charset="0"/>
                <a:hlinkClick r:id="rId8">
                  <a:extLst>
                    <a:ext uri="{A12FA001-AC4F-418D-AE19-62706E023703}">
                      <ahyp:hlinkClr xmlns:ahyp="http://schemas.microsoft.com/office/drawing/2018/hyperlinkcolor" val="tx"/>
                    </a:ext>
                  </a:extLst>
                </a:hlinkClick>
              </a:rPr>
              <a:t>plataforma VLCi​</a:t>
            </a:r>
            <a:r>
              <a:rPr lang="es-ES_tradnl" sz="1200" b="0" i="0" dirty="0">
                <a:solidFill>
                  <a:schemeClr val="accent5">
                    <a:lumMod val="50000"/>
                  </a:schemeClr>
                </a:solidFill>
                <a:effectLst/>
                <a:latin typeface="Montserrat" panose="00000500000000000000" pitchFamily="2" charset="0"/>
              </a:rPr>
              <a:t>.</a:t>
            </a:r>
            <a:endParaRPr lang="en-CH" sz="1200" dirty="0">
              <a:solidFill>
                <a:schemeClr val="accent5">
                  <a:lumMod val="50000"/>
                </a:schemeClr>
              </a:solidFill>
              <a:latin typeface="Montserrat" panose="00000500000000000000" pitchFamily="2" charset="0"/>
            </a:endParaRPr>
          </a:p>
        </p:txBody>
      </p:sp>
      <p:sp>
        <p:nvSpPr>
          <p:cNvPr id="20" name="TextBox 19">
            <a:extLst>
              <a:ext uri="{FF2B5EF4-FFF2-40B4-BE49-F238E27FC236}">
                <a16:creationId xmlns:a16="http://schemas.microsoft.com/office/drawing/2014/main" id="{3AA12AF8-A8DA-0FAC-3F80-EE8C8E1EC2CD}"/>
              </a:ext>
            </a:extLst>
          </p:cNvPr>
          <p:cNvSpPr txBox="1"/>
          <p:nvPr/>
        </p:nvSpPr>
        <p:spPr>
          <a:xfrm>
            <a:off x="6345458" y="1089575"/>
            <a:ext cx="1602303" cy="1938992"/>
          </a:xfrm>
          <a:prstGeom prst="rect">
            <a:avLst/>
          </a:prstGeom>
          <a:noFill/>
        </p:spPr>
        <p:txBody>
          <a:bodyPr wrap="square">
            <a:spAutoFit/>
          </a:bodyPr>
          <a:lstStyle/>
          <a:p>
            <a:pPr fontAlgn="base"/>
            <a:r>
              <a:rPr lang="es-ES_tradnl" sz="1200" b="1" i="0" dirty="0">
                <a:solidFill>
                  <a:srgbClr val="C00000"/>
                </a:solidFill>
                <a:effectLst/>
                <a:latin typeface="Montserrat" panose="00000500000000000000" pitchFamily="2" charset="0"/>
              </a:rPr>
              <a:t>Desarrolló SIMAP</a:t>
            </a:r>
            <a:endParaRPr lang="es-ES_tradnl" sz="1200" b="1" dirty="0">
              <a:solidFill>
                <a:srgbClr val="C00000"/>
              </a:solidFill>
              <a:latin typeface="Montserrat" panose="00000500000000000000" pitchFamily="2" charset="0"/>
            </a:endParaRPr>
          </a:p>
          <a:p>
            <a:pPr fontAlgn="base"/>
            <a:r>
              <a:rPr lang="es-ES_tradnl" sz="1200" b="0" i="0" dirty="0">
                <a:solidFill>
                  <a:schemeClr val="accent5">
                    <a:lumMod val="50000"/>
                  </a:schemeClr>
                </a:solidFill>
                <a:effectLst/>
                <a:latin typeface="Montserrat" panose="00000500000000000000" pitchFamily="2" charset="0"/>
              </a:rPr>
              <a:t>Aplicación móvil sobre </a:t>
            </a:r>
            <a:r>
              <a:rPr lang="es-ES_tradnl" sz="1200" dirty="0">
                <a:solidFill>
                  <a:schemeClr val="accent5">
                    <a:lumMod val="50000"/>
                  </a:schemeClr>
                </a:solidFill>
                <a:latin typeface="Montserrat" panose="00000500000000000000" pitchFamily="2" charset="0"/>
              </a:rPr>
              <a:t>f</a:t>
            </a:r>
            <a:r>
              <a:rPr lang="es-ES_tradnl" sz="1200" b="0" i="0" dirty="0">
                <a:solidFill>
                  <a:schemeClr val="accent5">
                    <a:lumMod val="50000"/>
                  </a:schemeClr>
                </a:solidFill>
                <a:effectLst/>
                <a:latin typeface="Montserrat" panose="00000500000000000000" pitchFamily="2" charset="0"/>
              </a:rPr>
              <a:t>lujos de reciclaje de residuos para alentar a la población a participar en el proceso de reciclaje.</a:t>
            </a:r>
          </a:p>
        </p:txBody>
      </p:sp>
      <p:sp>
        <p:nvSpPr>
          <p:cNvPr id="23" name="TextBox 22">
            <a:extLst>
              <a:ext uri="{FF2B5EF4-FFF2-40B4-BE49-F238E27FC236}">
                <a16:creationId xmlns:a16="http://schemas.microsoft.com/office/drawing/2014/main" id="{3C3E2A6D-0335-995F-2C0E-EAA5F4EDEDF4}"/>
              </a:ext>
            </a:extLst>
          </p:cNvPr>
          <p:cNvSpPr txBox="1"/>
          <p:nvPr/>
        </p:nvSpPr>
        <p:spPr>
          <a:xfrm>
            <a:off x="8313856" y="1011681"/>
            <a:ext cx="1944256" cy="2123658"/>
          </a:xfrm>
          <a:prstGeom prst="rect">
            <a:avLst/>
          </a:prstGeom>
          <a:noFill/>
        </p:spPr>
        <p:txBody>
          <a:bodyPr wrap="square" rtlCol="0">
            <a:spAutoFit/>
          </a:bodyPr>
          <a:lstStyle/>
          <a:p>
            <a:pPr fontAlgn="base"/>
            <a:r>
              <a:rPr lang="es-ES_tradnl" sz="1200" b="1" i="0" dirty="0">
                <a:solidFill>
                  <a:srgbClr val="C00000"/>
                </a:solidFill>
                <a:effectLst/>
                <a:latin typeface="Montserrat" panose="00000500000000000000" pitchFamily="2" charset="0"/>
              </a:rPr>
              <a:t>Red de dispositivos</a:t>
            </a:r>
            <a:r>
              <a:rPr lang="es-ES_tradnl" sz="1100" b="0" i="0" dirty="0">
                <a:solidFill>
                  <a:srgbClr val="C00000"/>
                </a:solidFill>
                <a:effectLst/>
                <a:latin typeface="Montserrat" panose="00000500000000000000" pitchFamily="2" charset="0"/>
              </a:rPr>
              <a:t> </a:t>
            </a:r>
            <a:r>
              <a:rPr lang="es-ES_tradnl" sz="1200" b="0" i="0" dirty="0">
                <a:solidFill>
                  <a:schemeClr val="accent5">
                    <a:lumMod val="50000"/>
                  </a:schemeClr>
                </a:solidFill>
                <a:effectLst/>
                <a:latin typeface="Montserrat" panose="00000500000000000000" pitchFamily="2" charset="0"/>
              </a:rPr>
              <a:t>2,000 semáforos, 3,500 detectores de tráfico y 2,000 cámaras de CCTV. Sistema de tecnología avanzada de datos en tiempo real para analizar el flujo de tráfico y detectar medidas de tráfico redundantes.</a:t>
            </a:r>
          </a:p>
        </p:txBody>
      </p:sp>
      <p:sp>
        <p:nvSpPr>
          <p:cNvPr id="24" name="TextBox 23">
            <a:extLst>
              <a:ext uri="{FF2B5EF4-FFF2-40B4-BE49-F238E27FC236}">
                <a16:creationId xmlns:a16="http://schemas.microsoft.com/office/drawing/2014/main" id="{DF0E1B69-1C37-9A62-FB48-547DEE81ABF8}"/>
              </a:ext>
            </a:extLst>
          </p:cNvPr>
          <p:cNvSpPr txBox="1"/>
          <p:nvPr/>
        </p:nvSpPr>
        <p:spPr>
          <a:xfrm>
            <a:off x="143715" y="4686038"/>
            <a:ext cx="1596185" cy="2000548"/>
          </a:xfrm>
          <a:prstGeom prst="rect">
            <a:avLst/>
          </a:prstGeom>
          <a:noFill/>
        </p:spPr>
        <p:txBody>
          <a:bodyPr wrap="square" rtlCol="0">
            <a:spAutoFit/>
          </a:bodyPr>
          <a:lstStyle/>
          <a:p>
            <a:r>
              <a:rPr lang="es-ES_tradnl" sz="1200" b="1" dirty="0">
                <a:solidFill>
                  <a:srgbClr val="C00000"/>
                </a:solidFill>
                <a:latin typeface="Montserrat" panose="00000500000000000000" pitchFamily="2" charset="0"/>
              </a:rPr>
              <a:t>I</a:t>
            </a:r>
            <a:r>
              <a:rPr lang="es-ES_tradnl" sz="1200" b="1" i="0" dirty="0">
                <a:solidFill>
                  <a:srgbClr val="C00000"/>
                </a:solidFill>
                <a:effectLst/>
                <a:latin typeface="Montserrat" panose="00000500000000000000" pitchFamily="2" charset="0"/>
              </a:rPr>
              <a:t>mpulsa la innovación </a:t>
            </a:r>
          </a:p>
          <a:p>
            <a:r>
              <a:rPr lang="es-ES_tradnl" sz="1000" b="0" i="0" dirty="0">
                <a:solidFill>
                  <a:schemeClr val="accent5">
                    <a:lumMod val="50000"/>
                  </a:schemeClr>
                </a:solidFill>
                <a:effectLst/>
                <a:latin typeface="Montserrat" panose="00000500000000000000" pitchFamily="2" charset="0"/>
              </a:rPr>
              <a:t>Partes interesadas se benefician de valiosos conocimientos obtenidos a partir de su programa para el análisis político,  empresarial, la toma de decisiones y la puesta a prueba de ideas.</a:t>
            </a:r>
          </a:p>
        </p:txBody>
      </p:sp>
      <p:sp>
        <p:nvSpPr>
          <p:cNvPr id="26" name="TextBox 25">
            <a:extLst>
              <a:ext uri="{FF2B5EF4-FFF2-40B4-BE49-F238E27FC236}">
                <a16:creationId xmlns:a16="http://schemas.microsoft.com/office/drawing/2014/main" id="{FACDAEEE-8AF9-C44B-B012-E7109FA122DD}"/>
              </a:ext>
            </a:extLst>
          </p:cNvPr>
          <p:cNvSpPr txBox="1"/>
          <p:nvPr/>
        </p:nvSpPr>
        <p:spPr>
          <a:xfrm>
            <a:off x="10212558" y="4878706"/>
            <a:ext cx="1879603" cy="1646605"/>
          </a:xfrm>
          <a:prstGeom prst="rect">
            <a:avLst/>
          </a:prstGeom>
          <a:noFill/>
        </p:spPr>
        <p:txBody>
          <a:bodyPr wrap="square" rtlCol="0">
            <a:spAutoFit/>
          </a:bodyPr>
          <a:lstStyle/>
          <a:p>
            <a:r>
              <a:rPr lang="es-ES_tradnl" sz="1200" b="1" dirty="0">
                <a:solidFill>
                  <a:srgbClr val="C00000"/>
                </a:solidFill>
                <a:latin typeface="Montserrat" panose="00000500000000000000" pitchFamily="2" charset="0"/>
              </a:rPr>
              <a:t>P</a:t>
            </a:r>
            <a:r>
              <a:rPr lang="es-ES_tradnl" sz="1200" b="1" i="0" dirty="0">
                <a:solidFill>
                  <a:srgbClr val="C00000"/>
                </a:solidFill>
                <a:effectLst/>
                <a:latin typeface="Montserrat" panose="00000500000000000000" pitchFamily="2" charset="0"/>
              </a:rPr>
              <a:t>lataforma de indicadores</a:t>
            </a:r>
            <a:r>
              <a:rPr lang="es-ES_tradnl" sz="1100" b="1" i="0" dirty="0">
                <a:solidFill>
                  <a:srgbClr val="C00000"/>
                </a:solidFill>
                <a:effectLst/>
                <a:latin typeface="Montserrat" panose="00000500000000000000" pitchFamily="2" charset="0"/>
              </a:rPr>
              <a:t> </a:t>
            </a:r>
            <a:r>
              <a:rPr lang="es-ES_tradnl" sz="1100" b="0" i="0" dirty="0">
                <a:solidFill>
                  <a:schemeClr val="accent5">
                    <a:lumMod val="50000"/>
                  </a:schemeClr>
                </a:solidFill>
                <a:effectLst/>
                <a:latin typeface="Montserrat" panose="00000500000000000000" pitchFamily="2" charset="0"/>
              </a:rPr>
              <a:t>de servicios urbanos para analizarlos. Información para facilitar la toma de decisiones. Mayor participación de  ciudadanos gracias a la transparencia.</a:t>
            </a:r>
          </a:p>
        </p:txBody>
      </p:sp>
      <p:sp>
        <p:nvSpPr>
          <p:cNvPr id="27" name="TextBox 26">
            <a:extLst>
              <a:ext uri="{FF2B5EF4-FFF2-40B4-BE49-F238E27FC236}">
                <a16:creationId xmlns:a16="http://schemas.microsoft.com/office/drawing/2014/main" id="{7CD15460-E4C6-3ECB-8B8F-ED94AAC9541D}"/>
              </a:ext>
            </a:extLst>
          </p:cNvPr>
          <p:cNvSpPr txBox="1"/>
          <p:nvPr/>
        </p:nvSpPr>
        <p:spPr>
          <a:xfrm>
            <a:off x="6010454" y="4909101"/>
            <a:ext cx="2143921" cy="1615827"/>
          </a:xfrm>
          <a:prstGeom prst="rect">
            <a:avLst/>
          </a:prstGeom>
          <a:noFill/>
        </p:spPr>
        <p:txBody>
          <a:bodyPr wrap="square" rtlCol="0">
            <a:spAutoFit/>
          </a:bodyPr>
          <a:lstStyle/>
          <a:p>
            <a:r>
              <a:rPr lang="es-ES_tradnl" sz="1200" b="1" i="0" dirty="0">
                <a:solidFill>
                  <a:srgbClr val="C00000"/>
                </a:solidFill>
                <a:effectLst/>
                <a:latin typeface="Montserrat" panose="00000500000000000000" pitchFamily="2" charset="0"/>
              </a:rPr>
              <a:t>Inteligente y eficiente desde el punto de vista energético</a:t>
            </a:r>
            <a:r>
              <a:rPr lang="es-ES_tradnl" sz="1050" b="1" i="0" dirty="0">
                <a:solidFill>
                  <a:schemeClr val="accent5">
                    <a:lumMod val="50000"/>
                  </a:schemeClr>
                </a:solidFill>
                <a:effectLst/>
                <a:latin typeface="Montserrat" panose="00000500000000000000" pitchFamily="2" charset="0"/>
              </a:rPr>
              <a:t> </a:t>
            </a:r>
            <a:r>
              <a:rPr lang="es-ES_tradnl" sz="1050" b="0" i="0" dirty="0">
                <a:solidFill>
                  <a:schemeClr val="accent5">
                    <a:lumMod val="50000"/>
                  </a:schemeClr>
                </a:solidFill>
                <a:effectLst/>
                <a:latin typeface="Montserrat" panose="00000500000000000000" pitchFamily="2" charset="0"/>
              </a:rPr>
              <a:t>en la ciudad</a:t>
            </a:r>
            <a:r>
              <a:rPr lang="es-ES_tradnl" sz="1050" dirty="0">
                <a:solidFill>
                  <a:schemeClr val="accent5">
                    <a:lumMod val="50000"/>
                  </a:schemeClr>
                </a:solidFill>
                <a:latin typeface="Montserrat" panose="00000500000000000000" pitchFamily="2" charset="0"/>
              </a:rPr>
              <a:t>. El uso </a:t>
            </a:r>
            <a:r>
              <a:rPr lang="es-ES_tradnl" sz="1050" b="0" i="0" dirty="0">
                <a:solidFill>
                  <a:schemeClr val="accent5">
                    <a:lumMod val="50000"/>
                  </a:schemeClr>
                </a:solidFill>
                <a:effectLst/>
                <a:latin typeface="Montserrat" panose="00000500000000000000" pitchFamily="2" charset="0"/>
              </a:rPr>
              <a:t>de una Red de LED y sensores </a:t>
            </a:r>
            <a:r>
              <a:rPr lang="es-ES_tradnl" sz="1050" b="0" i="0" dirty="0" err="1">
                <a:solidFill>
                  <a:schemeClr val="accent5">
                    <a:lumMod val="50000"/>
                  </a:schemeClr>
                </a:solidFill>
                <a:effectLst/>
                <a:latin typeface="Montserrat" panose="00000500000000000000" pitchFamily="2" charset="0"/>
              </a:rPr>
              <a:t>IoT</a:t>
            </a:r>
            <a:r>
              <a:rPr lang="es-ES_tradnl" sz="1050" b="0" i="0" dirty="0">
                <a:solidFill>
                  <a:schemeClr val="accent5">
                    <a:lumMod val="50000"/>
                  </a:schemeClr>
                </a:solidFill>
                <a:effectLst/>
                <a:latin typeface="Montserrat" panose="00000500000000000000" pitchFamily="2" charset="0"/>
              </a:rPr>
              <a:t> propicia un ahorro energético considerable y permite reducir la contaminación lumínica. </a:t>
            </a:r>
          </a:p>
        </p:txBody>
      </p:sp>
      <p:sp>
        <p:nvSpPr>
          <p:cNvPr id="14" name="Rectangle 13">
            <a:extLst>
              <a:ext uri="{FF2B5EF4-FFF2-40B4-BE49-F238E27FC236}">
                <a16:creationId xmlns:a16="http://schemas.microsoft.com/office/drawing/2014/main" id="{1A6258B6-6DF7-4CAA-D90A-D5A1EA711070}"/>
              </a:ext>
            </a:extLst>
          </p:cNvPr>
          <p:cNvSpPr/>
          <p:nvPr/>
        </p:nvSpPr>
        <p:spPr>
          <a:xfrm>
            <a:off x="12324" y="3227597"/>
            <a:ext cx="12205056" cy="1434835"/>
          </a:xfrm>
          <a:prstGeom prst="rect">
            <a:avLst/>
          </a:prstGeom>
          <a:solidFill>
            <a:srgbClr val="A8BF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200" b="1" dirty="0">
                <a:solidFill>
                  <a:schemeClr val="bg1"/>
                </a:solidFill>
                <a:latin typeface="Montserrat" panose="00000500000000000000" pitchFamily="2" charset="0"/>
              </a:rPr>
              <a:t>Un terremoto ocurre y se debe obtener la mayor información de lo sucedido</a:t>
            </a:r>
          </a:p>
          <a:p>
            <a:pPr algn="ctr"/>
            <a:r>
              <a:rPr lang="es-PE" sz="1100" dirty="0">
                <a:solidFill>
                  <a:schemeClr val="bg1"/>
                </a:solidFill>
                <a:latin typeface="Montserrat" panose="00000500000000000000" pitchFamily="2" charset="0"/>
              </a:rPr>
              <a:t>Sensores en cada medidor inteligente de casas, edificios o calles. Calcula magnitud del terremoto en iempo real. </a:t>
            </a:r>
          </a:p>
          <a:p>
            <a:pPr algn="ctr"/>
            <a:r>
              <a:rPr lang="es-PE" sz="1100" dirty="0">
                <a:solidFill>
                  <a:schemeClr val="bg1"/>
                </a:solidFill>
                <a:latin typeface="Montserrat" panose="00000500000000000000" pitchFamily="2" charset="0"/>
              </a:rPr>
              <a:t>Sensores acústicos identifican, si surgen incendios, fugas de gas o problemas de tráfico, bloqueos o accidentes </a:t>
            </a:r>
            <a:endParaRPr lang="es-PE" sz="1100" b="1" i="1" dirty="0">
              <a:solidFill>
                <a:schemeClr val="bg1"/>
              </a:solidFill>
              <a:latin typeface="Montserrat" panose="00000500000000000000" pitchFamily="2" charset="0"/>
            </a:endParaRPr>
          </a:p>
          <a:p>
            <a:pPr algn="ctr"/>
            <a:endParaRPr lang="es-PE" sz="1100" b="1" i="1" dirty="0">
              <a:solidFill>
                <a:schemeClr val="bg1"/>
              </a:solidFill>
              <a:latin typeface="Montserrat" panose="00000500000000000000" pitchFamily="2" charset="0"/>
            </a:endParaRPr>
          </a:p>
          <a:p>
            <a:pPr algn="ctr"/>
            <a:r>
              <a:rPr lang="es-PE" sz="1200" b="1" i="1" dirty="0">
                <a:solidFill>
                  <a:schemeClr val="bg1"/>
                </a:solidFill>
                <a:latin typeface="Montserrat" panose="00000500000000000000" pitchFamily="2" charset="0"/>
              </a:rPr>
              <a:t>Crear un plan de evacuación personalizado</a:t>
            </a:r>
            <a:r>
              <a:rPr lang="es-PE" sz="1100" b="1" i="1" dirty="0">
                <a:solidFill>
                  <a:schemeClr val="bg1"/>
                </a:solidFill>
                <a:latin typeface="Montserrat" panose="00000500000000000000" pitchFamily="2" charset="0"/>
              </a:rPr>
              <a:t> </a:t>
            </a:r>
          </a:p>
          <a:p>
            <a:pPr algn="ctr"/>
            <a:r>
              <a:rPr lang="es-PE" sz="1100" dirty="0">
                <a:solidFill>
                  <a:schemeClr val="bg1"/>
                </a:solidFill>
                <a:latin typeface="Montserrat" panose="00000500000000000000" pitchFamily="2" charset="0"/>
              </a:rPr>
              <a:t>Para cada área afectada donde cada persona recibe un plan de evacuación en su teléfono, optimizando la evacuación de la población fuera de la zona de peligro de manera más eficaz</a:t>
            </a:r>
          </a:p>
        </p:txBody>
      </p:sp>
      <p:sp>
        <p:nvSpPr>
          <p:cNvPr id="16" name="Google Shape;423;p7">
            <a:extLst>
              <a:ext uri="{FF2B5EF4-FFF2-40B4-BE49-F238E27FC236}">
                <a16:creationId xmlns:a16="http://schemas.microsoft.com/office/drawing/2014/main" id="{5CCC257B-4110-4FFC-8184-21154CD5BDBF}"/>
              </a:ext>
            </a:extLst>
          </p:cNvPr>
          <p:cNvSpPr/>
          <p:nvPr/>
        </p:nvSpPr>
        <p:spPr>
          <a:xfrm>
            <a:off x="13057" y="35639"/>
            <a:ext cx="12192000" cy="689741"/>
          </a:xfrm>
          <a:prstGeom prst="rect">
            <a:avLst/>
          </a:prstGeom>
          <a:solidFill>
            <a:srgbClr val="C41927"/>
          </a:solidFill>
          <a:ln>
            <a:noFill/>
          </a:ln>
        </p:spPr>
        <p:txBody>
          <a:bodyPr spcFirstLastPara="1" wrap="square" lIns="91425" tIns="45700" rIns="91425" bIns="45700" anchor="ctr" anchorCtr="0">
            <a:noAutofit/>
          </a:bodyPr>
          <a:lstStyle/>
          <a:p>
            <a:endParaRPr lang="es-ES" sz="2800" b="1" dirty="0">
              <a:solidFill>
                <a:schemeClr val="bg1"/>
              </a:solidFill>
              <a:latin typeface="Montserrat" panose="00000500000000000000" pitchFamily="2" charset="0"/>
            </a:endParaRPr>
          </a:p>
        </p:txBody>
      </p:sp>
      <p:sp>
        <p:nvSpPr>
          <p:cNvPr id="19" name="CuadroTexto 18">
            <a:extLst>
              <a:ext uri="{FF2B5EF4-FFF2-40B4-BE49-F238E27FC236}">
                <a16:creationId xmlns:a16="http://schemas.microsoft.com/office/drawing/2014/main" id="{3F2C840F-9A9E-4244-B3A9-F15415DD1BF3}"/>
              </a:ext>
            </a:extLst>
          </p:cNvPr>
          <p:cNvSpPr txBox="1"/>
          <p:nvPr/>
        </p:nvSpPr>
        <p:spPr>
          <a:xfrm>
            <a:off x="40608" y="40353"/>
            <a:ext cx="12080016" cy="738664"/>
          </a:xfrm>
          <a:prstGeom prst="rect">
            <a:avLst/>
          </a:prstGeom>
          <a:noFill/>
        </p:spPr>
        <p:txBody>
          <a:bodyPr wrap="square">
            <a:spAutoFit/>
          </a:bodyPr>
          <a:lstStyle/>
          <a:p>
            <a:pPr algn="ctr"/>
            <a:r>
              <a:rPr lang="es-ES_tradnl" sz="2400" b="1" dirty="0">
                <a:solidFill>
                  <a:schemeClr val="bg1"/>
                </a:solidFill>
                <a:latin typeface="Montserrat" panose="00000500000000000000" pitchFamily="2" charset="0"/>
              </a:rPr>
              <a:t>C</a:t>
            </a:r>
            <a:r>
              <a:rPr lang="es-ES_tradnl" sz="2400" b="1" dirty="0">
                <a:solidFill>
                  <a:schemeClr val="bg1"/>
                </a:solidFill>
                <a:effectLst/>
                <a:latin typeface="Montserrat" panose="00000500000000000000" pitchFamily="2" charset="0"/>
              </a:rPr>
              <a:t>IUDADES </a:t>
            </a:r>
            <a:r>
              <a:rPr lang="es-ES_tradnl" sz="2400" b="1" dirty="0">
                <a:solidFill>
                  <a:schemeClr val="bg1"/>
                </a:solidFill>
                <a:latin typeface="Montserrat" panose="00000500000000000000" pitchFamily="2" charset="0"/>
              </a:rPr>
              <a:t>I</a:t>
            </a:r>
            <a:r>
              <a:rPr lang="es-ES_tradnl" sz="2400" b="1" dirty="0">
                <a:solidFill>
                  <a:schemeClr val="bg1"/>
                </a:solidFill>
                <a:effectLst/>
                <a:latin typeface="Montserrat" panose="00000500000000000000" pitchFamily="2" charset="0"/>
              </a:rPr>
              <a:t>NTELIGENTES Y </a:t>
            </a:r>
            <a:r>
              <a:rPr lang="es-ES_tradnl" sz="2400" b="1" dirty="0">
                <a:solidFill>
                  <a:schemeClr val="bg1"/>
                </a:solidFill>
                <a:latin typeface="Montserrat" panose="00000500000000000000" pitchFamily="2" charset="0"/>
              </a:rPr>
              <a:t>S</a:t>
            </a:r>
            <a:r>
              <a:rPr lang="es-ES_tradnl" sz="2400" b="1" dirty="0">
                <a:solidFill>
                  <a:schemeClr val="bg1"/>
                </a:solidFill>
                <a:effectLst/>
                <a:latin typeface="Montserrat" panose="00000500000000000000" pitchFamily="2" charset="0"/>
              </a:rPr>
              <a:t>OSTENIBLES</a:t>
            </a:r>
            <a:endParaRPr lang="es-ES_tradnl" b="1" dirty="0">
              <a:solidFill>
                <a:schemeClr val="bg1"/>
              </a:solidFill>
              <a:effectLst/>
              <a:latin typeface="Montserrat" panose="00000500000000000000" pitchFamily="2" charset="0"/>
            </a:endParaRPr>
          </a:p>
          <a:p>
            <a:pPr algn="ctr"/>
            <a:r>
              <a:rPr lang="es-PE" i="1" dirty="0">
                <a:solidFill>
                  <a:schemeClr val="bg1"/>
                </a:solidFill>
                <a:latin typeface="Montserrat" panose="00000500000000000000" pitchFamily="2" charset="0"/>
              </a:rPr>
              <a:t>Cada ciudad tiene necesidades y desafíos diferentes</a:t>
            </a:r>
            <a:endParaRPr lang="en-CH"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2754869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BA30E6C-D7DC-7F4E-A73C-3E4E3E27145A}"/>
              </a:ext>
            </a:extLst>
          </p:cNvPr>
          <p:cNvGraphicFramePr>
            <a:graphicFrameLocks noGrp="1"/>
          </p:cNvGraphicFramePr>
          <p:nvPr/>
        </p:nvGraphicFramePr>
        <p:xfrm>
          <a:off x="-168443" y="2092978"/>
          <a:ext cx="5334000" cy="739140"/>
        </p:xfrm>
        <a:graphic>
          <a:graphicData uri="http://schemas.openxmlformats.org/drawingml/2006/table">
            <a:tbl>
              <a:tblPr/>
              <a:tblGrid>
                <a:gridCol w="5334000">
                  <a:extLst>
                    <a:ext uri="{9D8B030D-6E8A-4147-A177-3AD203B41FA5}">
                      <a16:colId xmlns:a16="http://schemas.microsoft.com/office/drawing/2014/main" val="2155531884"/>
                    </a:ext>
                  </a:extLst>
                </a:gridCol>
              </a:tblGrid>
              <a:tr h="0">
                <a:tc>
                  <a:txBody>
                    <a:bodyPr/>
                    <a:lstStyle/>
                    <a:p>
                      <a:endParaRPr lang="en-CH"/>
                    </a:p>
                  </a:txBody>
                  <a:tcPr marL="190500" marR="190500" marT="190500" marB="0" anchor="ctr">
                    <a:lnL>
                      <a:noFill/>
                    </a:lnL>
                    <a:lnR>
                      <a:noFill/>
                    </a:lnR>
                    <a:lnT>
                      <a:noFill/>
                    </a:lnT>
                    <a:lnB>
                      <a:noFill/>
                    </a:lnB>
                    <a:solidFill>
                      <a:srgbClr val="FFFFFF"/>
                    </a:solidFill>
                  </a:tcPr>
                </a:tc>
                <a:extLst>
                  <a:ext uri="{0D108BD9-81ED-4DB2-BD59-A6C34878D82A}">
                    <a16:rowId xmlns:a16="http://schemas.microsoft.com/office/drawing/2014/main" val="1131554068"/>
                  </a:ext>
                </a:extLst>
              </a:tr>
              <a:tr h="0">
                <a:tc>
                  <a:txBody>
                    <a:bodyPr/>
                    <a:lstStyle/>
                    <a:p>
                      <a:endParaRPr lang="en-CH" dirty="0"/>
                    </a:p>
                  </a:txBody>
                  <a:tcPr marL="0" marR="0" marT="0" marB="0">
                    <a:lnL>
                      <a:noFill/>
                    </a:lnL>
                    <a:lnR>
                      <a:noFill/>
                    </a:lnR>
                    <a:lnT>
                      <a:noFill/>
                    </a:lnT>
                    <a:lnB>
                      <a:noFill/>
                    </a:lnB>
                    <a:solidFill>
                      <a:srgbClr val="FFFFFF"/>
                    </a:solidFill>
                  </a:tcPr>
                </a:tc>
                <a:extLst>
                  <a:ext uri="{0D108BD9-81ED-4DB2-BD59-A6C34878D82A}">
                    <a16:rowId xmlns:a16="http://schemas.microsoft.com/office/drawing/2014/main" val="4162694606"/>
                  </a:ext>
                </a:extLst>
              </a:tr>
            </a:tbl>
          </a:graphicData>
        </a:graphic>
      </p:graphicFrame>
      <p:pic>
        <p:nvPicPr>
          <p:cNvPr id="8" name="Picture 7">
            <a:extLst>
              <a:ext uri="{FF2B5EF4-FFF2-40B4-BE49-F238E27FC236}">
                <a16:creationId xmlns:a16="http://schemas.microsoft.com/office/drawing/2014/main" id="{65F31A63-2EEA-694B-AD08-4BBCD012A792}"/>
              </a:ext>
            </a:extLst>
          </p:cNvPr>
          <p:cNvPicPr>
            <a:picLocks noChangeAspect="1"/>
          </p:cNvPicPr>
          <p:nvPr/>
        </p:nvPicPr>
        <p:blipFill>
          <a:blip r:embed="rId3"/>
          <a:stretch>
            <a:fillRect/>
          </a:stretch>
        </p:blipFill>
        <p:spPr>
          <a:xfrm>
            <a:off x="134648" y="916212"/>
            <a:ext cx="2756328" cy="2087532"/>
          </a:xfrm>
          <a:prstGeom prst="rect">
            <a:avLst/>
          </a:prstGeom>
        </p:spPr>
      </p:pic>
      <p:sp>
        <p:nvSpPr>
          <p:cNvPr id="9" name="TextBox 8">
            <a:extLst>
              <a:ext uri="{FF2B5EF4-FFF2-40B4-BE49-F238E27FC236}">
                <a16:creationId xmlns:a16="http://schemas.microsoft.com/office/drawing/2014/main" id="{74331351-A863-2E48-98C4-0F60F1940184}"/>
              </a:ext>
            </a:extLst>
          </p:cNvPr>
          <p:cNvSpPr txBox="1"/>
          <p:nvPr/>
        </p:nvSpPr>
        <p:spPr>
          <a:xfrm>
            <a:off x="91784" y="3043309"/>
            <a:ext cx="2856408" cy="3439403"/>
          </a:xfrm>
          <a:prstGeom prst="rect">
            <a:avLst/>
          </a:prstGeom>
          <a:noFill/>
        </p:spPr>
        <p:txBody>
          <a:bodyPr wrap="square" rtlCol="0">
            <a:spAutoFit/>
          </a:bodyPr>
          <a:lstStyle/>
          <a:p>
            <a:pPr algn="just"/>
            <a:r>
              <a:rPr lang="es-ES_tradnl" sz="1600" b="1" dirty="0">
                <a:solidFill>
                  <a:srgbClr val="C00000"/>
                </a:solidFill>
                <a:latin typeface="Montserrat" panose="00000500000000000000" pitchFamily="2" charset="0"/>
                <a:cs typeface="Aparajita" panose="020B0604020202020204" pitchFamily="34" charset="0"/>
              </a:rPr>
              <a:t>Vehículos conectados,</a:t>
            </a:r>
            <a:r>
              <a:rPr lang="es-ES_tradnl" sz="1600" b="1" dirty="0">
                <a:solidFill>
                  <a:srgbClr val="C00000"/>
                </a:solidFill>
                <a:latin typeface="Montserrat" panose="00000500000000000000" pitchFamily="2" charset="0"/>
                <a:cs typeface="Aparajita" panose="02020603050405020304" pitchFamily="18" charset="0"/>
              </a:rPr>
              <a:t> camino hacia el futuro de la movilidad</a:t>
            </a:r>
            <a:endParaRPr lang="es-ES_tradnl" sz="1600" dirty="0">
              <a:solidFill>
                <a:srgbClr val="C00000"/>
              </a:solidFill>
              <a:latin typeface="Montserrat" panose="00000500000000000000" pitchFamily="2" charset="0"/>
              <a:cs typeface="Aparajita" panose="02020603050405020304" pitchFamily="18" charset="0"/>
            </a:endParaRPr>
          </a:p>
          <a:p>
            <a:pPr algn="just"/>
            <a:endParaRPr lang="es-ES_tradnl" sz="1350" dirty="0">
              <a:solidFill>
                <a:schemeClr val="accent1">
                  <a:lumMod val="75000"/>
                </a:schemeClr>
              </a:solidFill>
              <a:latin typeface="Montserrat" panose="00000500000000000000" pitchFamily="2" charset="0"/>
              <a:cs typeface="Aparajita" panose="02020603050405020304" pitchFamily="18" charset="0"/>
            </a:endParaRPr>
          </a:p>
          <a:p>
            <a:pPr algn="just"/>
            <a:r>
              <a:rPr lang="es-ES_tradnl" sz="1300" dirty="0">
                <a:solidFill>
                  <a:schemeClr val="accent5">
                    <a:lumMod val="50000"/>
                  </a:schemeClr>
                </a:solidFill>
                <a:latin typeface="Montserrat" pitchFamily="2" charset="77"/>
                <a:cs typeface="Aparajita" panose="02020603050405020304" pitchFamily="18" charset="0"/>
              </a:rPr>
              <a:t>Impulsados por </a:t>
            </a:r>
            <a:r>
              <a:rPr lang="es-ES_tradnl" sz="1300" dirty="0" err="1">
                <a:solidFill>
                  <a:schemeClr val="accent5">
                    <a:lumMod val="50000"/>
                  </a:schemeClr>
                </a:solidFill>
                <a:latin typeface="Montserrat" pitchFamily="2" charset="77"/>
                <a:cs typeface="Aparajita" panose="02020603050405020304" pitchFamily="18" charset="0"/>
              </a:rPr>
              <a:t>IIoT</a:t>
            </a:r>
            <a:r>
              <a:rPr lang="es-ES_tradnl" sz="1300" dirty="0">
                <a:solidFill>
                  <a:schemeClr val="accent5">
                    <a:lumMod val="50000"/>
                  </a:schemeClr>
                </a:solidFill>
                <a:latin typeface="Montserrat" pitchFamily="2" charset="77"/>
                <a:cs typeface="Aparajita" panose="02020603050405020304" pitchFamily="18" charset="0"/>
              </a:rPr>
              <a:t>, nuevas tecnologías, y </a:t>
            </a:r>
            <a:r>
              <a:rPr lang="es-ES_tradnl" sz="1300" dirty="0" err="1">
                <a:solidFill>
                  <a:schemeClr val="accent5">
                    <a:lumMod val="50000"/>
                  </a:schemeClr>
                </a:solidFill>
                <a:latin typeface="Montserrat" pitchFamily="2" charset="77"/>
                <a:cs typeface="Aparajita" panose="02020603050405020304" pitchFamily="18" charset="0"/>
              </a:rPr>
              <a:t>smathphones</a:t>
            </a:r>
            <a:r>
              <a:rPr lang="es-ES_tradnl" sz="1300" dirty="0">
                <a:solidFill>
                  <a:schemeClr val="accent5">
                    <a:lumMod val="50000"/>
                  </a:schemeClr>
                </a:solidFill>
                <a:latin typeface="Montserrat" pitchFamily="2" charset="77"/>
                <a:cs typeface="Aparajita" panose="02020603050405020304" pitchFamily="18" charset="0"/>
              </a:rPr>
              <a:t>,  automóviles conectados están definiendo el futuro de la movilidad y la adopción masiva de vehículos totalmente autónomos del futuro. </a:t>
            </a:r>
            <a:r>
              <a:rPr lang="es-ES_tradnl" sz="1300" dirty="0" err="1">
                <a:solidFill>
                  <a:schemeClr val="accent5">
                    <a:lumMod val="50000"/>
                  </a:schemeClr>
                </a:solidFill>
                <a:latin typeface="Montserrat" pitchFamily="2" charset="77"/>
                <a:cs typeface="Aparajita" panose="02020603050405020304" pitchFamily="18" charset="0"/>
              </a:rPr>
              <a:t>IIoT</a:t>
            </a:r>
            <a:r>
              <a:rPr lang="es-ES_tradnl" sz="1300" dirty="0">
                <a:solidFill>
                  <a:schemeClr val="accent5">
                    <a:lumMod val="50000"/>
                  </a:schemeClr>
                </a:solidFill>
                <a:latin typeface="Montserrat" pitchFamily="2" charset="77"/>
                <a:cs typeface="Aparajita" panose="02020603050405020304" pitchFamily="18" charset="0"/>
              </a:rPr>
              <a:t> hace que los </a:t>
            </a:r>
            <a:r>
              <a:rPr lang="es-ES_tradnl" sz="1300" b="1" dirty="0">
                <a:solidFill>
                  <a:schemeClr val="accent5">
                    <a:lumMod val="50000"/>
                  </a:schemeClr>
                </a:solidFill>
                <a:latin typeface="Montserrat" pitchFamily="2" charset="77"/>
                <a:cs typeface="Aparajita" panose="02020603050405020304" pitchFamily="18" charset="0"/>
              </a:rPr>
              <a:t>vehículos sean más conscientes de su entorno, haciéndolos más autónomos, más seguros y eficientes </a:t>
            </a:r>
            <a:r>
              <a:rPr lang="es-ES_tradnl" sz="1300" dirty="0">
                <a:solidFill>
                  <a:schemeClr val="accent5">
                    <a:lumMod val="50000"/>
                  </a:schemeClr>
                </a:solidFill>
                <a:latin typeface="Montserrat" pitchFamily="2" charset="77"/>
                <a:cs typeface="Aparajita" panose="02020603050405020304" pitchFamily="18" charset="0"/>
              </a:rPr>
              <a:t>en carreteras</a:t>
            </a:r>
            <a:r>
              <a:rPr lang="es-ES_tradnl" sz="1300" dirty="0">
                <a:solidFill>
                  <a:schemeClr val="accent5">
                    <a:lumMod val="50000"/>
                  </a:schemeClr>
                </a:solidFill>
                <a:latin typeface="Montserrat" pitchFamily="2" charset="77"/>
                <a:cs typeface="Al Nile" pitchFamily="2" charset="-78"/>
              </a:rPr>
              <a:t>.</a:t>
            </a:r>
          </a:p>
        </p:txBody>
      </p:sp>
      <p:pic>
        <p:nvPicPr>
          <p:cNvPr id="10" name="Picture 9">
            <a:extLst>
              <a:ext uri="{FF2B5EF4-FFF2-40B4-BE49-F238E27FC236}">
                <a16:creationId xmlns:a16="http://schemas.microsoft.com/office/drawing/2014/main" id="{7334853C-7997-7343-953B-9C6FC5B5C0BA}"/>
              </a:ext>
            </a:extLst>
          </p:cNvPr>
          <p:cNvPicPr>
            <a:picLocks noChangeAspect="1"/>
          </p:cNvPicPr>
          <p:nvPr/>
        </p:nvPicPr>
        <p:blipFill>
          <a:blip r:embed="rId4"/>
          <a:stretch>
            <a:fillRect/>
          </a:stretch>
        </p:blipFill>
        <p:spPr>
          <a:xfrm>
            <a:off x="3086142" y="883995"/>
            <a:ext cx="2737027" cy="2087532"/>
          </a:xfrm>
          <a:prstGeom prst="rect">
            <a:avLst/>
          </a:prstGeom>
        </p:spPr>
      </p:pic>
      <p:sp>
        <p:nvSpPr>
          <p:cNvPr id="11" name="TextBox 10">
            <a:extLst>
              <a:ext uri="{FF2B5EF4-FFF2-40B4-BE49-F238E27FC236}">
                <a16:creationId xmlns:a16="http://schemas.microsoft.com/office/drawing/2014/main" id="{9F55EB32-7F41-5D4A-9DDA-C4D76A15AD98}"/>
              </a:ext>
            </a:extLst>
          </p:cNvPr>
          <p:cNvSpPr txBox="1"/>
          <p:nvPr/>
        </p:nvSpPr>
        <p:spPr>
          <a:xfrm>
            <a:off x="2972043" y="3042594"/>
            <a:ext cx="2977829" cy="3416320"/>
          </a:xfrm>
          <a:prstGeom prst="rect">
            <a:avLst/>
          </a:prstGeom>
          <a:noFill/>
        </p:spPr>
        <p:txBody>
          <a:bodyPr wrap="square" rtlCol="0">
            <a:spAutoFit/>
          </a:bodyPr>
          <a:lstStyle/>
          <a:p>
            <a:pPr algn="just"/>
            <a:r>
              <a:rPr lang="es-ES_tradnl" sz="1500" b="1" dirty="0">
                <a:solidFill>
                  <a:srgbClr val="C00000"/>
                </a:solidFill>
                <a:latin typeface="Montserrat" panose="00000500000000000000" pitchFamily="2" charset="0"/>
              </a:rPr>
              <a:t>Huawei (CN) desarrolla auto-rutas inteligentes que se adaptan a los automóviles sin conductor </a:t>
            </a:r>
          </a:p>
          <a:p>
            <a:pPr algn="just"/>
            <a:endParaRPr lang="es-ES_tradnl" sz="1300" dirty="0">
              <a:solidFill>
                <a:srgbClr val="2F4B5D"/>
              </a:solidFill>
              <a:latin typeface="Montserrat" panose="00000500000000000000" pitchFamily="2" charset="0"/>
            </a:endParaRPr>
          </a:p>
          <a:p>
            <a:pPr algn="just"/>
            <a:r>
              <a:rPr lang="es-ES_tradnl" sz="1300" dirty="0">
                <a:solidFill>
                  <a:schemeClr val="accent5">
                    <a:lumMod val="50000"/>
                  </a:schemeClr>
                </a:solidFill>
                <a:latin typeface="Montserrat" panose="00000500000000000000" pitchFamily="2" charset="0"/>
              </a:rPr>
              <a:t>Una carretera de 4 Km en la provincia de Jiangsu, </a:t>
            </a:r>
            <a:r>
              <a:rPr lang="es-ES_tradnl" sz="1300" dirty="0" err="1">
                <a:solidFill>
                  <a:schemeClr val="accent5">
                    <a:lumMod val="50000"/>
                  </a:schemeClr>
                </a:solidFill>
                <a:latin typeface="Montserrat" panose="00000500000000000000" pitchFamily="2" charset="0"/>
              </a:rPr>
              <a:t>Wuxi</a:t>
            </a:r>
            <a:r>
              <a:rPr lang="es-ES_tradnl" sz="1300" dirty="0">
                <a:solidFill>
                  <a:schemeClr val="accent5">
                    <a:lumMod val="50000"/>
                  </a:schemeClr>
                </a:solidFill>
                <a:latin typeface="Montserrat" panose="00000500000000000000" pitchFamily="2" charset="0"/>
              </a:rPr>
              <a:t>, un autobús autónomo que viaja, haciendo paradas, esquivando obstáculos, desacelerando /acelerando basándose en la data que recibe constantemente de su entorno. Semáforos, letreros, infraestructura de sensores, cámaras y radares que hablan con el vehículo. </a:t>
            </a:r>
          </a:p>
        </p:txBody>
      </p:sp>
      <p:sp>
        <p:nvSpPr>
          <p:cNvPr id="12" name="TextBox 11">
            <a:extLst>
              <a:ext uri="{FF2B5EF4-FFF2-40B4-BE49-F238E27FC236}">
                <a16:creationId xmlns:a16="http://schemas.microsoft.com/office/drawing/2014/main" id="{64723869-43E5-4C41-AFD3-7E38D7C72732}"/>
              </a:ext>
            </a:extLst>
          </p:cNvPr>
          <p:cNvSpPr txBox="1"/>
          <p:nvPr/>
        </p:nvSpPr>
        <p:spPr>
          <a:xfrm>
            <a:off x="5930183" y="2997892"/>
            <a:ext cx="3139341" cy="3585597"/>
          </a:xfrm>
          <a:prstGeom prst="rect">
            <a:avLst/>
          </a:prstGeom>
          <a:noFill/>
        </p:spPr>
        <p:txBody>
          <a:bodyPr wrap="square" rtlCol="0">
            <a:spAutoFit/>
          </a:bodyPr>
          <a:lstStyle/>
          <a:p>
            <a:pPr algn="just"/>
            <a:r>
              <a:rPr lang="es-ES_tradnl" sz="1500" b="1" dirty="0">
                <a:solidFill>
                  <a:srgbClr val="C00000"/>
                </a:solidFill>
                <a:latin typeface="Montserrat" panose="00000500000000000000" pitchFamily="2" charset="0"/>
              </a:rPr>
              <a:t>Kaspersky acelera la seguridad para automóviles conectados</a:t>
            </a:r>
          </a:p>
          <a:p>
            <a:pPr algn="just"/>
            <a:endParaRPr lang="es-ES_tradnl" sz="1300" b="1" dirty="0">
              <a:solidFill>
                <a:srgbClr val="0432FF"/>
              </a:solidFill>
              <a:latin typeface="Montserrat" panose="00000500000000000000" pitchFamily="2" charset="0"/>
            </a:endParaRPr>
          </a:p>
          <a:p>
            <a:pPr algn="just"/>
            <a:r>
              <a:rPr lang="es-ES_tradnl" sz="1300" dirty="0">
                <a:solidFill>
                  <a:srgbClr val="2F4B5D"/>
                </a:solidFill>
                <a:latin typeface="Montserrat" panose="00000500000000000000" pitchFamily="2" charset="0"/>
              </a:rPr>
              <a:t>Recientemente </a:t>
            </a:r>
            <a:r>
              <a:rPr lang="es-ES_tradnl" sz="1300" b="1" dirty="0">
                <a:solidFill>
                  <a:srgbClr val="2F4B5D"/>
                </a:solidFill>
                <a:latin typeface="Montserrat" panose="00000500000000000000" pitchFamily="2" charset="0"/>
              </a:rPr>
              <a:t>lanzo un informe de Amenazas Inteligentes (TI)</a:t>
            </a:r>
            <a:r>
              <a:rPr lang="es-ES_tradnl" sz="1300" dirty="0">
                <a:solidFill>
                  <a:srgbClr val="2F4B5D"/>
                </a:solidFill>
                <a:latin typeface="Montserrat" panose="00000500000000000000" pitchFamily="2" charset="0"/>
              </a:rPr>
              <a:t>, personalizado para organizaciones de la industria automotriz. Estos informes brindan a los fabricantes de autos un </a:t>
            </a:r>
            <a:r>
              <a:rPr lang="es-ES_tradnl" sz="1300" b="1" dirty="0">
                <a:solidFill>
                  <a:srgbClr val="2F4B5D"/>
                </a:solidFill>
                <a:latin typeface="Montserrat" panose="00000500000000000000" pitchFamily="2" charset="0"/>
              </a:rPr>
              <a:t>análisis detallado de amenazas de seguridad específicas de la industria e identifican información que los malhechores podrían utilizar para atacar a autos,</a:t>
            </a:r>
            <a:r>
              <a:rPr lang="es-ES_tradnl" sz="1300" dirty="0">
                <a:solidFill>
                  <a:srgbClr val="2F4B5D"/>
                </a:solidFill>
                <a:latin typeface="Montserrat" panose="00000500000000000000" pitchFamily="2" charset="0"/>
              </a:rPr>
              <a:t> infraestructura de vehículos conectados y otros sistemas</a:t>
            </a:r>
            <a:r>
              <a:rPr lang="en-GB" sz="1300" dirty="0">
                <a:solidFill>
                  <a:srgbClr val="2F4B5D"/>
                </a:solidFill>
                <a:latin typeface="Montserrat" panose="00000500000000000000" pitchFamily="2" charset="0"/>
              </a:rPr>
              <a:t>. </a:t>
            </a:r>
            <a:endParaRPr lang="en-CH" sz="1300" dirty="0">
              <a:solidFill>
                <a:srgbClr val="2F4B5D"/>
              </a:solidFill>
              <a:latin typeface="Montserrat" panose="00000500000000000000" pitchFamily="2" charset="0"/>
            </a:endParaRPr>
          </a:p>
        </p:txBody>
      </p:sp>
      <p:pic>
        <p:nvPicPr>
          <p:cNvPr id="13" name="Picture 12">
            <a:extLst>
              <a:ext uri="{FF2B5EF4-FFF2-40B4-BE49-F238E27FC236}">
                <a16:creationId xmlns:a16="http://schemas.microsoft.com/office/drawing/2014/main" id="{C44FA15B-35BA-2440-8D1D-217576090084}"/>
              </a:ext>
            </a:extLst>
          </p:cNvPr>
          <p:cNvPicPr>
            <a:picLocks noChangeAspect="1"/>
          </p:cNvPicPr>
          <p:nvPr/>
        </p:nvPicPr>
        <p:blipFill>
          <a:blip r:embed="rId5"/>
          <a:stretch>
            <a:fillRect/>
          </a:stretch>
        </p:blipFill>
        <p:spPr>
          <a:xfrm>
            <a:off x="5983252" y="862422"/>
            <a:ext cx="3002030" cy="2087532"/>
          </a:xfrm>
          <a:prstGeom prst="rect">
            <a:avLst/>
          </a:prstGeom>
        </p:spPr>
      </p:pic>
      <p:sp>
        <p:nvSpPr>
          <p:cNvPr id="14" name="Slide Number Placeholder 13">
            <a:extLst>
              <a:ext uri="{FF2B5EF4-FFF2-40B4-BE49-F238E27FC236}">
                <a16:creationId xmlns:a16="http://schemas.microsoft.com/office/drawing/2014/main" id="{97D25FC5-6B11-1349-91AB-1342D4F842E2}"/>
              </a:ext>
            </a:extLst>
          </p:cNvPr>
          <p:cNvSpPr>
            <a:spLocks noGrp="1"/>
          </p:cNvSpPr>
          <p:nvPr>
            <p:ph type="sldNum" sz="quarter" idx="12"/>
          </p:nvPr>
        </p:nvSpPr>
        <p:spPr/>
        <p:txBody>
          <a:bodyPr/>
          <a:lstStyle/>
          <a:p>
            <a:fld id="{312CC964-A50B-4C29-B4E4-2C30BB34CCF3}" type="slidenum">
              <a:rPr lang="en-US" smtClean="0"/>
              <a:t>26</a:t>
            </a:fld>
            <a:endParaRPr lang="en-US"/>
          </a:p>
        </p:txBody>
      </p:sp>
      <p:sp>
        <p:nvSpPr>
          <p:cNvPr id="2" name="TextBox 1">
            <a:extLst>
              <a:ext uri="{FF2B5EF4-FFF2-40B4-BE49-F238E27FC236}">
                <a16:creationId xmlns:a16="http://schemas.microsoft.com/office/drawing/2014/main" id="{92E77917-E389-8B47-B74F-876FD8A5FDBC}"/>
              </a:ext>
            </a:extLst>
          </p:cNvPr>
          <p:cNvSpPr txBox="1"/>
          <p:nvPr/>
        </p:nvSpPr>
        <p:spPr>
          <a:xfrm>
            <a:off x="9083812" y="3064814"/>
            <a:ext cx="3002030" cy="3524042"/>
          </a:xfrm>
          <a:prstGeom prst="rect">
            <a:avLst/>
          </a:prstGeom>
          <a:noFill/>
        </p:spPr>
        <p:txBody>
          <a:bodyPr wrap="square" rtlCol="0">
            <a:spAutoFit/>
          </a:bodyPr>
          <a:lstStyle/>
          <a:p>
            <a:pPr algn="just"/>
            <a:r>
              <a:rPr lang="es-ES_tradnl" sz="1350" b="1" dirty="0">
                <a:solidFill>
                  <a:srgbClr val="C00000"/>
                </a:solidFill>
                <a:latin typeface="Montserrat" panose="00000500000000000000" pitchFamily="2" charset="0"/>
              </a:rPr>
              <a:t>Primeros servicios comerciales de autobuses autónomos llegan a las carreteras de Singapur </a:t>
            </a:r>
            <a:endParaRPr lang="es-ES_tradnl" sz="1350" dirty="0">
              <a:solidFill>
                <a:srgbClr val="C00000"/>
              </a:solidFill>
              <a:latin typeface="Montserrat" panose="00000500000000000000" pitchFamily="2" charset="0"/>
            </a:endParaRPr>
          </a:p>
          <a:p>
            <a:pPr algn="just"/>
            <a:endParaRPr lang="es-ES_tradnl" sz="1300" b="1" dirty="0">
              <a:solidFill>
                <a:srgbClr val="2F4B5D"/>
              </a:solidFill>
              <a:latin typeface="Montserrat" panose="00000500000000000000" pitchFamily="2" charset="0"/>
            </a:endParaRPr>
          </a:p>
          <a:p>
            <a:pPr algn="just"/>
            <a:r>
              <a:rPr lang="es-ES_tradnl" sz="1300" b="1" dirty="0" err="1">
                <a:solidFill>
                  <a:srgbClr val="2F4B5D"/>
                </a:solidFill>
                <a:latin typeface="Montserrat" panose="00000500000000000000" pitchFamily="2" charset="0"/>
              </a:rPr>
              <a:t>Blackberry</a:t>
            </a:r>
            <a:r>
              <a:rPr lang="es-ES_tradnl" sz="1300" b="1" dirty="0">
                <a:solidFill>
                  <a:srgbClr val="2F4B5D"/>
                </a:solidFill>
                <a:latin typeface="Montserrat" panose="00000500000000000000" pitchFamily="2" charset="0"/>
              </a:rPr>
              <a:t> y Baidu</a:t>
            </a:r>
            <a:r>
              <a:rPr lang="es-ES_tradnl" sz="1300" dirty="0">
                <a:solidFill>
                  <a:srgbClr val="2F4B5D"/>
                </a:solidFill>
                <a:latin typeface="Montserrat" panose="00000500000000000000" pitchFamily="2" charset="0"/>
              </a:rPr>
              <a:t> profundizan la asociación de autos autónomos y conectados. Los primeros servicios comerciales de autobuses sin conductor del país ejecutarán dos </a:t>
            </a:r>
            <a:r>
              <a:rPr lang="es-ES_tradnl" sz="1300" b="1" dirty="0">
                <a:solidFill>
                  <a:srgbClr val="2F4B5D"/>
                </a:solidFill>
                <a:latin typeface="Montserrat" panose="00000500000000000000" pitchFamily="2" charset="0"/>
              </a:rPr>
              <a:t>rutas en el Parque Científico de Singapur y la isla </a:t>
            </a:r>
            <a:r>
              <a:rPr lang="es-ES_tradnl" sz="1300" b="1" dirty="0" err="1">
                <a:solidFill>
                  <a:srgbClr val="2F4B5D"/>
                </a:solidFill>
                <a:latin typeface="Montserrat" panose="00000500000000000000" pitchFamily="2" charset="0"/>
              </a:rPr>
              <a:t>Jurong</a:t>
            </a:r>
            <a:r>
              <a:rPr lang="es-ES_tradnl" sz="1300" b="1" dirty="0">
                <a:solidFill>
                  <a:srgbClr val="2F4B5D"/>
                </a:solidFill>
                <a:latin typeface="Montserrat" panose="00000500000000000000" pitchFamily="2" charset="0"/>
              </a:rPr>
              <a:t> en un período de 3 meses para recopilar datos para evaluar la viabilidad del servici</a:t>
            </a:r>
            <a:r>
              <a:rPr lang="es-ES_tradnl" sz="1300" dirty="0">
                <a:solidFill>
                  <a:srgbClr val="2F4B5D"/>
                </a:solidFill>
                <a:latin typeface="Montserrat" panose="00000500000000000000" pitchFamily="2" charset="0"/>
              </a:rPr>
              <a:t>o, seguridad de pasajeros y la confiabilidad del servicio. </a:t>
            </a:r>
          </a:p>
        </p:txBody>
      </p:sp>
      <p:pic>
        <p:nvPicPr>
          <p:cNvPr id="5" name="Picture 4" descr="A picture containing text, tree, outdoor, curb&#10;&#10;Description automatically generated">
            <a:extLst>
              <a:ext uri="{FF2B5EF4-FFF2-40B4-BE49-F238E27FC236}">
                <a16:creationId xmlns:a16="http://schemas.microsoft.com/office/drawing/2014/main" id="{4CA06EED-7A5C-AC4C-AD8E-68D1B8672B36}"/>
              </a:ext>
            </a:extLst>
          </p:cNvPr>
          <p:cNvPicPr>
            <a:picLocks noChangeAspect="1"/>
          </p:cNvPicPr>
          <p:nvPr/>
        </p:nvPicPr>
        <p:blipFill>
          <a:blip r:embed="rId6"/>
          <a:stretch>
            <a:fillRect/>
          </a:stretch>
        </p:blipFill>
        <p:spPr>
          <a:xfrm>
            <a:off x="9159705" y="871367"/>
            <a:ext cx="2829295" cy="2117767"/>
          </a:xfrm>
          <a:prstGeom prst="rect">
            <a:avLst/>
          </a:prstGeom>
        </p:spPr>
      </p:pic>
      <p:sp>
        <p:nvSpPr>
          <p:cNvPr id="15" name="Google Shape;423;p7">
            <a:extLst>
              <a:ext uri="{FF2B5EF4-FFF2-40B4-BE49-F238E27FC236}">
                <a16:creationId xmlns:a16="http://schemas.microsoft.com/office/drawing/2014/main" id="{9D04EF64-DB15-4638-B990-BE689F0106EE}"/>
              </a:ext>
            </a:extLst>
          </p:cNvPr>
          <p:cNvSpPr/>
          <p:nvPr/>
        </p:nvSpPr>
        <p:spPr>
          <a:xfrm>
            <a:off x="-5080" y="119855"/>
            <a:ext cx="12192000" cy="689741"/>
          </a:xfrm>
          <a:prstGeom prst="rect">
            <a:avLst/>
          </a:prstGeom>
          <a:solidFill>
            <a:srgbClr val="C41927"/>
          </a:solidFill>
          <a:ln>
            <a:noFill/>
          </a:ln>
        </p:spPr>
        <p:txBody>
          <a:bodyPr spcFirstLastPara="1" wrap="square" lIns="91425" tIns="45700" rIns="91425" bIns="45700" anchor="ctr" anchorCtr="0">
            <a:noAutofit/>
          </a:bodyPr>
          <a:lstStyle/>
          <a:p>
            <a:endParaRPr lang="es-ES" sz="2800" b="1" dirty="0">
              <a:solidFill>
                <a:schemeClr val="bg1"/>
              </a:solidFill>
              <a:latin typeface="Montserrat" panose="00000500000000000000" pitchFamily="2" charset="0"/>
            </a:endParaRPr>
          </a:p>
        </p:txBody>
      </p:sp>
      <p:sp>
        <p:nvSpPr>
          <p:cNvPr id="6" name="TextBox 5">
            <a:extLst>
              <a:ext uri="{FF2B5EF4-FFF2-40B4-BE49-F238E27FC236}">
                <a16:creationId xmlns:a16="http://schemas.microsoft.com/office/drawing/2014/main" id="{19054D64-C1F6-B946-A881-81AA33CBF05F}"/>
              </a:ext>
            </a:extLst>
          </p:cNvPr>
          <p:cNvSpPr txBox="1"/>
          <p:nvPr/>
        </p:nvSpPr>
        <p:spPr>
          <a:xfrm>
            <a:off x="-5080" y="229685"/>
            <a:ext cx="12192000" cy="461665"/>
          </a:xfrm>
          <a:prstGeom prst="rect">
            <a:avLst/>
          </a:prstGeom>
          <a:noFill/>
        </p:spPr>
        <p:txBody>
          <a:bodyPr wrap="square" rtlCol="0">
            <a:spAutoFit/>
          </a:bodyPr>
          <a:lstStyle/>
          <a:p>
            <a:pPr algn="ctr"/>
            <a:r>
              <a:rPr lang="es-ES" sz="2400" b="1" dirty="0">
                <a:solidFill>
                  <a:schemeClr val="bg1"/>
                </a:solidFill>
                <a:latin typeface="Montserrat" panose="00000500000000000000" pitchFamily="2" charset="0"/>
              </a:rPr>
              <a:t>VEHICULOS CONECTADOS: FUTURO DE LA MOBILIDAD</a:t>
            </a:r>
          </a:p>
        </p:txBody>
      </p:sp>
    </p:spTree>
    <p:extLst>
      <p:ext uri="{BB962C8B-B14F-4D97-AF65-F5344CB8AC3E}">
        <p14:creationId xmlns:p14="http://schemas.microsoft.com/office/powerpoint/2010/main" val="418608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F1A2EB-D281-4683-2659-9157DCEFF9A2}"/>
              </a:ext>
            </a:extLst>
          </p:cNvPr>
          <p:cNvSpPr>
            <a:spLocks noGrp="1"/>
          </p:cNvSpPr>
          <p:nvPr>
            <p:ph type="sldNum" sz="quarter" idx="12"/>
          </p:nvPr>
        </p:nvSpPr>
        <p:spPr/>
        <p:txBody>
          <a:bodyPr/>
          <a:lstStyle/>
          <a:p>
            <a:fld id="{6897FFF3-9BE7-6F4B-AB28-3A1D192ED757}" type="slidenum">
              <a:rPr lang="en-CH" smtClean="0"/>
              <a:t>27</a:t>
            </a:fld>
            <a:endParaRPr lang="en-CH"/>
          </a:p>
        </p:txBody>
      </p:sp>
      <p:sp>
        <p:nvSpPr>
          <p:cNvPr id="4" name="TextBox 3">
            <a:extLst>
              <a:ext uri="{FF2B5EF4-FFF2-40B4-BE49-F238E27FC236}">
                <a16:creationId xmlns:a16="http://schemas.microsoft.com/office/drawing/2014/main" id="{9FB7CFB1-3951-2FFD-1812-1ED1BCB967FC}"/>
              </a:ext>
            </a:extLst>
          </p:cNvPr>
          <p:cNvSpPr txBox="1"/>
          <p:nvPr/>
        </p:nvSpPr>
        <p:spPr>
          <a:xfrm>
            <a:off x="2665719" y="732438"/>
            <a:ext cx="9438455" cy="5909310"/>
          </a:xfrm>
          <a:prstGeom prst="rect">
            <a:avLst/>
          </a:prstGeom>
          <a:noFill/>
        </p:spPr>
        <p:txBody>
          <a:bodyPr wrap="square">
            <a:spAutoFit/>
          </a:bodyPr>
          <a:lstStyle/>
          <a:p>
            <a:pPr algn="just"/>
            <a:r>
              <a:rPr lang="en-CH" b="1" dirty="0">
                <a:solidFill>
                  <a:srgbClr val="1F4E79"/>
                </a:solidFill>
                <a:effectLst/>
                <a:latin typeface="Segoe UI" panose="020B0502040204020203" pitchFamily="34" charset="0"/>
                <a:ea typeface="Times New Roman" panose="02020603050405020304" pitchFamily="18" charset="0"/>
              </a:rPr>
              <a:t>Infraestructura estratégica destinada a consolidar un </a:t>
            </a:r>
            <a:r>
              <a:rPr lang="en-CH" b="1" dirty="0">
                <a:solidFill>
                  <a:srgbClr val="00B0F0"/>
                </a:solidFill>
                <a:effectLst/>
                <a:latin typeface="Segoe UI" panose="020B0502040204020203" pitchFamily="34" charset="0"/>
                <a:ea typeface="Times New Roman" panose="02020603050405020304" pitchFamily="18" charset="0"/>
              </a:rPr>
              <a:t>ecosistema logístico, tecnológico y productivo de alto impacto</a:t>
            </a:r>
            <a:r>
              <a:rPr lang="en-CH" b="1" dirty="0">
                <a:solidFill>
                  <a:srgbClr val="1F4E79"/>
                </a:solidFill>
                <a:effectLst/>
                <a:latin typeface="Segoe UI" panose="020B0502040204020203" pitchFamily="34" charset="0"/>
                <a:ea typeface="Times New Roman" panose="02020603050405020304" pitchFamily="18" charset="0"/>
              </a:rPr>
              <a:t>. </a:t>
            </a:r>
          </a:p>
          <a:p>
            <a:pPr algn="just"/>
            <a:endParaRPr lang="en-CH" b="1" dirty="0">
              <a:solidFill>
                <a:srgbClr val="1F4E79"/>
              </a:solidFill>
              <a:latin typeface="Segoe UI" panose="020B0502040204020203" pitchFamily="34" charset="0"/>
              <a:ea typeface="Times New Roman" panose="02020603050405020304" pitchFamily="18" charset="0"/>
            </a:endParaRPr>
          </a:p>
          <a:p>
            <a:pPr algn="just"/>
            <a:r>
              <a:rPr lang="en-CH" b="1" dirty="0">
                <a:solidFill>
                  <a:srgbClr val="1F4E79"/>
                </a:solidFill>
                <a:effectLst/>
                <a:latin typeface="Segoe UI" panose="020B0502040204020203" pitchFamily="34" charset="0"/>
                <a:ea typeface="Times New Roman" panose="02020603050405020304" pitchFamily="18" charset="0"/>
              </a:rPr>
              <a:t>Este proyecto no se limita a las funciones tradicionales de un parque industrial</a:t>
            </a:r>
            <a:r>
              <a:rPr lang="en-CH" dirty="0">
                <a:solidFill>
                  <a:srgbClr val="1F4E79"/>
                </a:solidFill>
                <a:effectLst/>
                <a:latin typeface="Segoe UI" panose="020B0502040204020203" pitchFamily="34" charset="0"/>
                <a:ea typeface="Times New Roman" panose="02020603050405020304" pitchFamily="18" charset="0"/>
              </a:rPr>
              <a:t>, sino que incorpora plataformas tecnológicas avanzadas y servicios logísticos de clase </a:t>
            </a:r>
            <a:r>
              <a:rPr lang="fr-CH" dirty="0">
                <a:solidFill>
                  <a:srgbClr val="1F4E79"/>
                </a:solidFill>
                <a:effectLst/>
                <a:latin typeface="Segoe UI" panose="020B0502040204020203" pitchFamily="34" charset="0"/>
                <a:ea typeface="Times New Roman" panose="02020603050405020304" pitchFamily="18" charset="0"/>
              </a:rPr>
              <a:t>global</a:t>
            </a:r>
            <a:r>
              <a:rPr lang="en-CH" dirty="0">
                <a:solidFill>
                  <a:srgbClr val="1F4E79"/>
                </a:solidFill>
                <a:effectLst/>
                <a:latin typeface="Segoe UI" panose="020B0502040204020203" pitchFamily="34" charset="0"/>
                <a:ea typeface="Times New Roman" panose="02020603050405020304" pitchFamily="18" charset="0"/>
              </a:rPr>
              <a:t>, concebidos </a:t>
            </a:r>
            <a:r>
              <a:rPr lang="en-CH" dirty="0">
                <a:solidFill>
                  <a:srgbClr val="00B050"/>
                </a:solidFill>
                <a:effectLst/>
                <a:latin typeface="Segoe UI" panose="020B0502040204020203" pitchFamily="34" charset="0"/>
                <a:ea typeface="Times New Roman" panose="02020603050405020304" pitchFamily="18" charset="0"/>
              </a:rPr>
              <a:t>para atraer </a:t>
            </a:r>
            <a:r>
              <a:rPr lang="en-CH" b="1" dirty="0">
                <a:solidFill>
                  <a:srgbClr val="00B050"/>
                </a:solidFill>
                <a:effectLst/>
                <a:latin typeface="Segoe UI" panose="020B0502040204020203" pitchFamily="34" charset="0"/>
                <a:ea typeface="Times New Roman" panose="02020603050405020304" pitchFamily="18" charset="0"/>
              </a:rPr>
              <a:t>industrias</a:t>
            </a:r>
            <a:r>
              <a:rPr lang="en-CH" dirty="0">
                <a:solidFill>
                  <a:srgbClr val="00B050"/>
                </a:solidFill>
                <a:effectLst/>
                <a:latin typeface="Segoe UI" panose="020B0502040204020203" pitchFamily="34" charset="0"/>
                <a:ea typeface="Times New Roman" panose="02020603050405020304" pitchFamily="18" charset="0"/>
              </a:rPr>
              <a:t> innovadoras, empresas tecnológicas</a:t>
            </a:r>
            <a:r>
              <a:rPr lang="en-CH" dirty="0">
                <a:solidFill>
                  <a:srgbClr val="C00000"/>
                </a:solidFill>
                <a:effectLst/>
                <a:latin typeface="Segoe UI" panose="020B0502040204020203" pitchFamily="34" charset="0"/>
                <a:ea typeface="Times New Roman" panose="02020603050405020304" pitchFamily="18" charset="0"/>
              </a:rPr>
              <a:t> </a:t>
            </a:r>
            <a:r>
              <a:rPr lang="en-CH" dirty="0">
                <a:solidFill>
                  <a:srgbClr val="1F4E79"/>
                </a:solidFill>
                <a:effectLst/>
                <a:latin typeface="Segoe UI" panose="020B0502040204020203" pitchFamily="34" charset="0"/>
                <a:ea typeface="Times New Roman" panose="02020603050405020304" pitchFamily="18" charset="0"/>
              </a:rPr>
              <a:t>y centros de desarrollo. </a:t>
            </a:r>
          </a:p>
          <a:p>
            <a:pPr algn="just"/>
            <a:endParaRPr lang="en-CH" b="1" dirty="0">
              <a:solidFill>
                <a:srgbClr val="1F4E79"/>
              </a:solidFill>
              <a:latin typeface="Segoe UI" panose="020B0502040204020203" pitchFamily="34" charset="0"/>
              <a:ea typeface="Times New Roman" panose="02020603050405020304" pitchFamily="18" charset="0"/>
            </a:endParaRPr>
          </a:p>
          <a:p>
            <a:pPr algn="just"/>
            <a:r>
              <a:rPr lang="en-CH" b="1" dirty="0">
                <a:solidFill>
                  <a:srgbClr val="C00000"/>
                </a:solidFill>
                <a:effectLst/>
                <a:latin typeface="Segoe UI" panose="020B0502040204020203" pitchFamily="34" charset="0"/>
                <a:ea typeface="Times New Roman" panose="02020603050405020304" pitchFamily="18" charset="0"/>
              </a:rPr>
              <a:t>Su propósito es transformar mercancías, añadir valor a los productos primario</a:t>
            </a:r>
            <a:r>
              <a:rPr lang="en-CH" dirty="0">
                <a:solidFill>
                  <a:srgbClr val="C00000"/>
                </a:solidFill>
                <a:effectLst/>
                <a:latin typeface="Segoe UI" panose="020B0502040204020203" pitchFamily="34" charset="0"/>
                <a:ea typeface="Times New Roman" panose="02020603050405020304" pitchFamily="18" charset="0"/>
              </a:rPr>
              <a:t>s </a:t>
            </a:r>
            <a:r>
              <a:rPr lang="en-CH" dirty="0">
                <a:solidFill>
                  <a:srgbClr val="1F4E79"/>
                </a:solidFill>
                <a:effectLst/>
                <a:latin typeface="Segoe UI" panose="020B0502040204020203" pitchFamily="34" charset="0"/>
                <a:ea typeface="Times New Roman" panose="02020603050405020304" pitchFamily="18" charset="0"/>
              </a:rPr>
              <a:t>—que aún constituyen gran parte de las exportaciones nacionales— generar empleo de calidad y atraer inversiones que integren al Perú de manera más sólida en las cadenas productivas globales. </a:t>
            </a:r>
          </a:p>
          <a:p>
            <a:pPr algn="just"/>
            <a:endParaRPr lang="en-CH" b="1" dirty="0">
              <a:solidFill>
                <a:srgbClr val="1F4E79"/>
              </a:solidFill>
              <a:latin typeface="Segoe UI" panose="020B0502040204020203" pitchFamily="34" charset="0"/>
              <a:ea typeface="Times New Roman" panose="02020603050405020304" pitchFamily="18" charset="0"/>
            </a:endParaRPr>
          </a:p>
          <a:p>
            <a:pPr algn="just"/>
            <a:r>
              <a:rPr lang="en-CH" b="1" dirty="0">
                <a:solidFill>
                  <a:srgbClr val="C00000"/>
                </a:solidFill>
                <a:effectLst/>
                <a:latin typeface="Segoe UI" panose="020B0502040204020203" pitchFamily="34" charset="0"/>
                <a:ea typeface="Times New Roman" panose="02020603050405020304" pitchFamily="18" charset="0"/>
              </a:rPr>
              <a:t>El PITP se convierte en un catalizador para la transición del país hacia una economía moderna, industrializada y </a:t>
            </a:r>
            <a:r>
              <a:rPr lang="es-ES" b="1" dirty="0">
                <a:solidFill>
                  <a:srgbClr val="C00000"/>
                </a:solidFill>
                <a:effectLst/>
                <a:latin typeface="Segoe UI" panose="020B0502040204020203" pitchFamily="34" charset="0"/>
                <a:ea typeface="Times New Roman" panose="02020603050405020304" pitchFamily="18" charset="0"/>
              </a:rPr>
              <a:t>competitiva</a:t>
            </a:r>
            <a:r>
              <a:rPr lang="es-ES" dirty="0">
                <a:solidFill>
                  <a:srgbClr val="1F4E79"/>
                </a:solidFill>
                <a:effectLst/>
                <a:latin typeface="Segoe UI" panose="020B0502040204020203" pitchFamily="34" charset="0"/>
                <a:ea typeface="Times New Roman" panose="02020603050405020304" pitchFamily="18" charset="0"/>
              </a:rPr>
              <a:t>. La ubicación del PITP será decisiva. Situarlo en las inmediaciones del Puerto Inteligente de Chancay o, en la ciudad de Ancón, a 60 km al norte por la carretera Panamericana Norte, abriría la oportunidad de extender su impacto hacia diversas regiones</a:t>
            </a:r>
          </a:p>
          <a:p>
            <a:pPr algn="just"/>
            <a:endParaRPr lang="es-ES" dirty="0">
              <a:solidFill>
                <a:srgbClr val="1F4E79"/>
              </a:solidFill>
              <a:latin typeface="Segoe UI" panose="020B0502040204020203" pitchFamily="34" charset="0"/>
              <a:ea typeface="Times New Roman" panose="02020603050405020304" pitchFamily="18" charset="0"/>
            </a:endParaRPr>
          </a:p>
          <a:p>
            <a:pPr algn="just"/>
            <a:r>
              <a:rPr lang="es-ES" dirty="0">
                <a:solidFill>
                  <a:srgbClr val="1F4E79"/>
                </a:solidFill>
                <a:effectLst/>
                <a:latin typeface="Segoe UI" panose="020B0502040204020203" pitchFamily="34" charset="0"/>
                <a:ea typeface="Times New Roman" panose="02020603050405020304" pitchFamily="18" charset="0"/>
              </a:rPr>
              <a:t>De esta forma, el PITP no solo complementaría</a:t>
            </a:r>
            <a:r>
              <a:rPr lang="en-CH" dirty="0">
                <a:solidFill>
                  <a:srgbClr val="1F4E79"/>
                </a:solidFill>
                <a:effectLst/>
                <a:latin typeface="Segoe UI" panose="020B0502040204020203" pitchFamily="34" charset="0"/>
                <a:ea typeface="Times New Roman" panose="02020603050405020304" pitchFamily="18" charset="0"/>
              </a:rPr>
              <a:t> la operación portuaria, sino que proyectaría al </a:t>
            </a:r>
            <a:r>
              <a:rPr lang="en-CH" b="1" dirty="0">
                <a:solidFill>
                  <a:srgbClr val="C00000"/>
                </a:solidFill>
                <a:effectLst/>
                <a:latin typeface="Segoe UI" panose="020B0502040204020203" pitchFamily="34" charset="0"/>
                <a:ea typeface="Times New Roman" panose="02020603050405020304" pitchFamily="18" charset="0"/>
              </a:rPr>
              <a:t>Perú como un nuevo eje de desarrollo industrial </a:t>
            </a:r>
            <a:r>
              <a:rPr lang="en-CH" dirty="0">
                <a:solidFill>
                  <a:srgbClr val="1F4E79"/>
                </a:solidFill>
                <a:effectLst/>
                <a:latin typeface="Segoe UI" panose="020B0502040204020203" pitchFamily="34" charset="0"/>
                <a:ea typeface="Times New Roman" panose="02020603050405020304" pitchFamily="18" charset="0"/>
              </a:rPr>
              <a:t>y tecnológico en Sudamérica. </a:t>
            </a:r>
          </a:p>
        </p:txBody>
      </p:sp>
      <p:sp>
        <p:nvSpPr>
          <p:cNvPr id="3" name="Google Shape;423;p7">
            <a:extLst>
              <a:ext uri="{FF2B5EF4-FFF2-40B4-BE49-F238E27FC236}">
                <a16:creationId xmlns:a16="http://schemas.microsoft.com/office/drawing/2014/main" id="{599D89B1-3440-2902-EB74-CFD0079CDC6E}"/>
              </a:ext>
            </a:extLst>
          </p:cNvPr>
          <p:cNvSpPr/>
          <p:nvPr/>
        </p:nvSpPr>
        <p:spPr>
          <a:xfrm>
            <a:off x="0" y="-36654"/>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800" b="1" i="1" kern="0" dirty="0">
              <a:solidFill>
                <a:schemeClr val="bg1"/>
              </a:solidFill>
              <a:effectLst/>
              <a:latin typeface="Montserrat" pitchFamily="2" charset="77"/>
              <a:ea typeface="Times New Roman" panose="02020603050405020304" pitchFamily="18" charset="0"/>
            </a:endParaRPr>
          </a:p>
          <a:p>
            <a:pPr algn="ctr"/>
            <a:r>
              <a:rPr lang="es-ES" sz="2800" b="1" i="1" kern="0" dirty="0">
                <a:solidFill>
                  <a:schemeClr val="bg1"/>
                </a:solidFill>
                <a:latin typeface="Segoe UI" panose="020B0502040204020203" pitchFamily="34" charset="0"/>
                <a:ea typeface="Times New Roman" panose="02020603050405020304" pitchFamily="18" charset="0"/>
                <a:cs typeface="Segoe UI" panose="020B0502040204020203" pitchFamily="34" charset="0"/>
              </a:rPr>
              <a:t>2.</a:t>
            </a:r>
            <a:r>
              <a:rPr lang="es-ES" sz="2800" b="1" dirty="0">
                <a:solidFill>
                  <a:schemeClr val="bg1"/>
                </a:solidFill>
                <a:effectLst/>
                <a:latin typeface="Segoe UI" panose="020B0502040204020203" pitchFamily="34" charset="0"/>
                <a:ea typeface="Times New Roman" panose="02020603050405020304" pitchFamily="18" charset="0"/>
              </a:rPr>
              <a:t> Parque Industrial Tecnológico Portuario (PITP)</a:t>
            </a:r>
          </a:p>
          <a:p>
            <a:pPr algn="ctr"/>
            <a:endParaRPr lang="es-ES_tradnl" sz="2800" b="1" i="0" u="none" strike="noStrike" dirty="0">
              <a:solidFill>
                <a:schemeClr val="bg1"/>
              </a:solidFill>
              <a:effectLst/>
              <a:latin typeface="Open Sans" panose="020B0606030504020204" pitchFamily="34" charset="0"/>
            </a:endParaRPr>
          </a:p>
        </p:txBody>
      </p:sp>
      <p:pic>
        <p:nvPicPr>
          <p:cNvPr id="5" name="Picture 4">
            <a:extLst>
              <a:ext uri="{FF2B5EF4-FFF2-40B4-BE49-F238E27FC236}">
                <a16:creationId xmlns:a16="http://schemas.microsoft.com/office/drawing/2014/main" id="{F66F9609-9918-0E3F-FBC4-3987E976BA0C}"/>
              </a:ext>
            </a:extLst>
          </p:cNvPr>
          <p:cNvPicPr>
            <a:picLocks noChangeAspect="1"/>
          </p:cNvPicPr>
          <p:nvPr/>
        </p:nvPicPr>
        <p:blipFill>
          <a:blip r:embed="rId3"/>
          <a:stretch>
            <a:fillRect/>
          </a:stretch>
        </p:blipFill>
        <p:spPr>
          <a:xfrm>
            <a:off x="52629" y="608451"/>
            <a:ext cx="2566596" cy="6113024"/>
          </a:xfrm>
          <a:prstGeom prst="rect">
            <a:avLst/>
          </a:prstGeom>
        </p:spPr>
      </p:pic>
    </p:spTree>
    <p:extLst>
      <p:ext uri="{BB962C8B-B14F-4D97-AF65-F5344CB8AC3E}">
        <p14:creationId xmlns:p14="http://schemas.microsoft.com/office/powerpoint/2010/main" val="611297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F1A2EB-D281-4683-2659-9157DCEFF9A2}"/>
              </a:ext>
            </a:extLst>
          </p:cNvPr>
          <p:cNvSpPr>
            <a:spLocks noGrp="1"/>
          </p:cNvSpPr>
          <p:nvPr>
            <p:ph type="sldNum" sz="quarter" idx="12"/>
          </p:nvPr>
        </p:nvSpPr>
        <p:spPr/>
        <p:txBody>
          <a:bodyPr/>
          <a:lstStyle/>
          <a:p>
            <a:fld id="{6897FFF3-9BE7-6F4B-AB28-3A1D192ED757}" type="slidenum">
              <a:rPr lang="en-CH" smtClean="0"/>
              <a:t>28</a:t>
            </a:fld>
            <a:endParaRPr lang="en-CH"/>
          </a:p>
        </p:txBody>
      </p:sp>
      <p:sp>
        <p:nvSpPr>
          <p:cNvPr id="4" name="TextBox 3">
            <a:extLst>
              <a:ext uri="{FF2B5EF4-FFF2-40B4-BE49-F238E27FC236}">
                <a16:creationId xmlns:a16="http://schemas.microsoft.com/office/drawing/2014/main" id="{9FB7CFB1-3951-2FFD-1812-1ED1BCB967FC}"/>
              </a:ext>
            </a:extLst>
          </p:cNvPr>
          <p:cNvSpPr txBox="1"/>
          <p:nvPr/>
        </p:nvSpPr>
        <p:spPr>
          <a:xfrm>
            <a:off x="158016" y="702814"/>
            <a:ext cx="11927303" cy="3970318"/>
          </a:xfrm>
          <a:prstGeom prst="rect">
            <a:avLst/>
          </a:prstGeom>
          <a:noFill/>
        </p:spPr>
        <p:txBody>
          <a:bodyPr wrap="square">
            <a:spAutoFit/>
          </a:bodyPr>
          <a:lstStyle/>
          <a:p>
            <a:pPr algn="just"/>
            <a:r>
              <a:rPr lang="es-ES_tradnl" sz="1900"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rPr>
              <a:t>U</a:t>
            </a:r>
            <a:r>
              <a:rPr lang="es-ES_tradnl" sz="19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na de las iniciativas de infraestructura más ambiciosas en América del Sur, con más de 3,700 kilómetros de vías férreas. Unirá el puerto brasileño de </a:t>
            </a:r>
            <a:r>
              <a:rPr lang="es-ES_tradnl" sz="19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Santos con el puerto de Chancay</a:t>
            </a:r>
            <a:r>
              <a:rPr lang="es-ES_tradnl" sz="19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convirtiéndolo en la puerta de entrada y salida del eje Asia–Sudamérica. Nodo logístico clave del Pacífico Sur </a:t>
            </a:r>
            <a:r>
              <a:rPr lang="es-ES_tradnl" sz="19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impulsado por Brasil, China y Perú,</a:t>
            </a:r>
            <a:r>
              <a:rPr lang="es-ES_tradnl" sz="19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 enfrenta desafíos técnicos, políticos y geopolíticos como la creciente influencia de China en América Latina, discrepancias entre los países involucrados sobre el trazado, la financiación, y la gobernanza del corredor </a:t>
            </a:r>
            <a:endParaRPr lang="es-ES_tradnl" sz="2000" b="1"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endParaRPr>
          </a:p>
          <a:p>
            <a:pPr algn="ctr"/>
            <a:r>
              <a:rPr lang="es-ES" sz="2400" b="1" dirty="0">
                <a:solidFill>
                  <a:srgbClr val="1F4E79"/>
                </a:solidFill>
                <a:latin typeface="Segoe UI" panose="020B0502040204020203" pitchFamily="34" charset="0"/>
                <a:ea typeface="Times New Roman" panose="02020603050405020304" pitchFamily="18" charset="0"/>
              </a:rPr>
              <a:t>4</a:t>
            </a:r>
            <a:r>
              <a:rPr lang="es-ES" sz="2400" b="1" dirty="0">
                <a:solidFill>
                  <a:srgbClr val="1F4E79"/>
                </a:solidFill>
                <a:effectLst/>
                <a:latin typeface="Segoe UI" panose="020B0502040204020203" pitchFamily="34" charset="0"/>
                <a:ea typeface="Times New Roman" panose="02020603050405020304" pitchFamily="18" charset="0"/>
              </a:rPr>
              <a:t>. Ruta de la Seda: Chancay Nodo Emergente del Pacífico Sur </a:t>
            </a:r>
            <a:endParaRPr lang="es-ES" sz="24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endParaRPr>
          </a:p>
          <a:p>
            <a:pPr algn="just"/>
            <a:r>
              <a:rPr lang="es-ES" sz="19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Chancay, integrado a la Ruta Marítima y Digital de la Seda impulsada por China</a:t>
            </a:r>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adquiere un </a:t>
            </a:r>
            <a:r>
              <a:rPr lang="es-ES" sz="1900" b="1" dirty="0">
                <a:solidFill>
                  <a:srgbClr val="00B050"/>
                </a:solidFill>
                <a:effectLst/>
                <a:latin typeface="Segoe UI" panose="020B0502040204020203" pitchFamily="34" charset="0"/>
                <a:ea typeface="Times New Roman" panose="02020603050405020304" pitchFamily="18" charset="0"/>
                <a:cs typeface="Segoe UI" panose="020B0502040204020203" pitchFamily="34" charset="0"/>
              </a:rPr>
              <a:t>rol estratégico en el nuevo mapa geopolítico</a:t>
            </a:r>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sin precedentes y reforzando la presencia de China en la región. </a:t>
            </a:r>
            <a:endParaRPr lang="es-ES" sz="1900" dirty="0">
              <a:solidFill>
                <a:srgbClr val="1F4E79"/>
              </a:solidFill>
              <a:latin typeface="Segoe UI" panose="020B0502040204020203" pitchFamily="34" charset="0"/>
              <a:ea typeface="Times New Roman" panose="02020603050405020304" pitchFamily="18" charset="0"/>
              <a:cs typeface="Segoe UI" panose="020B0502040204020203" pitchFamily="34" charset="0"/>
            </a:endParaRPr>
          </a:p>
          <a:p>
            <a:pPr algn="just"/>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La participación de COSCO </a:t>
            </a:r>
            <a:r>
              <a:rPr lang="es-ES" sz="1900" dirty="0" err="1">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Shipping</a:t>
            </a:r>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puede atraer inversiones clave, </a:t>
            </a:r>
            <a:r>
              <a:rPr lang="es-ES" sz="19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pero también plantea desafíos diplomáticos y tecnológicos que el Perú debe gestionar con visión y soberanía</a:t>
            </a:r>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Con la salida de Panamá de esta iniciativa, </a:t>
            </a:r>
            <a:r>
              <a:rPr lang="es-ES" sz="19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Chancay podría convertirse en una alternativa al Canal de Panamá</a:t>
            </a:r>
            <a:r>
              <a:rPr lang="es-ES" sz="19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reduciendo hasta en 21 días las rutas hacia Asia. </a:t>
            </a:r>
            <a:r>
              <a:rPr lang="es-ES_tradnl"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rPr>
              <a:t>.</a:t>
            </a:r>
          </a:p>
        </p:txBody>
      </p:sp>
      <p:pic>
        <p:nvPicPr>
          <p:cNvPr id="3" name="Picture 2" descr="A map of the world with a route&#10;&#10;Description automatically generated">
            <a:extLst>
              <a:ext uri="{FF2B5EF4-FFF2-40B4-BE49-F238E27FC236}">
                <a16:creationId xmlns:a16="http://schemas.microsoft.com/office/drawing/2014/main" id="{46CF5C4F-10F0-E256-97AD-08C231B4E8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834" y="4787153"/>
            <a:ext cx="5864012" cy="1798313"/>
          </a:xfrm>
          <a:prstGeom prst="rect">
            <a:avLst/>
          </a:prstGeom>
        </p:spPr>
      </p:pic>
      <p:pic>
        <p:nvPicPr>
          <p:cNvPr id="5" name="Picture 4" descr="A map of the world&#10;&#10;Description automatically generated">
            <a:extLst>
              <a:ext uri="{FF2B5EF4-FFF2-40B4-BE49-F238E27FC236}">
                <a16:creationId xmlns:a16="http://schemas.microsoft.com/office/drawing/2014/main" id="{A9BBF52B-DA3E-9029-B397-036E517777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1307" y="4805082"/>
            <a:ext cx="5864012" cy="1801158"/>
          </a:xfrm>
          <a:prstGeom prst="rect">
            <a:avLst/>
          </a:prstGeom>
        </p:spPr>
      </p:pic>
      <p:sp>
        <p:nvSpPr>
          <p:cNvPr id="11" name="TextBox 10">
            <a:extLst>
              <a:ext uri="{FF2B5EF4-FFF2-40B4-BE49-F238E27FC236}">
                <a16:creationId xmlns:a16="http://schemas.microsoft.com/office/drawing/2014/main" id="{E5C215FE-6BBA-803E-3F30-85B356994B4B}"/>
              </a:ext>
            </a:extLst>
          </p:cNvPr>
          <p:cNvSpPr txBox="1"/>
          <p:nvPr/>
        </p:nvSpPr>
        <p:spPr>
          <a:xfrm>
            <a:off x="1402080" y="6507480"/>
            <a:ext cx="3685624" cy="646331"/>
          </a:xfrm>
          <a:prstGeom prst="rect">
            <a:avLst/>
          </a:prstGeom>
          <a:noFill/>
        </p:spPr>
        <p:txBody>
          <a:bodyPr wrap="none" rtlCol="0">
            <a:spAutoFit/>
          </a:bodyPr>
          <a:lstStyle/>
          <a:p>
            <a:r>
              <a:rPr lang="es-ES" sz="1800" b="1" kern="0">
                <a:solidFill>
                  <a:srgbClr val="1F4E79"/>
                </a:solidFill>
                <a:effectLst/>
                <a:latin typeface="Segoe UI" panose="020B0502040204020203" pitchFamily="34" charset="0"/>
                <a:ea typeface="Times New Roman" panose="02020603050405020304" pitchFamily="18" charset="0"/>
              </a:rPr>
              <a:t>Corredor Ferroviario Bioceánico</a:t>
            </a:r>
            <a:r>
              <a:rPr lang="en-CH" b="1">
                <a:effectLst/>
              </a:rPr>
              <a:t> </a:t>
            </a:r>
            <a:endParaRPr lang="en-CH" b="1"/>
          </a:p>
          <a:p>
            <a:endParaRPr lang="en-CH"/>
          </a:p>
        </p:txBody>
      </p:sp>
      <p:sp>
        <p:nvSpPr>
          <p:cNvPr id="13" name="TextBox 12">
            <a:extLst>
              <a:ext uri="{FF2B5EF4-FFF2-40B4-BE49-F238E27FC236}">
                <a16:creationId xmlns:a16="http://schemas.microsoft.com/office/drawing/2014/main" id="{06C0E394-F12A-04AC-EA4E-26C9CE6ECD3D}"/>
              </a:ext>
            </a:extLst>
          </p:cNvPr>
          <p:cNvSpPr txBox="1"/>
          <p:nvPr/>
        </p:nvSpPr>
        <p:spPr>
          <a:xfrm>
            <a:off x="7924032" y="6477000"/>
            <a:ext cx="1858201" cy="646331"/>
          </a:xfrm>
          <a:prstGeom prst="rect">
            <a:avLst/>
          </a:prstGeom>
          <a:noFill/>
        </p:spPr>
        <p:txBody>
          <a:bodyPr wrap="none" rtlCol="0">
            <a:spAutoFit/>
          </a:bodyPr>
          <a:lstStyle/>
          <a:p>
            <a:r>
              <a:rPr lang="es-ES" sz="1800" b="1">
                <a:solidFill>
                  <a:srgbClr val="1F4E79"/>
                </a:solidFill>
                <a:effectLst/>
                <a:latin typeface="Segoe UI" panose="020B0502040204020203" pitchFamily="34" charset="0"/>
                <a:ea typeface="Times New Roman" panose="02020603050405020304" pitchFamily="18" charset="0"/>
              </a:rPr>
              <a:t>Ruta de la Seda</a:t>
            </a:r>
            <a:endParaRPr lang="en-CH" sz="3200" b="1">
              <a:effectLst/>
              <a:latin typeface="Times New Roman" panose="02020603050405020304" pitchFamily="18" charset="0"/>
              <a:ea typeface="Times New Roman" panose="02020603050405020304" pitchFamily="18" charset="0"/>
            </a:endParaRPr>
          </a:p>
          <a:p>
            <a:endParaRPr lang="en-CH"/>
          </a:p>
        </p:txBody>
      </p:sp>
      <p:sp>
        <p:nvSpPr>
          <p:cNvPr id="8" name="Google Shape;423;p7">
            <a:extLst>
              <a:ext uri="{FF2B5EF4-FFF2-40B4-BE49-F238E27FC236}">
                <a16:creationId xmlns:a16="http://schemas.microsoft.com/office/drawing/2014/main" id="{87627B6E-3566-8BBB-8A90-01AE1FCAC79C}"/>
              </a:ext>
            </a:extLst>
          </p:cNvPr>
          <p:cNvSpPr/>
          <p:nvPr/>
        </p:nvSpPr>
        <p:spPr>
          <a:xfrm>
            <a:off x="0" y="25341"/>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endParaRPr lang="en-GB" sz="2800" b="1" i="1" kern="0" dirty="0">
              <a:solidFill>
                <a:schemeClr val="bg1"/>
              </a:solidFill>
              <a:effectLst/>
              <a:latin typeface="Montserrat" pitchFamily="2" charset="77"/>
              <a:ea typeface="Times New Roman" panose="02020603050405020304" pitchFamily="18" charset="0"/>
            </a:endParaRPr>
          </a:p>
          <a:p>
            <a:pPr algn="ctr"/>
            <a:r>
              <a:rPr lang="es-ES" sz="2800" b="1" i="1" kern="0" dirty="0">
                <a:solidFill>
                  <a:schemeClr val="bg1"/>
                </a:solidFill>
                <a:latin typeface="Segoe UI" panose="020B0502040204020203" pitchFamily="34" charset="0"/>
                <a:ea typeface="Times New Roman" panose="02020603050405020304" pitchFamily="18" charset="0"/>
                <a:cs typeface="Segoe UI" panose="020B0502040204020203" pitchFamily="34" charset="0"/>
              </a:rPr>
              <a:t>3.</a:t>
            </a:r>
            <a:r>
              <a:rPr lang="es-ES" sz="2800" b="1" dirty="0">
                <a:solidFill>
                  <a:schemeClr val="bg1"/>
                </a:solidFill>
                <a:effectLst/>
                <a:latin typeface="Segoe UI" panose="020B0502040204020203" pitchFamily="34" charset="0"/>
                <a:ea typeface="Times New Roman" panose="02020603050405020304" pitchFamily="18" charset="0"/>
              </a:rPr>
              <a:t> </a:t>
            </a:r>
            <a:r>
              <a:rPr lang="es-ES_tradnl" sz="24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Corredor Ferroviario Bioceánico</a:t>
            </a:r>
            <a:r>
              <a:rPr lang="es-ES_tradnl" sz="2400"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4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Conectividad Estratégica Continental</a:t>
            </a:r>
            <a:endParaRPr lang="es-ES" sz="2800" b="1" dirty="0">
              <a:solidFill>
                <a:schemeClr val="bg1"/>
              </a:solidFill>
              <a:effectLst/>
              <a:latin typeface="Segoe UI" panose="020B0502040204020203" pitchFamily="34" charset="0"/>
              <a:ea typeface="Times New Roman" panose="02020603050405020304" pitchFamily="18" charset="0"/>
            </a:endParaRPr>
          </a:p>
          <a:p>
            <a:pPr algn="ctr"/>
            <a:endParaRPr lang="es-ES_tradnl" sz="2800" b="1" i="0" u="none" strike="noStrike" dirty="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196963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2500921"/>
            <a:ext cx="6309552" cy="1446550"/>
          </a:xfrm>
          <a:prstGeom prst="rect">
            <a:avLst/>
          </a:prstGeom>
        </p:spPr>
        <p:txBody>
          <a:bodyPr wrap="square">
            <a:spAutoFit/>
          </a:bodyPr>
          <a:lstStyle/>
          <a:p>
            <a:pPr algn="ctr"/>
            <a:r>
              <a:rPr lang="en-US" sz="4400" b="1" i="1" kern="1200" dirty="0" err="1">
                <a:solidFill>
                  <a:schemeClr val="accent5">
                    <a:lumMod val="50000"/>
                  </a:schemeClr>
                </a:solidFill>
                <a:effectLst/>
                <a:latin typeface="Segoe UI" panose="020B0502040204020203" pitchFamily="34" charset="0"/>
                <a:ea typeface="+mj-ea"/>
                <a:cs typeface="Segoe UI" panose="020B0502040204020203" pitchFamily="34" charset="0"/>
              </a:rPr>
              <a:t>Ciberseguridad</a:t>
            </a:r>
            <a:r>
              <a:rPr lang="en-US" sz="4400" b="1" i="1" kern="1200" dirty="0">
                <a:solidFill>
                  <a:schemeClr val="accent5">
                    <a:lumMod val="50000"/>
                  </a:schemeClr>
                </a:solidFill>
                <a:effectLst/>
                <a:latin typeface="Segoe UI" panose="020B0502040204020203" pitchFamily="34" charset="0"/>
                <a:ea typeface="+mj-ea"/>
                <a:cs typeface="Segoe UI" panose="020B0502040204020203" pitchFamily="34" charset="0"/>
              </a:rPr>
              <a:t> </a:t>
            </a:r>
            <a:r>
              <a:rPr lang="en-US" sz="4400" b="1" i="1" kern="1200" dirty="0" err="1">
                <a:solidFill>
                  <a:schemeClr val="accent5">
                    <a:lumMod val="50000"/>
                  </a:schemeClr>
                </a:solidFill>
                <a:effectLst/>
                <a:latin typeface="Segoe UI" panose="020B0502040204020203" pitchFamily="34" charset="0"/>
                <a:ea typeface="+mj-ea"/>
                <a:cs typeface="Segoe UI" panose="020B0502040204020203" pitchFamily="34" charset="0"/>
              </a:rPr>
              <a:t>en</a:t>
            </a:r>
            <a:r>
              <a:rPr lang="en-US" sz="4400" b="1" i="1" kern="1200" dirty="0">
                <a:solidFill>
                  <a:schemeClr val="accent5">
                    <a:lumMod val="50000"/>
                  </a:schemeClr>
                </a:solidFill>
                <a:effectLst/>
                <a:latin typeface="Segoe UI" panose="020B0502040204020203" pitchFamily="34" charset="0"/>
                <a:ea typeface="+mj-ea"/>
                <a:cs typeface="Segoe UI" panose="020B0502040204020203" pitchFamily="34" charset="0"/>
              </a:rPr>
              <a:t> la </a:t>
            </a:r>
            <a:r>
              <a:rPr lang="en-US" sz="4400" b="1" i="1" dirty="0">
                <a:solidFill>
                  <a:schemeClr val="accent5">
                    <a:lumMod val="50000"/>
                  </a:schemeClr>
                </a:solidFill>
                <a:latin typeface="Segoe UI" panose="020B0502040204020203" pitchFamily="34" charset="0"/>
                <a:ea typeface="+mj-ea"/>
                <a:cs typeface="Segoe UI" panose="020B0502040204020203" pitchFamily="34" charset="0"/>
              </a:rPr>
              <a:t>e</a:t>
            </a:r>
            <a:r>
              <a:rPr lang="en-US" sz="4400" b="1" kern="1200" dirty="0">
                <a:solidFill>
                  <a:schemeClr val="accent5">
                    <a:lumMod val="50000"/>
                  </a:schemeClr>
                </a:solidFill>
                <a:effectLst/>
                <a:latin typeface="Segoe UI" panose="020B0502040204020203" pitchFamily="34" charset="0"/>
                <a:ea typeface="+mj-ea"/>
                <a:cs typeface="Segoe UI" panose="020B0502040204020203" pitchFamily="34" charset="0"/>
              </a:rPr>
              <a:t>ra de la IA</a:t>
            </a:r>
            <a:endParaRPr lang="en-CH" sz="4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p:txBody>
      </p:sp>
      <p:sp>
        <p:nvSpPr>
          <p:cNvPr id="8" name="TextBox 7"/>
          <p:cNvSpPr txBox="1"/>
          <p:nvPr/>
        </p:nvSpPr>
        <p:spPr>
          <a:xfrm>
            <a:off x="1876778" y="4924778"/>
            <a:ext cx="184666" cy="369332"/>
          </a:xfrm>
          <a:prstGeom prst="rect">
            <a:avLst/>
          </a:prstGeom>
          <a:noFill/>
        </p:spPr>
        <p:txBody>
          <a:bodyPr wrap="none" rtlCol="0">
            <a:spAutoFit/>
          </a:bodyPr>
          <a:lstStyle/>
          <a:p>
            <a:endParaRPr lang="en-US" dirty="0"/>
          </a:p>
        </p:txBody>
      </p:sp>
      <p:sp>
        <p:nvSpPr>
          <p:cNvPr id="4" name="Slide Number Placeholder 3"/>
          <p:cNvSpPr>
            <a:spLocks noGrp="1"/>
          </p:cNvSpPr>
          <p:nvPr>
            <p:ph type="sldNum" sz="quarter" idx="12"/>
          </p:nvPr>
        </p:nvSpPr>
        <p:spPr/>
        <p:txBody>
          <a:bodyPr/>
          <a:lstStyle/>
          <a:p>
            <a:fld id="{D739C4FB-7D33-419B-8833-D1372BFD11C8}" type="slidenum">
              <a:rPr lang="en-US" smtClean="0"/>
              <a:t>29</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2655907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84DF69-7B0B-3BF6-940A-C17AC90023AB}"/>
              </a:ext>
            </a:extLst>
          </p:cNvPr>
          <p:cNvSpPr txBox="1"/>
          <p:nvPr/>
        </p:nvSpPr>
        <p:spPr>
          <a:xfrm>
            <a:off x="33176" y="818328"/>
            <a:ext cx="4989958" cy="5884474"/>
          </a:xfrm>
          <a:prstGeom prst="rect">
            <a:avLst/>
          </a:prstGeom>
        </p:spPr>
        <p:txBody>
          <a:bodyPr vert="horz" lIns="91440" tIns="45720" rIns="91440" bIns="45720" rtlCol="0" anchor="t">
            <a:noAutofit/>
          </a:bodyPr>
          <a:lstStyle/>
          <a:p>
            <a:pPr algn="ctr">
              <a:lnSpc>
                <a:spcPct val="90000"/>
              </a:lnSpc>
              <a:spcAft>
                <a:spcPts val="600"/>
              </a:spcAft>
            </a:pPr>
            <a:r>
              <a:rPr lang="es-ES_tradnl" b="1" dirty="0">
                <a:solidFill>
                  <a:schemeClr val="accent5">
                    <a:lumMod val="50000"/>
                  </a:schemeClr>
                </a:solidFill>
                <a:effectLst/>
                <a:latin typeface="Segoe UI" panose="020B0502040204020203" pitchFamily="34" charset="0"/>
                <a:cs typeface="Segoe UI" panose="020B0502040204020203" pitchFamily="34" charset="0"/>
              </a:rPr>
              <a:t>La ciberseguridad</a:t>
            </a:r>
            <a:r>
              <a:rPr lang="es-ES_tradnl" dirty="0">
                <a:solidFill>
                  <a:schemeClr val="accent5">
                    <a:lumMod val="50000"/>
                  </a:schemeClr>
                </a:solidFill>
                <a:effectLst/>
                <a:latin typeface="Segoe UI" panose="020B0502040204020203" pitchFamily="34" charset="0"/>
                <a:cs typeface="Segoe UI" panose="020B0502040204020203" pitchFamily="34" charset="0"/>
              </a:rPr>
              <a:t> </a:t>
            </a:r>
            <a:r>
              <a:rPr lang="es-ES_tradnl" b="1" dirty="0">
                <a:solidFill>
                  <a:schemeClr val="accent5">
                    <a:lumMod val="50000"/>
                  </a:schemeClr>
                </a:solidFill>
                <a:effectLst/>
                <a:latin typeface="Segoe UI" panose="020B0502040204020203" pitchFamily="34" charset="0"/>
                <a:cs typeface="Segoe UI" panose="020B0502040204020203" pitchFamily="34" charset="0"/>
              </a:rPr>
              <a:t>no es una opción: </a:t>
            </a:r>
          </a:p>
          <a:p>
            <a:pPr algn="ctr">
              <a:lnSpc>
                <a:spcPct val="90000"/>
              </a:lnSpc>
              <a:spcAft>
                <a:spcPts val="600"/>
              </a:spcAft>
            </a:pPr>
            <a:r>
              <a:rPr lang="es-ES_tradnl" b="1" dirty="0">
                <a:solidFill>
                  <a:schemeClr val="accent5">
                    <a:lumMod val="50000"/>
                  </a:schemeClr>
                </a:solidFill>
                <a:effectLst/>
                <a:latin typeface="Segoe UI" panose="020B0502040204020203" pitchFamily="34" charset="0"/>
                <a:cs typeface="Segoe UI" panose="020B0502040204020203" pitchFamily="34" charset="0"/>
              </a:rPr>
              <a:t>es un imperativo estratégico</a:t>
            </a:r>
            <a:r>
              <a:rPr lang="es-ES_tradnl" dirty="0">
                <a:solidFill>
                  <a:schemeClr val="accent5">
                    <a:lumMod val="50000"/>
                  </a:schemeClr>
                </a:solidFill>
                <a:effectLst/>
                <a:latin typeface="Segoe UI" panose="020B0502040204020203" pitchFamily="34" charset="0"/>
                <a:cs typeface="Segoe UI" panose="020B0502040204020203" pitchFamily="34" charset="0"/>
              </a:rPr>
              <a:t>. </a:t>
            </a:r>
          </a:p>
          <a:p>
            <a:pPr algn="ctr">
              <a:lnSpc>
                <a:spcPct val="90000"/>
              </a:lnSpc>
              <a:spcAft>
                <a:spcPts val="600"/>
              </a:spcAft>
            </a:pPr>
            <a:endParaRPr lang="es-ES_tradnl" sz="1000" dirty="0">
              <a:solidFill>
                <a:schemeClr val="accent5">
                  <a:lumMod val="50000"/>
                </a:schemeClr>
              </a:solidFill>
              <a:effectLst/>
              <a:latin typeface="Segoe UI" panose="020B0502040204020203" pitchFamily="34" charset="0"/>
              <a:cs typeface="Segoe UI" panose="020B0502040204020203" pitchFamily="34" charset="0"/>
            </a:endParaRPr>
          </a:p>
          <a:p>
            <a:pPr algn="ctr">
              <a:lnSpc>
                <a:spcPct val="90000"/>
              </a:lnSpc>
              <a:spcAft>
                <a:spcPts val="600"/>
              </a:spcAft>
            </a:pPr>
            <a:r>
              <a:rPr lang="es-ES_tradnl" b="1" dirty="0">
                <a:solidFill>
                  <a:srgbClr val="C00000"/>
                </a:solidFill>
                <a:effectLst/>
                <a:latin typeface="Segoe UI" panose="020B0502040204020203" pitchFamily="34" charset="0"/>
                <a:cs typeface="Segoe UI" panose="020B0502040204020203" pitchFamily="34" charset="0"/>
              </a:rPr>
              <a:t>Puertos inteligentes, diseñados con IA</a:t>
            </a:r>
            <a:r>
              <a:rPr lang="es-ES_tradnl" dirty="0">
                <a:solidFill>
                  <a:schemeClr val="accent5">
                    <a:lumMod val="50000"/>
                  </a:schemeClr>
                </a:solidFill>
                <a:effectLst/>
                <a:latin typeface="Segoe UI" panose="020B0502040204020203" pitchFamily="34" charset="0"/>
                <a:cs typeface="Segoe UI" panose="020B0502040204020203" pitchFamily="34" charset="0"/>
              </a:rPr>
              <a:t>, automatización, y flujos logísticos digitales, </a:t>
            </a:r>
            <a:r>
              <a:rPr lang="es-ES_tradnl" b="1" dirty="0">
                <a:solidFill>
                  <a:srgbClr val="C00000"/>
                </a:solidFill>
                <a:effectLst/>
                <a:latin typeface="Segoe UI" panose="020B0502040204020203" pitchFamily="34" charset="0"/>
                <a:cs typeface="Segoe UI" panose="020B0502040204020203" pitchFamily="34" charset="0"/>
              </a:rPr>
              <a:t>enfrentan riesgos cibernéticos</a:t>
            </a:r>
            <a:r>
              <a:rPr lang="es-ES_tradnl" dirty="0">
                <a:solidFill>
                  <a:schemeClr val="accent5">
                    <a:lumMod val="50000"/>
                  </a:schemeClr>
                </a:solidFill>
                <a:effectLst/>
                <a:latin typeface="Segoe UI" panose="020B0502040204020203" pitchFamily="34" charset="0"/>
                <a:cs typeface="Segoe UI" panose="020B0502040204020203" pitchFamily="34" charset="0"/>
              </a:rPr>
              <a:t> que podrían </a:t>
            </a:r>
            <a:r>
              <a:rPr lang="es-ES_tradnl" b="1" dirty="0">
                <a:solidFill>
                  <a:schemeClr val="accent5">
                    <a:lumMod val="50000"/>
                  </a:schemeClr>
                </a:solidFill>
                <a:effectLst/>
                <a:latin typeface="Segoe UI" panose="020B0502040204020203" pitchFamily="34" charset="0"/>
                <a:cs typeface="Segoe UI" panose="020B0502040204020203" pitchFamily="34" charset="0"/>
              </a:rPr>
              <a:t>paralizar operaciones, comprometer datos críticos y generar consecuencias económicas y geopolíticas críticas</a:t>
            </a:r>
            <a:r>
              <a:rPr lang="es-ES_tradnl" sz="1600" dirty="0">
                <a:solidFill>
                  <a:schemeClr val="accent5">
                    <a:lumMod val="50000"/>
                  </a:schemeClr>
                </a:solidFill>
                <a:effectLst/>
                <a:latin typeface="Segoe UI" panose="020B0502040204020203" pitchFamily="34" charset="0"/>
                <a:cs typeface="Segoe UI" panose="020B0502040204020203" pitchFamily="34" charset="0"/>
              </a:rPr>
              <a:t>. </a:t>
            </a:r>
            <a:endParaRPr lang="es-ES_tradnl" sz="1600" dirty="0">
              <a:solidFill>
                <a:schemeClr val="accent5">
                  <a:lumMod val="50000"/>
                </a:schemeClr>
              </a:solidFill>
              <a:latin typeface="Segoe UI" panose="020B0502040204020203" pitchFamily="34" charset="0"/>
              <a:cs typeface="Segoe UI" panose="020B0502040204020203" pitchFamily="34" charset="0"/>
            </a:endParaRPr>
          </a:p>
          <a:p>
            <a:pPr algn="ctr">
              <a:lnSpc>
                <a:spcPct val="90000"/>
              </a:lnSpc>
              <a:spcAft>
                <a:spcPts val="600"/>
              </a:spcAft>
            </a:pPr>
            <a:endParaRPr lang="es-ES_tradnl" sz="1000" dirty="0">
              <a:solidFill>
                <a:schemeClr val="accent5">
                  <a:lumMod val="50000"/>
                </a:schemeClr>
              </a:solidFill>
              <a:latin typeface="Segoe UI" panose="020B0502040204020203" pitchFamily="34" charset="0"/>
              <a:cs typeface="Segoe UI" panose="020B0502040204020203" pitchFamily="34" charset="0"/>
            </a:endParaRPr>
          </a:p>
          <a:p>
            <a:pPr algn="ctr">
              <a:lnSpc>
                <a:spcPct val="90000"/>
              </a:lnSpc>
              <a:spcAft>
                <a:spcPts val="600"/>
              </a:spcAft>
            </a:pPr>
            <a:r>
              <a:rPr lang="es-ES_tradnl" b="1" dirty="0">
                <a:solidFill>
                  <a:srgbClr val="00B0F0"/>
                </a:solidFill>
                <a:effectLst/>
                <a:latin typeface="Segoe UI" panose="020B0502040204020203" pitchFamily="34" charset="0"/>
                <a:cs typeface="Segoe UI" panose="020B0502040204020203" pitchFamily="34" charset="0"/>
              </a:rPr>
              <a:t>Ninguna infraestructura digital está a salvo sin una arquitectura de ciberseguridad robusta</a:t>
            </a:r>
            <a:r>
              <a:rPr lang="es-ES_tradnl" dirty="0">
                <a:solidFill>
                  <a:schemeClr val="accent5">
                    <a:lumMod val="50000"/>
                  </a:schemeClr>
                </a:solidFill>
                <a:effectLst/>
                <a:latin typeface="Segoe UI" panose="020B0502040204020203" pitchFamily="34" charset="0"/>
                <a:cs typeface="Segoe UI" panose="020B0502040204020203" pitchFamily="34" charset="0"/>
              </a:rPr>
              <a:t>. Un solo incidente podría interrumpir cadenas globales de suministro, causar pérdidas multimillonarias y erosionar la confianza internacional</a:t>
            </a:r>
            <a:r>
              <a:rPr lang="es-ES_tradnl" sz="1600" dirty="0">
                <a:solidFill>
                  <a:schemeClr val="accent5">
                    <a:lumMod val="50000"/>
                  </a:schemeClr>
                </a:solidFill>
                <a:effectLst/>
                <a:latin typeface="Segoe UI" panose="020B0502040204020203" pitchFamily="34" charset="0"/>
                <a:cs typeface="Segoe UI" panose="020B0502040204020203" pitchFamily="34" charset="0"/>
              </a:rPr>
              <a:t>. </a:t>
            </a:r>
          </a:p>
          <a:p>
            <a:pPr algn="ctr">
              <a:lnSpc>
                <a:spcPct val="90000"/>
              </a:lnSpc>
              <a:spcAft>
                <a:spcPts val="600"/>
              </a:spcAft>
            </a:pPr>
            <a:endParaRPr lang="es-ES_tradnl" sz="1000" dirty="0">
              <a:solidFill>
                <a:schemeClr val="accent5">
                  <a:lumMod val="50000"/>
                </a:schemeClr>
              </a:solidFill>
              <a:latin typeface="Segoe UI" panose="020B0502040204020203" pitchFamily="34" charset="0"/>
              <a:cs typeface="Segoe UI" panose="020B0502040204020203" pitchFamily="34" charset="0"/>
            </a:endParaRPr>
          </a:p>
          <a:p>
            <a:pPr algn="ctr">
              <a:lnSpc>
                <a:spcPct val="90000"/>
              </a:lnSpc>
              <a:spcAft>
                <a:spcPts val="600"/>
              </a:spcAft>
            </a:pPr>
            <a:r>
              <a:rPr lang="es-ES_tradnl" b="1" dirty="0">
                <a:solidFill>
                  <a:schemeClr val="accent5">
                    <a:lumMod val="50000"/>
                  </a:schemeClr>
                </a:solidFill>
                <a:effectLst/>
                <a:latin typeface="Segoe UI" panose="020B0502040204020203" pitchFamily="34" charset="0"/>
                <a:cs typeface="Segoe UI" panose="020B0502040204020203" pitchFamily="34" charset="0"/>
              </a:rPr>
              <a:t>Proteger digitalmente a Chancay</a:t>
            </a:r>
            <a:r>
              <a:rPr lang="es-ES_tradnl" dirty="0">
                <a:solidFill>
                  <a:schemeClr val="accent5">
                    <a:lumMod val="50000"/>
                  </a:schemeClr>
                </a:solidFill>
                <a:effectLst/>
                <a:latin typeface="Segoe UI" panose="020B0502040204020203" pitchFamily="34" charset="0"/>
                <a:cs typeface="Segoe UI" panose="020B0502040204020203" pitchFamily="34" charset="0"/>
              </a:rPr>
              <a:t> no es solo </a:t>
            </a:r>
            <a:r>
              <a:rPr lang="es-ES_tradnl" dirty="0">
                <a:solidFill>
                  <a:srgbClr val="C00000"/>
                </a:solidFill>
                <a:effectLst/>
                <a:latin typeface="Segoe UI" panose="020B0502040204020203" pitchFamily="34" charset="0"/>
                <a:cs typeface="Segoe UI" panose="020B0502040204020203" pitchFamily="34" charset="0"/>
              </a:rPr>
              <a:t>una cuestión técnica: es garantizar soberanía</a:t>
            </a:r>
            <a:r>
              <a:rPr lang="es-ES_tradnl" dirty="0">
                <a:solidFill>
                  <a:schemeClr val="accent5">
                    <a:lumMod val="50000"/>
                  </a:schemeClr>
                </a:solidFill>
                <a:effectLst/>
                <a:latin typeface="Segoe UI" panose="020B0502040204020203" pitchFamily="34" charset="0"/>
                <a:cs typeface="Segoe UI" panose="020B0502040204020203" pitchFamily="34" charset="0"/>
              </a:rPr>
              <a:t>, competitividad y legitimidad como nodo confiable en las cadenas logísticas globales</a:t>
            </a:r>
            <a:endParaRPr lang="es-ES_tradnl" sz="1000" dirty="0">
              <a:solidFill>
                <a:schemeClr val="accent5">
                  <a:lumMod val="50000"/>
                </a:schemeClr>
              </a:solidFill>
              <a:latin typeface="Segoe UI" panose="020B0502040204020203" pitchFamily="34" charset="0"/>
              <a:cs typeface="Segoe UI" panose="020B0502040204020203" pitchFamily="34" charset="0"/>
            </a:endParaRPr>
          </a:p>
          <a:p>
            <a:pPr algn="ctr">
              <a:lnSpc>
                <a:spcPct val="90000"/>
              </a:lnSpc>
              <a:spcAft>
                <a:spcPts val="600"/>
              </a:spcAft>
            </a:pPr>
            <a:r>
              <a:rPr lang="es-ES_tradnl" sz="1700" dirty="0">
                <a:solidFill>
                  <a:schemeClr val="accent5">
                    <a:lumMod val="50000"/>
                  </a:schemeClr>
                </a:solidFill>
                <a:effectLst/>
                <a:latin typeface="Segoe UI" panose="020B0502040204020203" pitchFamily="34" charset="0"/>
                <a:cs typeface="Segoe UI" panose="020B0502040204020203" pitchFamily="34" charset="0"/>
              </a:rPr>
              <a:t>. </a:t>
            </a:r>
          </a:p>
        </p:txBody>
      </p:sp>
      <p:sp>
        <p:nvSpPr>
          <p:cNvPr id="2" name="Slide Number Placeholder 1">
            <a:extLst>
              <a:ext uri="{FF2B5EF4-FFF2-40B4-BE49-F238E27FC236}">
                <a16:creationId xmlns:a16="http://schemas.microsoft.com/office/drawing/2014/main" id="{0F6350DF-69DA-786E-2E96-09D2D7B260F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897FFF3-9BE7-6F4B-AB28-3A1D192ED757}" type="slidenum">
              <a:rPr lang="en-US">
                <a:solidFill>
                  <a:schemeClr val="tx1">
                    <a:lumMod val="50000"/>
                    <a:lumOff val="50000"/>
                  </a:schemeClr>
                </a:solidFill>
              </a:rPr>
              <a:pPr>
                <a:spcAft>
                  <a:spcPts val="600"/>
                </a:spcAft>
              </a:pPr>
              <a:t>30</a:t>
            </a:fld>
            <a:endParaRPr lang="en-US">
              <a:solidFill>
                <a:schemeClr val="tx1">
                  <a:lumMod val="50000"/>
                  <a:lumOff val="50000"/>
                </a:schemeClr>
              </a:solidFill>
            </a:endParaRPr>
          </a:p>
        </p:txBody>
      </p:sp>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68726C73-BC30-A608-C474-680E4BB320FF}"/>
              </a:ext>
            </a:extLst>
          </p:cNvPr>
          <p:cNvGraphicFramePr>
            <a:graphicFrameLocks noGrp="1"/>
          </p:cNvGraphicFramePr>
          <p:nvPr>
            <p:extLst>
              <p:ext uri="{D42A27DB-BD31-4B8C-83A1-F6EECF244321}">
                <p14:modId xmlns:p14="http://schemas.microsoft.com/office/powerpoint/2010/main" val="1498098481"/>
              </p:ext>
            </p:extLst>
          </p:nvPr>
        </p:nvGraphicFramePr>
        <p:xfrm>
          <a:off x="5023134" y="1273644"/>
          <a:ext cx="6968812" cy="3827919"/>
        </p:xfrm>
        <a:graphic>
          <a:graphicData uri="http://schemas.openxmlformats.org/drawingml/2006/table">
            <a:tbl>
              <a:tblPr firstRow="1" firstCol="1" bandRow="1">
                <a:solidFill>
                  <a:srgbClr val="F2F2F2">
                    <a:alpha val="30196"/>
                  </a:srgbClr>
                </a:solidFill>
                <a:tableStyleId>{5C22544A-7EE6-4342-B048-85BDC9FD1C3A}</a:tableStyleId>
              </a:tblPr>
              <a:tblGrid>
                <a:gridCol w="258690">
                  <a:extLst>
                    <a:ext uri="{9D8B030D-6E8A-4147-A177-3AD203B41FA5}">
                      <a16:colId xmlns:a16="http://schemas.microsoft.com/office/drawing/2014/main" val="205598525"/>
                    </a:ext>
                  </a:extLst>
                </a:gridCol>
                <a:gridCol w="1413444">
                  <a:extLst>
                    <a:ext uri="{9D8B030D-6E8A-4147-A177-3AD203B41FA5}">
                      <a16:colId xmlns:a16="http://schemas.microsoft.com/office/drawing/2014/main" val="2701375217"/>
                    </a:ext>
                  </a:extLst>
                </a:gridCol>
                <a:gridCol w="5296678">
                  <a:extLst>
                    <a:ext uri="{9D8B030D-6E8A-4147-A177-3AD203B41FA5}">
                      <a16:colId xmlns:a16="http://schemas.microsoft.com/office/drawing/2014/main" val="856355903"/>
                    </a:ext>
                  </a:extLst>
                </a:gridCol>
              </a:tblGrid>
              <a:tr h="517789">
                <a:tc>
                  <a:txBody>
                    <a:bodyPr/>
                    <a:lstStyle/>
                    <a:p>
                      <a:pPr algn="just"/>
                      <a:r>
                        <a:rPr lang="es-ES" sz="1600" b="0" kern="100" cap="none" spc="0" dirty="0">
                          <a:solidFill>
                            <a:schemeClr val="bg1"/>
                          </a:solidFill>
                          <a:effectLst/>
                          <a:latin typeface="Segoe UI" panose="020B0502040204020203" pitchFamily="34" charset="0"/>
                          <a:cs typeface="Segoe UI" panose="020B0502040204020203" pitchFamily="34" charset="0"/>
                        </a:rPr>
                        <a:t>1</a:t>
                      </a:r>
                      <a:endParaRPr lang="en-CH" sz="1600" b="0" kern="100" cap="none" spc="0"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just"/>
                      <a:r>
                        <a:rPr lang="es-ES" sz="1600" b="1" kern="100" cap="none" spc="0" dirty="0">
                          <a:solidFill>
                            <a:schemeClr val="bg1"/>
                          </a:solidFill>
                          <a:effectLst/>
                          <a:latin typeface="Segoe UI" panose="020B0502040204020203" pitchFamily="34" charset="0"/>
                          <a:cs typeface="Segoe UI" panose="020B0502040204020203" pitchFamily="34" charset="0"/>
                        </a:rPr>
                        <a:t>Diseñar </a:t>
                      </a:r>
                      <a:endParaRPr lang="en-CH" sz="1600" b="1" kern="100" cap="none" spc="0"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nchor="ctr">
                    <a:lnL w="12700" cmpd="sng">
                      <a:noFill/>
                    </a:lnL>
                    <a:lnR w="12700" cmpd="sng">
                      <a:noFill/>
                    </a:lnR>
                    <a:lnT w="19050" cap="flat" cmpd="sng" algn="ctr">
                      <a:noFill/>
                      <a:prstDash val="solid"/>
                    </a:lnT>
                    <a:lnB w="38100" cmpd="sng">
                      <a:noFill/>
                    </a:lnB>
                    <a:solidFill>
                      <a:schemeClr val="accent1"/>
                    </a:solidFill>
                  </a:tcPr>
                </a:tc>
                <a:tc>
                  <a:txBody>
                    <a:bodyPr/>
                    <a:lstStyle/>
                    <a:p>
                      <a:pPr algn="l"/>
                      <a:r>
                        <a:rPr lang="es-ES" sz="1600" b="0" kern="100" cap="none" spc="0" dirty="0">
                          <a:solidFill>
                            <a:schemeClr val="bg1"/>
                          </a:solidFill>
                          <a:effectLst/>
                          <a:latin typeface="Segoe UI" panose="020B0502040204020203" pitchFamily="34" charset="0"/>
                          <a:cs typeface="Segoe UI" panose="020B0502040204020203" pitchFamily="34" charset="0"/>
                        </a:rPr>
                        <a:t>Ciberseguridad desde el origen (</a:t>
                      </a:r>
                      <a:r>
                        <a:rPr lang="es-ES" sz="1600" b="0" kern="100" cap="none" spc="0" dirty="0" err="1">
                          <a:solidFill>
                            <a:schemeClr val="bg1"/>
                          </a:solidFill>
                          <a:effectLst/>
                          <a:latin typeface="Segoe UI" panose="020B0502040204020203" pitchFamily="34" charset="0"/>
                          <a:cs typeface="Segoe UI" panose="020B0502040204020203" pitchFamily="34" charset="0"/>
                        </a:rPr>
                        <a:t>by</a:t>
                      </a:r>
                      <a:r>
                        <a:rPr lang="es-ES" sz="1600" b="0" kern="100" cap="none" spc="0" dirty="0">
                          <a:solidFill>
                            <a:schemeClr val="bg1"/>
                          </a:solidFill>
                          <a:effectLst/>
                          <a:latin typeface="Segoe UI" panose="020B0502040204020203" pitchFamily="34" charset="0"/>
                          <a:cs typeface="Segoe UI" panose="020B0502040204020203" pitchFamily="34" charset="0"/>
                        </a:rPr>
                        <a:t> </a:t>
                      </a:r>
                      <a:r>
                        <a:rPr lang="es-ES" sz="1600" b="0" kern="100" cap="none" spc="0" dirty="0" err="1">
                          <a:solidFill>
                            <a:schemeClr val="bg1"/>
                          </a:solidFill>
                          <a:effectLst/>
                          <a:latin typeface="Segoe UI" panose="020B0502040204020203" pitchFamily="34" charset="0"/>
                          <a:cs typeface="Segoe UI" panose="020B0502040204020203" pitchFamily="34" charset="0"/>
                        </a:rPr>
                        <a:t>design</a:t>
                      </a:r>
                      <a:r>
                        <a:rPr lang="es-ES" sz="1600" b="0" kern="100" cap="none" spc="0" dirty="0">
                          <a:solidFill>
                            <a:schemeClr val="bg1"/>
                          </a:solidFill>
                          <a:effectLst/>
                          <a:latin typeface="Segoe UI" panose="020B0502040204020203" pitchFamily="34" charset="0"/>
                          <a:cs typeface="Segoe UI" panose="020B0502040204020203" pitchFamily="34" charset="0"/>
                        </a:rPr>
                        <a:t>), </a:t>
                      </a:r>
                    </a:p>
                    <a:p>
                      <a:pPr algn="just"/>
                      <a:r>
                        <a:rPr lang="es-ES" sz="1600" b="0" kern="100" cap="none" spc="0" dirty="0">
                          <a:solidFill>
                            <a:schemeClr val="bg1"/>
                          </a:solidFill>
                          <a:effectLst/>
                          <a:latin typeface="Segoe UI" panose="020B0502040204020203" pitchFamily="34" charset="0"/>
                          <a:cs typeface="Segoe UI" panose="020B0502040204020203" pitchFamily="34" charset="0"/>
                        </a:rPr>
                        <a:t>No como un parche reactivo.</a:t>
                      </a:r>
                      <a:endParaRPr lang="en-CH" sz="1600" b="0" kern="100" cap="none" spc="0"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016942048"/>
                  </a:ext>
                </a:extLst>
              </a:tr>
              <a:tr h="755573">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2</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just"/>
                      <a:r>
                        <a:rPr lang="es-ES" sz="1600" b="1" kern="100" cap="none" spc="0" dirty="0">
                          <a:solidFill>
                            <a:schemeClr val="accent5">
                              <a:lumMod val="50000"/>
                            </a:schemeClr>
                          </a:solidFill>
                          <a:effectLst/>
                          <a:latin typeface="Segoe UI" panose="020B0502040204020203" pitchFamily="34" charset="0"/>
                          <a:cs typeface="Segoe UI" panose="020B0502040204020203" pitchFamily="34" charset="0"/>
                        </a:rPr>
                        <a:t>Fomentar </a:t>
                      </a:r>
                      <a:endParaRPr lang="en-CH" sz="1600" b="1"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Coordinación activa entre el Estado, fuerzas armadas, operadores portuarios y empresas tecnológicas.</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2735237874"/>
                  </a:ext>
                </a:extLst>
              </a:tr>
              <a:tr h="755573">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3</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just"/>
                      <a:r>
                        <a:rPr lang="es-ES" sz="1600" b="1" kern="100" cap="none" spc="0" dirty="0">
                          <a:solidFill>
                            <a:schemeClr val="accent5">
                              <a:lumMod val="50000"/>
                            </a:schemeClr>
                          </a:solidFill>
                          <a:effectLst/>
                          <a:latin typeface="Segoe UI" panose="020B0502040204020203" pitchFamily="34" charset="0"/>
                          <a:cs typeface="Segoe UI" panose="020B0502040204020203" pitchFamily="34" charset="0"/>
                        </a:rPr>
                        <a:t>Establecer </a:t>
                      </a:r>
                      <a:endParaRPr lang="en-CH" sz="1600" b="1"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Centros de Respuesta ante Incidentes (CSIRT) especializados en infraestructura crítica.</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92555396"/>
                  </a:ext>
                </a:extLst>
              </a:tr>
              <a:tr h="755573">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4</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just"/>
                      <a:r>
                        <a:rPr lang="es-ES" sz="1600" b="1" kern="100" cap="none" spc="0" dirty="0">
                          <a:solidFill>
                            <a:schemeClr val="accent5">
                              <a:lumMod val="50000"/>
                            </a:schemeClr>
                          </a:solidFill>
                          <a:effectLst/>
                          <a:latin typeface="Segoe UI" panose="020B0502040204020203" pitchFamily="34" charset="0"/>
                          <a:cs typeface="Segoe UI" panose="020B0502040204020203" pitchFamily="34" charset="0"/>
                        </a:rPr>
                        <a:t>Invertir </a:t>
                      </a:r>
                      <a:endParaRPr lang="en-CH" sz="1600" b="1"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Sostenidamente en talento especializado y realizar simulacros regulares de ciberdefensa.</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953247466"/>
                  </a:ext>
                </a:extLst>
              </a:tr>
              <a:tr h="755573">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5</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just"/>
                      <a:r>
                        <a:rPr lang="es-ES" sz="1600" b="1" kern="100" cap="none" spc="0" dirty="0">
                          <a:solidFill>
                            <a:schemeClr val="accent5">
                              <a:lumMod val="50000"/>
                            </a:schemeClr>
                          </a:solidFill>
                          <a:effectLst/>
                          <a:latin typeface="Segoe UI" panose="020B0502040204020203" pitchFamily="34" charset="0"/>
                          <a:cs typeface="Segoe UI" panose="020B0502040204020203" pitchFamily="34" charset="0"/>
                        </a:rPr>
                        <a:t>Promulgar </a:t>
                      </a:r>
                      <a:endParaRPr lang="en-CH" sz="1600" b="1"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just"/>
                      <a:r>
                        <a:rPr lang="es-ES" sz="1600" kern="100" cap="none" spc="0" dirty="0">
                          <a:solidFill>
                            <a:schemeClr val="accent5">
                              <a:lumMod val="50000"/>
                            </a:schemeClr>
                          </a:solidFill>
                          <a:effectLst/>
                          <a:latin typeface="Segoe UI" panose="020B0502040204020203" pitchFamily="34" charset="0"/>
                          <a:cs typeface="Segoe UI" panose="020B0502040204020203" pitchFamily="34" charset="0"/>
                        </a:rPr>
                        <a:t>Políticas públicas, normas técnicas, programas de capacitación continua y mecanismos de supervisión rigurosos.</a:t>
                      </a:r>
                      <a:endParaRPr lang="en-CH" sz="1600" kern="100" cap="none" spc="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marL="147940" marR="85350" marT="85500" marB="85500">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671179780"/>
                  </a:ext>
                </a:extLst>
              </a:tr>
            </a:tbl>
          </a:graphicData>
        </a:graphic>
      </p:graphicFrame>
      <p:sp>
        <p:nvSpPr>
          <p:cNvPr id="6" name="Google Shape;423;p7">
            <a:extLst>
              <a:ext uri="{FF2B5EF4-FFF2-40B4-BE49-F238E27FC236}">
                <a16:creationId xmlns:a16="http://schemas.microsoft.com/office/drawing/2014/main" id="{A6DB5A3B-6A5B-D77A-4FE2-AF9D8E3903ED}"/>
              </a:ext>
            </a:extLst>
          </p:cNvPr>
          <p:cNvSpPr/>
          <p:nvPr/>
        </p:nvSpPr>
        <p:spPr>
          <a:xfrm>
            <a:off x="0" y="-10517"/>
            <a:ext cx="12192000" cy="599782"/>
          </a:xfrm>
          <a:prstGeom prst="rect">
            <a:avLst/>
          </a:prstGeom>
          <a:solidFill>
            <a:srgbClr val="C41927"/>
          </a:solidFill>
          <a:ln>
            <a:noFill/>
          </a:ln>
        </p:spPr>
        <p:txBody>
          <a:bodyPr spcFirstLastPara="1" wrap="square" lIns="91425" tIns="45700" rIns="91425" bIns="45700" anchor="ctr" anchorCtr="0">
            <a:noAutofit/>
          </a:bodyPr>
          <a:lstStyle/>
          <a:p>
            <a:pPr algn="ctr"/>
            <a:r>
              <a:rPr lang="en-US" sz="2800" b="1" i="1" kern="1200" dirty="0" err="1">
                <a:solidFill>
                  <a:schemeClr val="bg1"/>
                </a:solidFill>
                <a:effectLst/>
                <a:latin typeface="Segoe UI" panose="020B0502040204020203" pitchFamily="34" charset="0"/>
                <a:ea typeface="+mj-ea"/>
                <a:cs typeface="Segoe UI" panose="020B0502040204020203" pitchFamily="34" charset="0"/>
              </a:rPr>
              <a:t>Ciberseguridad</a:t>
            </a:r>
            <a:r>
              <a:rPr lang="en-US" sz="2800" b="1" i="1" kern="1200" dirty="0">
                <a:solidFill>
                  <a:schemeClr val="bg1"/>
                </a:solidFill>
                <a:effectLst/>
                <a:latin typeface="Segoe UI" panose="020B0502040204020203" pitchFamily="34" charset="0"/>
                <a:ea typeface="+mj-ea"/>
                <a:cs typeface="Segoe UI" panose="020B0502040204020203" pitchFamily="34" charset="0"/>
              </a:rPr>
              <a:t>: Pilar </a:t>
            </a:r>
            <a:r>
              <a:rPr lang="en-US" sz="2800" b="1" i="1" kern="1200" dirty="0" err="1">
                <a:solidFill>
                  <a:schemeClr val="bg1"/>
                </a:solidFill>
                <a:effectLst/>
                <a:latin typeface="Segoe UI" panose="020B0502040204020203" pitchFamily="34" charset="0"/>
                <a:ea typeface="+mj-ea"/>
                <a:cs typeface="Segoe UI" panose="020B0502040204020203" pitchFamily="34" charset="0"/>
              </a:rPr>
              <a:t>crítico</a:t>
            </a:r>
            <a:r>
              <a:rPr lang="en-US" sz="2800" b="1" i="1" kern="1200" dirty="0">
                <a:solidFill>
                  <a:schemeClr val="bg1"/>
                </a:solidFill>
                <a:effectLst/>
                <a:latin typeface="Segoe UI" panose="020B0502040204020203" pitchFamily="34" charset="0"/>
                <a:ea typeface="+mj-ea"/>
                <a:cs typeface="Segoe UI" panose="020B0502040204020203" pitchFamily="34" charset="0"/>
              </a:rPr>
              <a:t> </a:t>
            </a:r>
            <a:r>
              <a:rPr lang="en-US" sz="2800" b="1" i="1" kern="1200" dirty="0" err="1">
                <a:solidFill>
                  <a:schemeClr val="bg1"/>
                </a:solidFill>
                <a:effectLst/>
                <a:latin typeface="Segoe UI" panose="020B0502040204020203" pitchFamily="34" charset="0"/>
                <a:ea typeface="+mj-ea"/>
                <a:cs typeface="Segoe UI" panose="020B0502040204020203" pitchFamily="34" charset="0"/>
              </a:rPr>
              <a:t>en</a:t>
            </a:r>
            <a:r>
              <a:rPr lang="en-US" sz="2800" b="1" i="1" kern="1200" dirty="0">
                <a:solidFill>
                  <a:schemeClr val="bg1"/>
                </a:solidFill>
                <a:effectLst/>
                <a:latin typeface="Segoe UI" panose="020B0502040204020203" pitchFamily="34" charset="0"/>
                <a:ea typeface="+mj-ea"/>
                <a:cs typeface="Segoe UI" panose="020B0502040204020203" pitchFamily="34" charset="0"/>
              </a:rPr>
              <a:t> la </a:t>
            </a:r>
            <a:r>
              <a:rPr lang="en-US" sz="2800" b="1" kern="1200" dirty="0">
                <a:solidFill>
                  <a:schemeClr val="bg1"/>
                </a:solidFill>
                <a:effectLst/>
                <a:latin typeface="Segoe UI" panose="020B0502040204020203" pitchFamily="34" charset="0"/>
                <a:ea typeface="+mj-ea"/>
                <a:cs typeface="Segoe UI" panose="020B0502040204020203" pitchFamily="34" charset="0"/>
              </a:rPr>
              <a:t>Era de la IA</a:t>
            </a:r>
            <a:endParaRPr lang="en-CH" sz="2800" b="1" dirty="0">
              <a:solidFill>
                <a:schemeClr val="bg1"/>
              </a:solidFill>
              <a:effectLst/>
              <a:latin typeface="Segoe UI" panose="020B0502040204020203" pitchFamily="34" charset="0"/>
              <a:ea typeface="Times New Roman" panose="02020603050405020304" pitchFamily="18" charset="0"/>
              <a:cs typeface="Segoe UI" panose="020B0502040204020203" pitchFamily="34" charset="0"/>
            </a:endParaRPr>
          </a:p>
        </p:txBody>
      </p:sp>
      <p:sp>
        <p:nvSpPr>
          <p:cNvPr id="3" name="TextBox 2">
            <a:extLst>
              <a:ext uri="{FF2B5EF4-FFF2-40B4-BE49-F238E27FC236}">
                <a16:creationId xmlns:a16="http://schemas.microsoft.com/office/drawing/2014/main" id="{8DCBB2C2-A68E-E362-2058-E2591CB31461}"/>
              </a:ext>
            </a:extLst>
          </p:cNvPr>
          <p:cNvSpPr txBox="1"/>
          <p:nvPr/>
        </p:nvSpPr>
        <p:spPr>
          <a:xfrm>
            <a:off x="5099826" y="5470902"/>
            <a:ext cx="6892120" cy="923330"/>
          </a:xfrm>
          <a:prstGeom prst="rect">
            <a:avLst/>
          </a:prstGeom>
          <a:noFill/>
        </p:spPr>
        <p:txBody>
          <a:bodyPr wrap="square" rtlCol="0">
            <a:spAutoFit/>
          </a:bodyPr>
          <a:lstStyle/>
          <a:p>
            <a:pPr algn="ctr"/>
            <a:r>
              <a:rPr lang="es-ES_tradnl" sz="1800" b="1" i="1" dirty="0">
                <a:solidFill>
                  <a:srgbClr val="C00000"/>
                </a:solidFill>
                <a:latin typeface="Segoe UI" panose="020B0502040204020203" pitchFamily="34" charset="0"/>
                <a:cs typeface="Segoe UI" panose="020B0502040204020203" pitchFamily="34" charset="0"/>
              </a:rPr>
              <a:t>Si, </a:t>
            </a:r>
            <a:r>
              <a:rPr lang="es-ES_tradnl" sz="1800" b="1" i="1" dirty="0">
                <a:solidFill>
                  <a:srgbClr val="C00000"/>
                </a:solidFill>
                <a:effectLst/>
                <a:latin typeface="Segoe UI" panose="020B0502040204020203" pitchFamily="34" charset="0"/>
                <a:cs typeface="Segoe UI" panose="020B0502040204020203" pitchFamily="34" charset="0"/>
              </a:rPr>
              <a:t>Chancay aspira a ser un eje estratégico del Pacífico Sur</a:t>
            </a:r>
            <a:r>
              <a:rPr lang="es-ES_tradnl" sz="1800" i="1" dirty="0">
                <a:solidFill>
                  <a:srgbClr val="C00000"/>
                </a:solidFill>
                <a:effectLst/>
                <a:latin typeface="Segoe UI" panose="020B0502040204020203" pitchFamily="34" charset="0"/>
                <a:cs typeface="Segoe UI" panose="020B0502040204020203" pitchFamily="34" charset="0"/>
              </a:rPr>
              <a:t>, </a:t>
            </a:r>
          </a:p>
          <a:p>
            <a:pPr algn="ctr"/>
            <a:r>
              <a:rPr lang="es-ES_tradnl" sz="1800" i="1" dirty="0">
                <a:solidFill>
                  <a:srgbClr val="C00000"/>
                </a:solidFill>
                <a:effectLst/>
                <a:latin typeface="Segoe UI" panose="020B0502040204020203" pitchFamily="34" charset="0"/>
                <a:cs typeface="Segoe UI" panose="020B0502040204020203" pitchFamily="34" charset="0"/>
              </a:rPr>
              <a:t>debe defenderse con la misma firmeza en el ciberespacio como en el territorio físico</a:t>
            </a:r>
            <a:r>
              <a:rPr lang="es-ES_tradnl" sz="1800" dirty="0">
                <a:solidFill>
                  <a:schemeClr val="accent5">
                    <a:lumMod val="50000"/>
                  </a:schemeClr>
                </a:solidFill>
                <a:effectLst/>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420581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41224" y="2500921"/>
            <a:ext cx="6309552" cy="769441"/>
          </a:xfrm>
          <a:prstGeom prst="rect">
            <a:avLst/>
          </a:prstGeom>
        </p:spPr>
        <p:txBody>
          <a:bodyPr wrap="square">
            <a:spAutoFit/>
          </a:bodyPr>
          <a:lstStyle/>
          <a:p>
            <a:pPr algn="ctr"/>
            <a:r>
              <a:rPr lang="es-ES" sz="4400" b="1" i="1" dirty="0">
                <a:solidFill>
                  <a:schemeClr val="accent5">
                    <a:lumMod val="50000"/>
                  </a:schemeClr>
                </a:solidFill>
                <a:latin typeface="Segoe UI" panose="020B0502040204020203" pitchFamily="34" charset="0"/>
                <a:ea typeface="Times New Roman" panose="02020603050405020304" pitchFamily="18" charset="0"/>
                <a:cs typeface="Segoe UI" panose="020B0502040204020203" pitchFamily="34" charset="0"/>
              </a:rPr>
              <a:t>Conclusiones</a:t>
            </a:r>
            <a:endParaRPr lang="en-CH" sz="4400" b="1"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p:txBody>
      </p:sp>
      <p:sp>
        <p:nvSpPr>
          <p:cNvPr id="8" name="TextBox 7"/>
          <p:cNvSpPr txBox="1"/>
          <p:nvPr/>
        </p:nvSpPr>
        <p:spPr>
          <a:xfrm>
            <a:off x="1876778" y="4924778"/>
            <a:ext cx="184666" cy="369332"/>
          </a:xfrm>
          <a:prstGeom prst="rect">
            <a:avLst/>
          </a:prstGeom>
          <a:noFill/>
        </p:spPr>
        <p:txBody>
          <a:bodyPr wrap="none" rtlCol="0">
            <a:spAutoFit/>
          </a:bodyPr>
          <a:lstStyle/>
          <a:p>
            <a:endParaRPr lang="en-US" dirty="0"/>
          </a:p>
        </p:txBody>
      </p:sp>
      <p:sp>
        <p:nvSpPr>
          <p:cNvPr id="4" name="Slide Number Placeholder 3"/>
          <p:cNvSpPr>
            <a:spLocks noGrp="1"/>
          </p:cNvSpPr>
          <p:nvPr>
            <p:ph type="sldNum" sz="quarter" idx="12"/>
          </p:nvPr>
        </p:nvSpPr>
        <p:spPr/>
        <p:txBody>
          <a:bodyPr/>
          <a:lstStyle/>
          <a:p>
            <a:fld id="{D739C4FB-7D33-419B-8833-D1372BFD11C8}" type="slidenum">
              <a:rPr lang="en-US" smtClean="0"/>
              <a:t>31</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998996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23;p7">
            <a:extLst>
              <a:ext uri="{FF2B5EF4-FFF2-40B4-BE49-F238E27FC236}">
                <a16:creationId xmlns:a16="http://schemas.microsoft.com/office/drawing/2014/main" id="{8E9D564D-F59E-9717-11A2-98145F188614}"/>
              </a:ext>
            </a:extLst>
          </p:cNvPr>
          <p:cNvSpPr/>
          <p:nvPr/>
        </p:nvSpPr>
        <p:spPr>
          <a:xfrm>
            <a:off x="0" y="4437"/>
            <a:ext cx="12192000" cy="508910"/>
          </a:xfrm>
          <a:prstGeom prst="rect">
            <a:avLst/>
          </a:prstGeom>
          <a:solidFill>
            <a:srgbClr val="C41927"/>
          </a:solidFill>
          <a:ln>
            <a:noFill/>
          </a:ln>
        </p:spPr>
        <p:txBody>
          <a:bodyPr spcFirstLastPara="1" wrap="square" lIns="91425" tIns="45700" rIns="91425" bIns="45700" anchor="ctr" anchorCtr="0">
            <a:noAutofit/>
          </a:bodyPr>
          <a:lstStyle/>
          <a:p>
            <a:pPr algn="ctr"/>
            <a:endParaRPr lang="es-ES_tradnl" sz="2800" b="1" i="0" u="none" strike="noStrike" dirty="0">
              <a:solidFill>
                <a:schemeClr val="bg1"/>
              </a:solidFill>
              <a:effectLst/>
              <a:latin typeface="Open Sans" panose="020B0606030504020204" pitchFamily="34" charset="0"/>
            </a:endParaRPr>
          </a:p>
          <a:p>
            <a:pPr algn="ctr"/>
            <a:r>
              <a:rPr lang="en-CH" sz="2800" b="1" dirty="0">
                <a:solidFill>
                  <a:schemeClr val="bg1"/>
                </a:solidFill>
                <a:effectLst/>
                <a:latin typeface="Montserrat" pitchFamily="2" charset="77"/>
                <a:ea typeface="Times New Roman" panose="02020603050405020304" pitchFamily="18" charset="0"/>
              </a:rPr>
              <a:t>C</a:t>
            </a:r>
            <a:r>
              <a:rPr lang="en-GB" sz="2800" b="1" dirty="0" err="1">
                <a:solidFill>
                  <a:schemeClr val="bg1"/>
                </a:solidFill>
                <a:latin typeface="Montserrat" pitchFamily="2" charset="77"/>
              </a:rPr>
              <a:t>onclusiones</a:t>
            </a:r>
            <a:endParaRPr lang="en-CH" sz="2800" b="1" dirty="0">
              <a:solidFill>
                <a:schemeClr val="bg1"/>
              </a:solidFill>
              <a:effectLst/>
              <a:latin typeface="Montserrat" pitchFamily="2" charset="77"/>
              <a:ea typeface="Times New Roman" panose="02020603050405020304" pitchFamily="18" charset="0"/>
            </a:endParaRPr>
          </a:p>
          <a:p>
            <a:pPr algn="ctr"/>
            <a:endParaRPr lang="es-ES_tradnl" sz="2800" b="1" i="0" u="none" strike="noStrike" dirty="0">
              <a:solidFill>
                <a:schemeClr val="bg1"/>
              </a:solidFill>
              <a:effectLst/>
              <a:latin typeface="Open Sans" panose="020B0606030504020204" pitchFamily="34" charset="0"/>
            </a:endParaRPr>
          </a:p>
        </p:txBody>
      </p:sp>
      <p:graphicFrame>
        <p:nvGraphicFramePr>
          <p:cNvPr id="6" name="Table 6">
            <a:extLst>
              <a:ext uri="{FF2B5EF4-FFF2-40B4-BE49-F238E27FC236}">
                <a16:creationId xmlns:a16="http://schemas.microsoft.com/office/drawing/2014/main" id="{5C6FC630-2102-470B-52FE-93366229898C}"/>
              </a:ext>
            </a:extLst>
          </p:cNvPr>
          <p:cNvGraphicFramePr>
            <a:graphicFrameLocks noGrp="1"/>
          </p:cNvGraphicFramePr>
          <p:nvPr/>
        </p:nvGraphicFramePr>
        <p:xfrm>
          <a:off x="412375" y="924607"/>
          <a:ext cx="11272520" cy="5144692"/>
        </p:xfrm>
        <a:graphic>
          <a:graphicData uri="http://schemas.openxmlformats.org/drawingml/2006/table">
            <a:tbl>
              <a:tblPr firstRow="1" bandRow="1">
                <a:tableStyleId>{69CF1AB2-1976-4502-BF36-3FF5EA218861}</a:tableStyleId>
              </a:tblPr>
              <a:tblGrid>
                <a:gridCol w="444133">
                  <a:extLst>
                    <a:ext uri="{9D8B030D-6E8A-4147-A177-3AD203B41FA5}">
                      <a16:colId xmlns:a16="http://schemas.microsoft.com/office/drawing/2014/main" val="245406177"/>
                    </a:ext>
                  </a:extLst>
                </a:gridCol>
                <a:gridCol w="10828387">
                  <a:extLst>
                    <a:ext uri="{9D8B030D-6E8A-4147-A177-3AD203B41FA5}">
                      <a16:colId xmlns:a16="http://schemas.microsoft.com/office/drawing/2014/main" val="1510988260"/>
                    </a:ext>
                  </a:extLst>
                </a:gridCol>
              </a:tblGrid>
              <a:tr h="829388">
                <a:tc>
                  <a:txBody>
                    <a:bodyPr/>
                    <a:lstStyle/>
                    <a:p>
                      <a:r>
                        <a:rPr lang="en-CH" dirty="0"/>
                        <a:t>1</a:t>
                      </a:r>
                    </a:p>
                    <a:p>
                      <a:endParaRPr lang="en-CH"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b="0" noProof="0" dirty="0">
                          <a:latin typeface="Segoe UI" panose="020B0502040204020203" pitchFamily="34" charset="0"/>
                          <a:cs typeface="Segoe UI" panose="020B0502040204020203" pitchFamily="34" charset="0"/>
                        </a:rPr>
                        <a:t>Chancay </a:t>
                      </a:r>
                      <a:r>
                        <a:rPr lang="es-ES_tradnl" sz="2200" b="1" noProof="0" dirty="0">
                          <a:latin typeface="Segoe UI" panose="020B0502040204020203" pitchFamily="34" charset="0"/>
                          <a:cs typeface="Segoe UI" panose="020B0502040204020203" pitchFamily="34" charset="0"/>
                        </a:rPr>
                        <a:t>abre un mercado laboral tecnológico</a:t>
                      </a:r>
                      <a:r>
                        <a:rPr lang="es-ES_tradnl" sz="2200" b="0" noProof="0" dirty="0">
                          <a:latin typeface="Segoe UI" panose="020B0502040204020203" pitchFamily="34" charset="0"/>
                          <a:cs typeface="Segoe UI" panose="020B0502040204020203" pitchFamily="34" charset="0"/>
                        </a:rPr>
                        <a:t> que antes no existía en el Perú. </a:t>
                      </a:r>
                    </a:p>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b="0" noProof="0" dirty="0">
                          <a:latin typeface="Segoe UI" panose="020B0502040204020203" pitchFamily="34" charset="0"/>
                          <a:cs typeface="Segoe UI" panose="020B0502040204020203" pitchFamily="34" charset="0"/>
                        </a:rPr>
                        <a:t>Perú </a:t>
                      </a:r>
                      <a:r>
                        <a:rPr lang="es-ES_tradnl" sz="2200" b="1" noProof="0" dirty="0">
                          <a:solidFill>
                            <a:srgbClr val="C00000"/>
                          </a:solidFill>
                          <a:latin typeface="Segoe UI" panose="020B0502040204020203" pitchFamily="34" charset="0"/>
                          <a:cs typeface="Segoe UI" panose="020B0502040204020203" pitchFamily="34" charset="0"/>
                        </a:rPr>
                        <a:t>ofrecerá empleos calificados en ingeniería, software, logística avanzada, finanzas, </a:t>
                      </a:r>
                      <a:r>
                        <a:rPr lang="es-ES_tradnl" sz="2200" b="0" noProof="0" dirty="0">
                          <a:latin typeface="Segoe UI" panose="020B0502040204020203" pitchFamily="34" charset="0"/>
                          <a:cs typeface="Segoe UI" panose="020B0502040204020203" pitchFamily="34" charset="0"/>
                        </a:rPr>
                        <a:t>mantenimiento </a:t>
                      </a:r>
                    </a:p>
                  </a:txBody>
                  <a:tcPr/>
                </a:tc>
                <a:extLst>
                  <a:ext uri="{0D108BD9-81ED-4DB2-BD59-A6C34878D82A}">
                    <a16:rowId xmlns:a16="http://schemas.microsoft.com/office/drawing/2014/main" val="520350058"/>
                  </a:ext>
                </a:extLst>
              </a:tr>
              <a:tr h="1194318">
                <a:tc>
                  <a:txBody>
                    <a:bodyPr/>
                    <a:lstStyle/>
                    <a:p>
                      <a:r>
                        <a:rPr lang="en-CH"/>
                        <a:t>2</a:t>
                      </a:r>
                    </a:p>
                    <a:p>
                      <a:endParaRPr lang="en-CH"/>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b="0" dirty="0">
                          <a:solidFill>
                            <a:srgbClr val="1F4E79"/>
                          </a:solidFill>
                          <a:latin typeface="Segoe UI" panose="020B0502040204020203" pitchFamily="34" charset="0"/>
                          <a:ea typeface="Times New Roman" panose="02020603050405020304" pitchFamily="18" charset="0"/>
                          <a:cs typeface="Segoe UI" panose="020B0502040204020203" pitchFamily="34" charset="0"/>
                        </a:rPr>
                        <a:t>Los g</a:t>
                      </a:r>
                      <a:r>
                        <a:rPr lang="es-ES_tradnl" sz="2200" b="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randes </a:t>
                      </a:r>
                      <a:r>
                        <a:rPr lang="es-ES_tradnl" sz="2200"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puertos del mundo</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2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Singapur, Roterdam o Shanghái </a:t>
                      </a:r>
                      <a:r>
                        <a:rPr lang="es-ES_tradnl" sz="2200" b="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no son simples terminales de carga</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son </a:t>
                      </a:r>
                      <a:r>
                        <a:rPr lang="es-ES_tradnl" sz="2200"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ecosistemas inteligentes </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que generan empleo de calidad, impulsan innovación y elevan la competitividad de sus regiones</a:t>
                      </a:r>
                      <a:endParaRPr lang="en-CH" sz="220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649520890"/>
                  </a:ext>
                </a:extLst>
              </a:tr>
              <a:tr h="829388">
                <a:tc>
                  <a:txBody>
                    <a:bodyPr/>
                    <a:lstStyle/>
                    <a:p>
                      <a:r>
                        <a:rPr lang="en-CH"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dirty="0">
                          <a:solidFill>
                            <a:schemeClr val="accent5">
                              <a:lumMod val="50000"/>
                            </a:schemeClr>
                          </a:solidFill>
                          <a:latin typeface="Segoe UI" panose="020B0502040204020203" pitchFamily="34" charset="0"/>
                          <a:cs typeface="Segoe UI" panose="020B0502040204020203" pitchFamily="34" charset="0"/>
                        </a:rPr>
                        <a:t>Chancay es más que un puerto: un </a:t>
                      </a:r>
                      <a:r>
                        <a:rPr lang="es-ES_tradnl" sz="22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Hub logístico transformador del</a:t>
                      </a:r>
                      <a:r>
                        <a:rPr lang="es-ES_tradnl" sz="2200"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200" b="1"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Pacífico Sur</a:t>
                      </a:r>
                      <a:r>
                        <a:rPr lang="es-ES_tradnl" sz="220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a:t>
                      </a:r>
                      <a:r>
                        <a:rPr lang="es-ES_tradnl" sz="2200" b="0" dirty="0">
                          <a:solidFill>
                            <a:srgbClr val="C00000"/>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con cadenas productivas con valor agregado que generen un impacto sostenible</a:t>
                      </a:r>
                    </a:p>
                  </a:txBody>
                  <a:tcPr/>
                </a:tc>
                <a:extLst>
                  <a:ext uri="{0D108BD9-81ED-4DB2-BD59-A6C34878D82A}">
                    <a16:rowId xmlns:a16="http://schemas.microsoft.com/office/drawing/2014/main" val="3855777648"/>
                  </a:ext>
                </a:extLst>
              </a:tr>
              <a:tr h="1194318">
                <a:tc>
                  <a:txBody>
                    <a:bodyPr/>
                    <a:lstStyle/>
                    <a:p>
                      <a:r>
                        <a:rPr lang="en-CH"/>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b="1" dirty="0">
                          <a:solidFill>
                            <a:schemeClr val="accent5">
                              <a:lumMod val="50000"/>
                            </a:schemeClr>
                          </a:solidFill>
                          <a:latin typeface="Segoe UI" panose="020B0502040204020203" pitchFamily="34" charset="0"/>
                          <a:cs typeface="Segoe UI" panose="020B0502040204020203" pitchFamily="34" charset="0"/>
                        </a:rPr>
                        <a:t>Requiere una visión estratégica</a:t>
                      </a:r>
                      <a:r>
                        <a:rPr lang="es-ES_tradnl" sz="2200" dirty="0">
                          <a:solidFill>
                            <a:schemeClr val="accent5">
                              <a:lumMod val="50000"/>
                            </a:schemeClr>
                          </a:solidFill>
                          <a:latin typeface="Segoe UI" panose="020B0502040204020203" pitchFamily="34" charset="0"/>
                          <a:cs typeface="Segoe UI" panose="020B0502040204020203" pitchFamily="34" charset="0"/>
                        </a:rPr>
                        <a:t>, gobernanza estable, integración territorial, </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infraestructura integral —incluida la </a:t>
                      </a:r>
                      <a:r>
                        <a:rPr lang="es-ES_tradnl" sz="2200" dirty="0" err="1">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feroviaria</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 atenta a los riesgos sociales y ambientales</a:t>
                      </a:r>
                      <a:endParaRPr lang="es-ES_tradnl" sz="2200" dirty="0">
                        <a:solidFill>
                          <a:schemeClr val="accent5">
                            <a:lumMod val="50000"/>
                          </a:schemeClr>
                        </a:solidFill>
                        <a:effectLst/>
                        <a:latin typeface="Segoe UI" panose="020B0502040204020203" pitchFamily="34" charset="0"/>
                        <a:ea typeface="Times New Roman" panose="02020603050405020304" pitchFamily="18" charset="0"/>
                        <a:cs typeface="Segoe UI" panose="020B0502040204020203" pitchFamily="34" charset="0"/>
                      </a:endParaRPr>
                    </a:p>
                  </a:txBody>
                  <a:tcPr/>
                </a:tc>
                <a:extLst>
                  <a:ext uri="{0D108BD9-81ED-4DB2-BD59-A6C34878D82A}">
                    <a16:rowId xmlns:a16="http://schemas.microsoft.com/office/drawing/2014/main" val="2743674192"/>
                  </a:ext>
                </a:extLst>
              </a:tr>
              <a:tr h="829388">
                <a:tc>
                  <a:txBody>
                    <a:bodyPr/>
                    <a:lstStyle/>
                    <a:p>
                      <a:r>
                        <a:rPr lang="en-CH" dirty="0"/>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2200"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Corredor Ferroviario Bioceánico</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una de las obras más ambiciosas del continente que consolidara a Chancay como el gran </a:t>
                      </a:r>
                      <a:r>
                        <a:rPr lang="es-ES_tradnl" sz="2200" b="1"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Hub del</a:t>
                      </a:r>
                      <a:r>
                        <a:rPr lang="es-ES_tradnl" sz="2200" dirty="0">
                          <a:solidFill>
                            <a:srgbClr val="1F4E79"/>
                          </a:solidFill>
                          <a:effectLst/>
                          <a:latin typeface="Segoe UI" panose="020B0502040204020203" pitchFamily="34" charset="0"/>
                          <a:ea typeface="Times New Roman" panose="02020603050405020304" pitchFamily="18" charset="0"/>
                          <a:cs typeface="Segoe UI" panose="020B0502040204020203" pitchFamily="34" charset="0"/>
                        </a:rPr>
                        <a:t> </a:t>
                      </a:r>
                      <a:r>
                        <a:rPr lang="es-ES_tradnl" sz="2200" b="1" dirty="0">
                          <a:solidFill>
                            <a:schemeClr val="accent5">
                              <a:lumMod val="50000"/>
                            </a:schemeClr>
                          </a:solidFill>
                          <a:latin typeface="Segoe UI" panose="020B0502040204020203" pitchFamily="34" charset="0"/>
                          <a:cs typeface="Segoe UI" panose="020B0502040204020203" pitchFamily="34" charset="0"/>
                        </a:rPr>
                        <a:t>Pacífico Sur</a:t>
                      </a:r>
                      <a:r>
                        <a:rPr lang="es-ES_tradnl" sz="2200" dirty="0">
                          <a:solidFill>
                            <a:schemeClr val="accent5">
                              <a:lumMod val="50000"/>
                            </a:schemeClr>
                          </a:solidFill>
                          <a:latin typeface="Segoe UI" panose="020B0502040204020203" pitchFamily="34" charset="0"/>
                          <a:cs typeface="Segoe UI" panose="020B0502040204020203" pitchFamily="34" charset="0"/>
                        </a:rPr>
                        <a:t>.</a:t>
                      </a:r>
                    </a:p>
                  </a:txBody>
                  <a:tcPr/>
                </a:tc>
                <a:extLst>
                  <a:ext uri="{0D108BD9-81ED-4DB2-BD59-A6C34878D82A}">
                    <a16:rowId xmlns:a16="http://schemas.microsoft.com/office/drawing/2014/main" val="70250793"/>
                  </a:ext>
                </a:extLst>
              </a:tr>
            </a:tbl>
          </a:graphicData>
        </a:graphic>
      </p:graphicFrame>
    </p:spTree>
    <p:extLst>
      <p:ext uri="{BB962C8B-B14F-4D97-AF65-F5344CB8AC3E}">
        <p14:creationId xmlns:p14="http://schemas.microsoft.com/office/powerpoint/2010/main" val="48713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24658" y="3181487"/>
            <a:ext cx="7569842" cy="1143000"/>
          </a:xfrm>
        </p:spPr>
        <p:txBody>
          <a:bodyPr>
            <a:normAutofit fontScale="90000"/>
          </a:bodyPr>
          <a:lstStyle/>
          <a:p>
            <a:pPr lvl="0" algn="ctr">
              <a:spcBef>
                <a:spcPct val="20000"/>
              </a:spcBef>
              <a:buClr>
                <a:srgbClr val="A9A57C"/>
              </a:buClr>
            </a:pPr>
            <a:r>
              <a:rPr lang="en-US" b="1" dirty="0">
                <a:solidFill>
                  <a:srgbClr val="C00000"/>
                </a:solidFill>
                <a:latin typeface="Montserrat" panose="00000500000000000000" pitchFamily="2" charset="0"/>
              </a:rPr>
              <a:t>GRACIAS</a:t>
            </a:r>
            <a:br>
              <a:rPr lang="en-US" b="1" dirty="0">
                <a:solidFill>
                  <a:srgbClr val="C00000"/>
                </a:solidFill>
                <a:latin typeface="Montserrat" panose="00000500000000000000" pitchFamily="2" charset="0"/>
              </a:rPr>
            </a:br>
            <a:br>
              <a:rPr lang="en-US" b="1" dirty="0">
                <a:solidFill>
                  <a:srgbClr val="C00000"/>
                </a:solidFill>
                <a:latin typeface="Montserrat" panose="00000500000000000000" pitchFamily="2" charset="0"/>
              </a:rPr>
            </a:br>
            <a:r>
              <a:rPr lang="en-US" sz="4900" b="1" dirty="0">
                <a:solidFill>
                  <a:srgbClr val="2F4B5D"/>
                </a:solidFill>
                <a:latin typeface="Montserrat" panose="00000500000000000000" pitchFamily="2" charset="0"/>
                <a:cs typeface="Arial Hebrew"/>
              </a:rPr>
              <a:t>ROSA M. DELGADO</a:t>
            </a:r>
            <a:br>
              <a:rPr lang="en-US" sz="4900" b="1" dirty="0">
                <a:solidFill>
                  <a:srgbClr val="2F4B5D"/>
                </a:solidFill>
                <a:latin typeface="Montserrat" panose="00000500000000000000" pitchFamily="2" charset="0"/>
                <a:cs typeface="Arial Hebrew"/>
              </a:rPr>
            </a:br>
            <a:r>
              <a:rPr lang="en-US" sz="3100" dirty="0" err="1">
                <a:solidFill>
                  <a:srgbClr val="2F4B5D"/>
                </a:solidFill>
                <a:latin typeface="Montserrat" panose="00000500000000000000" pitchFamily="2" charset="0"/>
                <a:cs typeface="Arial Hebrew"/>
              </a:rPr>
              <a:t>rosa@delgado.aero</a:t>
            </a:r>
            <a:br>
              <a:rPr lang="en-US" sz="4400" dirty="0">
                <a:solidFill>
                  <a:srgbClr val="2F4B5D"/>
                </a:solidFill>
                <a:latin typeface="Montserrat" panose="00000500000000000000" pitchFamily="2" charset="0"/>
                <a:cs typeface="Arial Hebrew"/>
              </a:rPr>
            </a:br>
            <a:endParaRPr lang="en-US" b="1" dirty="0">
              <a:solidFill>
                <a:srgbClr val="C00000"/>
              </a:solidFill>
              <a:latin typeface="Montserrat" panose="00000500000000000000" pitchFamily="2" charset="0"/>
            </a:endParaRPr>
          </a:p>
        </p:txBody>
      </p:sp>
      <p:sp>
        <p:nvSpPr>
          <p:cNvPr id="8" name="TextBox 7"/>
          <p:cNvSpPr txBox="1"/>
          <p:nvPr/>
        </p:nvSpPr>
        <p:spPr>
          <a:xfrm>
            <a:off x="1876778" y="4924778"/>
            <a:ext cx="184666" cy="369332"/>
          </a:xfrm>
          <a:prstGeom prst="rect">
            <a:avLst/>
          </a:prstGeom>
          <a:noFill/>
        </p:spPr>
        <p:txBody>
          <a:bodyPr wrap="none" rtlCol="0">
            <a:spAutoFit/>
          </a:bodyPr>
          <a:lstStyle/>
          <a:p>
            <a:endParaRPr lang="en-US" dirty="0"/>
          </a:p>
        </p:txBody>
      </p:sp>
      <p:sp>
        <p:nvSpPr>
          <p:cNvPr id="4" name="Slide Number Placeholder 3"/>
          <p:cNvSpPr>
            <a:spLocks noGrp="1"/>
          </p:cNvSpPr>
          <p:nvPr>
            <p:ph type="sldNum" sz="quarter" idx="12"/>
          </p:nvPr>
        </p:nvSpPr>
        <p:spPr/>
        <p:txBody>
          <a:bodyPr/>
          <a:lstStyle/>
          <a:p>
            <a:fld id="{D739C4FB-7D33-419B-8833-D1372BFD11C8}" type="slidenum">
              <a:rPr lang="en-US" smtClean="0"/>
              <a:t>33</a:t>
            </a:fld>
            <a:endParaRPr lang="en-US"/>
          </a:p>
        </p:txBody>
      </p:sp>
      <p:sp>
        <p:nvSpPr>
          <p:cNvPr id="10" name="Google Shape;114;p4">
            <a:extLst>
              <a:ext uri="{FF2B5EF4-FFF2-40B4-BE49-F238E27FC236}">
                <a16:creationId xmlns:a16="http://schemas.microsoft.com/office/drawing/2014/main" id="{039F7160-B8E0-4B55-95EA-BB1988688D1D}"/>
              </a:ext>
            </a:extLst>
          </p:cNvPr>
          <p:cNvSpPr/>
          <p:nvPr/>
        </p:nvSpPr>
        <p:spPr>
          <a:xfrm rot="14357707">
            <a:off x="8921336" y="2762404"/>
            <a:ext cx="6010784" cy="660401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C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34;p8">
            <a:extLst>
              <a:ext uri="{FF2B5EF4-FFF2-40B4-BE49-F238E27FC236}">
                <a16:creationId xmlns:a16="http://schemas.microsoft.com/office/drawing/2014/main" id="{89D4DFDC-F308-4675-8519-3D6F0B89C306}"/>
              </a:ext>
            </a:extLst>
          </p:cNvPr>
          <p:cNvSpPr/>
          <p:nvPr/>
        </p:nvSpPr>
        <p:spPr>
          <a:xfrm rot="-5614195">
            <a:off x="-3028492" y="524222"/>
            <a:ext cx="5629407" cy="4478915"/>
          </a:xfrm>
          <a:custGeom>
            <a:avLst/>
            <a:gdLst/>
            <a:ahLst/>
            <a:cxnLst/>
            <a:rect l="l" t="t" r="r" b="b"/>
            <a:pathLst>
              <a:path w="289091" h="209526" extrusionOk="0">
                <a:moveTo>
                  <a:pt x="148837" y="1"/>
                </a:moveTo>
                <a:cubicBezTo>
                  <a:pt x="141742" y="1"/>
                  <a:pt x="134604" y="788"/>
                  <a:pt x="127468" y="2165"/>
                </a:cubicBezTo>
                <a:cubicBezTo>
                  <a:pt x="112941" y="4965"/>
                  <a:pt x="100810" y="16680"/>
                  <a:pt x="91728" y="27934"/>
                </a:cubicBezTo>
                <a:cubicBezTo>
                  <a:pt x="77946" y="45017"/>
                  <a:pt x="69297" y="65455"/>
                  <a:pt x="55729" y="82687"/>
                </a:cubicBezTo>
                <a:cubicBezTo>
                  <a:pt x="35648" y="108197"/>
                  <a:pt x="0" y="136526"/>
                  <a:pt x="13426" y="173189"/>
                </a:cubicBezTo>
                <a:cubicBezTo>
                  <a:pt x="24129" y="202416"/>
                  <a:pt x="56798" y="208751"/>
                  <a:pt x="84363" y="209495"/>
                </a:cubicBezTo>
                <a:cubicBezTo>
                  <a:pt x="85120" y="209515"/>
                  <a:pt x="85871" y="209525"/>
                  <a:pt x="86617" y="209525"/>
                </a:cubicBezTo>
                <a:cubicBezTo>
                  <a:pt x="123140" y="209525"/>
                  <a:pt x="146099" y="185464"/>
                  <a:pt x="164640" y="185464"/>
                </a:cubicBezTo>
                <a:cubicBezTo>
                  <a:pt x="178412" y="185464"/>
                  <a:pt x="192554" y="194152"/>
                  <a:pt x="205277" y="198540"/>
                </a:cubicBezTo>
                <a:cubicBezTo>
                  <a:pt x="215369" y="202020"/>
                  <a:pt x="226687" y="204611"/>
                  <a:pt x="237542" y="204611"/>
                </a:cubicBezTo>
                <a:cubicBezTo>
                  <a:pt x="252904" y="204611"/>
                  <a:pt x="267337" y="199421"/>
                  <a:pt x="276053" y="184216"/>
                </a:cubicBezTo>
                <a:cubicBezTo>
                  <a:pt x="289091" y="161471"/>
                  <a:pt x="284279" y="132895"/>
                  <a:pt x="269440" y="112377"/>
                </a:cubicBezTo>
                <a:cubicBezTo>
                  <a:pt x="253335" y="90105"/>
                  <a:pt x="230389" y="73540"/>
                  <a:pt x="218820" y="47928"/>
                </a:cubicBezTo>
                <a:cubicBezTo>
                  <a:pt x="209910" y="28205"/>
                  <a:pt x="199143" y="13000"/>
                  <a:pt x="178149" y="5133"/>
                </a:cubicBezTo>
                <a:cubicBezTo>
                  <a:pt x="168540" y="1532"/>
                  <a:pt x="158730" y="1"/>
                  <a:pt x="148837" y="1"/>
                </a:cubicBezTo>
                <a:close/>
              </a:path>
            </a:pathLst>
          </a:custGeom>
          <a:solidFill>
            <a:srgbClr val="2F4B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F4B5D"/>
              </a:solidFill>
              <a:latin typeface="Arial"/>
              <a:ea typeface="Arial"/>
              <a:cs typeface="Arial"/>
              <a:sym typeface="Arial"/>
            </a:endParaRPr>
          </a:p>
        </p:txBody>
      </p:sp>
    </p:spTree>
    <p:extLst>
      <p:ext uri="{BB962C8B-B14F-4D97-AF65-F5344CB8AC3E}">
        <p14:creationId xmlns:p14="http://schemas.microsoft.com/office/powerpoint/2010/main" val="3395427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43755</TotalTime>
  <Words>4237</Words>
  <Application>Microsoft Macintosh PowerPoint</Application>
  <PresentationFormat>Widescreen</PresentationFormat>
  <Paragraphs>525</Paragraphs>
  <Slides>33</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Arial</vt:lpstr>
      <vt:lpstr>Calibri</vt:lpstr>
      <vt:lpstr>Calibri Light</vt:lpstr>
      <vt:lpstr>Google Sans</vt:lpstr>
      <vt:lpstr>Montserrat</vt:lpstr>
      <vt:lpstr>Open Sans</vt:lpstr>
      <vt:lpstr>Roboto</vt:lpstr>
      <vt:lpstr>Segoe UI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GRACIAS  ROSA M. DELGADO rosa@delgado.aero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Eduardo</dc:title>
  <dc:creator>Rosa DELGADO</dc:creator>
  <cp:lastModifiedBy>Rosa DELGADO</cp:lastModifiedBy>
  <cp:revision>384</cp:revision>
  <cp:lastPrinted>2023-05-09T17:23:40Z</cp:lastPrinted>
  <dcterms:created xsi:type="dcterms:W3CDTF">2022-10-22T01:54:55Z</dcterms:created>
  <dcterms:modified xsi:type="dcterms:W3CDTF">2026-01-24T23:34:13Z</dcterms:modified>
</cp:coreProperties>
</file>